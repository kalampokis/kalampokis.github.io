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5"/>
    <p:sldId id="269" r:id="rId4"/>
    <p:sldId id="270" r:id="rId3"/>
    <p:sldId id="271" r:id="rId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18288000" cy="10287000"/>
  <p:notesSz cx="10287000" cy="1828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F2A1C5E-7B4D-4E8A-9C61-2D5B8E0F7A13}">
  <a:tblStyle styleId="{3F2A1C5E-7B4D-4E8A-9C61-2D5B8E0F7A13}" styleName="Kalampokis Table">
    <a:wholeTbl>
      <a:tcTxStyle>
        <a:fontRef idx="minor">
          <a:prstClr val="black"/>
        </a:fontRef>
        <a:srgbClr val="26314F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rgbClr val="DDE2F5"/>
              </a:solidFill>
            </a:ln>
          </a:top>
          <a:bottom>
            <a:ln w="9525" cmpd="sng">
              <a:solidFill>
                <a:srgbClr val="DDE2F5"/>
              </a:solidFill>
            </a:ln>
          </a:bottom>
          <a:insideH>
            <a:ln w="9525" cmpd="sng">
              <a:solidFill>
                <a:srgbClr val="DDE2F5"/>
              </a:solidFill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1H>
      <a:tcStyle>
        <a:tcBdr/>
        <a:fill>
          <a:solidFill>
            <a:srgbClr val="EEF1FE"/>
          </a:solidFill>
        </a:fill>
      </a:tcStyle>
    </a:band1H>
    <a:band2H>
      <a:tcStyle>
        <a:tcBdr/>
      </a:tcStyle>
    </a:band2H>
    <a:firstCol>
      <a:tcTxStyle b="on">
        <a:fontRef idx="minor">
          <a:prstClr val="black"/>
        </a:fontRef>
        <a:srgbClr val="1B2F6B"/>
      </a:tcTxStyle>
      <a:tcStyle>
        <a:tcBdr/>
      </a:tcStyle>
    </a:firstCol>
    <a:lastRow>
      <a:tcTxStyle b="on">
        <a:fontRef idx="minor">
          <a:prstClr val="black"/>
        </a:fontRef>
        <a:srgbClr val="1B2F6B"/>
      </a:tcTxStyle>
      <a:tcStyle>
        <a:tcBdr>
          <a:top>
            <a:ln w="19050">
              <a:solidFill>
                <a:srgbClr val="7895F9"/>
              </a:solidFill>
            </a:ln>
          </a:top>
        </a:tcBdr>
      </a:tcStyle>
    </a:lastRow>
    <a:firstRow>
      <a:tcTxStyle b="on">
        <a:fontRef idx="minor">
          <a:prstClr val="black"/>
        </a:fontRef>
        <a:srgbClr val="FFFFFF"/>
      </a:tcTxStyle>
      <a:tcStyle>
        <a:tcBdr>
          <a:bottom>
            <a:ln w="38100">
              <a:solidFill>
                <a:srgbClr val="F5821F"/>
              </a:solidFill>
            </a:ln>
          </a:bottom>
        </a:tcBdr>
        <a:fill>
          <a:solidFill>
            <a:srgbClr val="1B2F6B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59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6.xml"/><Relationship Id="rId3" Type="http://schemas.openxmlformats.org/officeDocument/2006/relationships/slide" Target="slides/slide15.xml"/><Relationship Id="rId4" Type="http://schemas.openxmlformats.org/officeDocument/2006/relationships/slide" Target="slides/slide14.xml"/><Relationship Id="rId5" Type="http://schemas.openxmlformats.org/officeDocument/2006/relationships/slide" Target="slides/slide13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Εβδομάδα 3: Εισαγωγή στην Python. Συμπληρωματική εξάσκηση: DataCamp, Introduction to Python (κεφ. 1–3).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Η Python είναι η πιο διαδεδομένη γλώσσα για ανάλυση δεδομένων και μηχανική μάθηση. Γενικού σκοπού, εύκολη στην ανάγνωση, με τεράστιο οικοσύστημα πακέτων.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Τρεις επιλογές. Για το μάθημα αρκεί το Google Colab (χωρίς εγκατάσταση) ή το Anaconda με Jupyter. Η διαδραστική σελίδα του μαθήματος τρέχει Python μέσα στον browser για γρήγορη εξάσκηση.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Δύο τρόποι εκτέλεσης: ένα script (αρχείο .py ή κελί notebook) που τρέχει ολόκληρο, και η κονσόλα (console / shell) όπου δίνεις μία εντολή τη φορά. Στην κονσόλα το αποτέλεσμα μιας έκφρασης εμφανίζεται αυτόματα· στο script χρειάζεται print().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Ό,τι ακολουθεί το # στην ίδια γραμμή αγνοείται από την Python. Τα σχόλια είναι για τους ανθρώπους.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Οι βασικοί αριθμητικοί τελεστές, μαζί με ** (δύναμη), % (υπόλοιπο) και // (ακέραια διαίρεση).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Μια μεταβλητή είναι ένα όνομα που δείχνει σε μια τιμή. Case-sensitive: revenue και Revenue είναι διαφορετικές.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Αν θέλουμε να ξανατρέξουμε τον υπολογισμό για άλλη ποσότητα, αλλάζουμε μόνο τη δήλωση της μεταβλητής και ξανατρέχουμε το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int, float, str, bool. Η Python «καταλαβαίνει» τον τύπο από τον τρόπο που γράφουμε την τιμή: εισαγωγικά για κείμενο, τελεία για δεκαδικό.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Η type() επιστρέφει τον τύπο μιας τιμής ή μεταβλητής. Είναι η δεύτερη συνάρτηση που μαθαίνουμε, μετά την print().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Το + στους αριθμούς προσθέτει, στα strings ενώνει (concatenation), στα booleans τα μετρά ως 1 και 0. Το * σε string επαναλαμβάνει. Αριθμός + string δίνει σφάλμα (TypeError).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Για να ενώσουμε αριθμό με κείμενο, μετατρέπουμε τον αριθμό σε string με str(). Αντίστοιχα int(), float(), bool(). Παράδειγμα: έσοδα 1250 με 8% ετήσια αύξηση για 5 χρόνια.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Προσθήκη: τα f-strings (Python 3.6+) είναι ο σύγχρονος τρόπος να βάζεις τιμές μέσα σε κείμενο, αντί για αλυσίδες από + και str(). Το :.2f σημαίνει δύο δεκαδικά, το :, βάζει διαχωριστικό χιλιάδων.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Προσθήκη: οι τελεστές σύγκρισης παράγουν booleans. Τα and / or / not τα συνδυάζουν. Προσοχή στη διαφορά = (ανάθεση) και == (ισότητα). Οι συνθήκες if θα έρθουν σε επόμενη εβδομάδα· εδώ μόνο οι τιμές.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Κάθε μεταβλητή κρατά μία τιμή. Για πολλές τιμές (π.χ. τις μηνιαίες πωλήσεις ενός καταστήματος) χρειαζόμαστε μια δομή που τις κρατά όλες μαζί: τη λίστα.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Μια λίστα μπορεί να περιέχει οποιονδήποτε τύπο, ακόμη και μείγμα τύπων, αν και δεν είναι συνηθισμένο. Εδώ: ονόματα προϊόντων (str) και τιμές (float) εναλλάξ. Ο τύπος της ίδιας της λίστας είναι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Αφού η λίστα είναι τύπος, μπορεί να μπει μέσα σε άλλη λίστα. Έτσι φτιάχνουμε «πίνακες»: κάθε εσωτερική λίστα είναι μια γραμμή.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Προσθήκη: τέσσερα πράγματα που χρησιμοποιούμε διαρκώς με λίστες. Το in ελέγχει αν υπάρχει στοιχείο και επιστρέφει boolean. Τα sum/min/max δουλεύουν μόνο αν όλα τα στοιχεία είναι αριθμοί.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Η αρίθμηση ξεκινά από το 0. Αρνητικοί δείκτες μετρούν από το τέλος: -1 είναι το τελευταίο στοιχείο.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Λύση: products[1] → 899.0 (το δεύτερο στοιχείο), products[-1] → 59.0 (το τελευταίο), products[5] → 249.0 (το έκτο, η τιμή του monitor).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my_list[start:end]. Ο δείκτης start περιλαμβάνεται, ο end όχι. Το αποτέλεσμα είναι νέα λίστα.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Αν παραλείψουμε το start, ξεκινά από την αρχή. Αν παραλείψουμε το end, πάει μέχρι το τέλος. Το x[:] είναι αντίγραφο όλης της λίστας.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Από τη λίστα sales (12 μήνες) φτιάξε h1 με τους 6 πρώτους μήνες και h2 με τους 6 τελευταίους. Δύο γραφές: με όρια και χωρίς.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sales[2] επιστρέφει λίστα, οπότε μπορούμε να βάλουμε κι άλλες αγκύλες: sales[2][0]. Διαβάζεται από αριστερά προς τα δεξιά: πρώτα η γραμμή (τρίμηνο), μετά η στήλη (μήνας).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Με τις ίδιες αγκύλες που επιλέγουμε, αναθέτουμε νέες τιμές. Μπορούμε να αλλάξουμε και ολόκληρο τμήμα με slicing.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Το + με λίστες τις ενώνει σε νέα λίστα. Το del διαγράφει ένα στοιχείο ή τμήμα· τα επόμενα στοιχεία μετακινούνται μία θέση. Προσθήκη: append() προστίθεται στην επόμενη ενότητα (μέθοδοι).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Προσθήκη. backup = sales δεν αντιγράφει τη λίστα, δίνει δεύτερο όνομα στην ίδια λίστα. Για πραγματικό αντίγραφο: list(x) ή x[:].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Μια συνάρτηση είναι κομμάτι κώδικα με όνομα που λύνει συγκεκριμένη εργασία. Η Python προσφέρει πολλές ενσωματωμένες (built-in). Η γενική «συνταγή»: έξοδος = όνομα_συνάρτησης(είσοδος).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Οι βασικές ενσωματωμένες συναρτήσεις. Το help(max) ή το ?max στην κονσόλα δείχνει την τεκμηρίωση.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Συνδυασμός συναρτήσεων: η έξοδος της μίας γίνεται είσοδος της άλλης (print(type(orders))).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Η sorted() παίρνει iterable, key και reverse. Τα ορίσματα με προεπιλεγμένη τιμή (key=None, reverse=False) είναι προαιρετικά. Τα δίνουμε με το όνομά τους (keyword arguments): reverse=True.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Κάθε τιμή στην Python είναι αντικείμενο (object) και κάθε τύπος έχει τις δικές του μεθόδους. Καλούνται με τελεία: city.upper(), customers.index("nikos").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Προσοχή: κάποιες μέθοδοι αλλάζουν το αντικείμενο (append, remove, reverse), ενώ άλλες επιστρέφουν νέα τιμή (upper). Το customers.append("maria") δεν επιστρέφει τίποτα· η αλλαγή έγινε μέσα στη customers.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Πακέτο = κατάλογος με scripts (modules) που ορίζουν συναρτήσεις, μεθόδους και τύπους. Για ανάλυση δεδομένων τα βασικά είναι NumPy, Matplotlib, scikit-learn, pandas.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 numpy (πλήρες όνομα), import numpy as np (ψευδώνυμο, η συνήθης πρακτική), from numpy import array (μόνο ένα στοιχείο). Προτίμησε τον δεύτερο: σύντομος και ξεκάθαρος για το από πού έρχεται κάθε συνάρτηση.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Προσθήκη. Το μήνυμα σφάλματος (traceback) διαβάζεται από κάτω προς τα πάνω: η τελευταία γραμμή λέει τον τύπο και την αιτία, οι πάνω γραμμές δείχνουν σε ποια γραμμή κώδικα συνέβη.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Παράδειγμα: ένα script με τρεις γραμμές, όπου η τρίτη αποτυγχάνει. Τα βέλη δείχνουν τη σειρά ανάγνωσης.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–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 userDrawn="1"/>
        </p:nvSpPr>
        <p:spPr>
          <a:xfrm>
            <a:off x="0" y="0"/>
            <a:ext cx="18288000" cy="552450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3"/>
          <p:cNvSpPr/>
          <p:nvPr userDrawn="1"/>
        </p:nvSpPr>
        <p:spPr>
          <a:xfrm>
            <a:off x="0" y="533400"/>
            <a:ext cx="18288000" cy="7620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4"/>
          <p:cNvSpPr/>
          <p:nvPr userDrawn="1"/>
        </p:nvSpPr>
        <p:spPr>
          <a:xfrm>
            <a:off x="11820525" y="561975"/>
            <a:ext cx="6467475" cy="8562975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5" name="Picture 5"/>
          <p:cNvPicPr>
            <a:picLocks noChangeAspect="1"/>
          </p:cNvPicPr>
          <p:nvPr userDrawn="1"/>
        </p:nvPicPr>
        <p:blipFill rotWithShape="1">
          <a:blip r:embed="rId2"/>
          <a:srcRect l="12520"/>
          <a:stretch>
            <a:fillRect/>
          </a:stretch>
        </p:blipFill>
        <p:spPr>
          <a:xfrm>
            <a:off x="11839575" y="457200"/>
            <a:ext cx="6429375" cy="8667750"/>
          </a:xfrm>
          <a:prstGeom prst="rect">
            <a:avLst/>
          </a:prstGeom>
        </p:spPr>
      </p:pic>
      <p:sp>
        <p:nvSpPr>
          <p:cNvPr id="6" name="Shape 6"/>
          <p:cNvSpPr/>
          <p:nvPr userDrawn="1"/>
        </p:nvSpPr>
        <p:spPr>
          <a:xfrm>
            <a:off x="11725275" y="485775"/>
            <a:ext cx="95250" cy="8639175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7"/>
          <p:cNvSpPr/>
          <p:nvPr userDrawn="1"/>
        </p:nvSpPr>
        <p:spPr>
          <a:xfrm>
            <a:off x="1143000" y="2238375"/>
            <a:ext cx="85725" cy="2952750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itle"/>
          <p:cNvSpPr>
            <a:spLocks noGrp="1"/>
          </p:cNvSpPr>
          <p:nvPr>
            <p:ph type="ctrTitle"/>
          </p:nvPr>
        </p:nvSpPr>
        <p:spPr>
          <a:xfrm>
            <a:off x="1581150" y="2381250"/>
            <a:ext cx="9153525" cy="2190750"/>
          </a:xfr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 sz="7600" b="1">
                <a:solidFill>
                  <a:srgbClr val="1B2F6B"/>
                </a:solidFill>
                <a:latin typeface="Georgia"/>
                <a:cs typeface="Georgia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Subtitle"/>
          <p:cNvSpPr>
            <a:spLocks noGrp="1"/>
          </p:cNvSpPr>
          <p:nvPr>
            <p:ph type="subTitle" idx="1"/>
          </p:nvPr>
        </p:nvSpPr>
        <p:spPr>
          <a:xfrm>
            <a:off x="1647825" y="4657725"/>
            <a:ext cx="9086850" cy="571500"/>
          </a:xfrm>
        </p:spPr>
        <p:txBody>
          <a:bodyPr lIns="0" tIns="0" rIns="0" bIns="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500" b="0">
                <a:solidFill>
                  <a:srgbClr val="1B2F6B"/>
                </a:solidFill>
                <a:latin typeface="Georgia"/>
                <a:cs typeface="Georgia"/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10" name="Author"/>
          <p:cNvSpPr>
            <a:spLocks noGrp="1"/>
          </p:cNvSpPr>
          <p:nvPr>
            <p:ph type="body" idx="13"/>
          </p:nvPr>
        </p:nvSpPr>
        <p:spPr>
          <a:xfrm>
            <a:off x="1647825" y="5915025"/>
            <a:ext cx="8572500" cy="438150"/>
          </a:xfrm>
        </p:spPr>
        <p:txBody>
          <a:bodyPr lIns="0" tIns="0" rIns="0" bIns="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50" b="0">
                <a:solidFill>
                  <a:srgbClr val="26314F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Evangelos Kalampokis</a:t>
            </a:r>
          </a:p>
        </p:txBody>
      </p:sp>
      <p:sp>
        <p:nvSpPr>
          <p:cNvPr id="11" name="Website"/>
          <p:cNvSpPr>
            <a:spLocks noGrp="1"/>
          </p:cNvSpPr>
          <p:nvPr>
            <p:ph type="body" idx="14"/>
          </p:nvPr>
        </p:nvSpPr>
        <p:spPr>
          <a:xfrm>
            <a:off x="1647825" y="6429375"/>
            <a:ext cx="8572500" cy="342900"/>
          </a:xfrm>
        </p:spPr>
        <p:txBody>
          <a:bodyPr lIns="0" tIns="0" rIns="0" bIns="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5A6385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kalampokis.github.io</a:t>
            </a:r>
          </a:p>
        </p:txBody>
      </p:sp>
      <p:sp>
        <p:nvSpPr>
          <p:cNvPr id="13" name="Shape 13"/>
          <p:cNvSpPr/>
          <p:nvPr userDrawn="1"/>
        </p:nvSpPr>
        <p:spPr>
          <a:xfrm>
            <a:off x="2971800" y="7591425"/>
            <a:ext cx="9525" cy="657225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4" name="Picture 14"/>
          <p:cNvPicPr>
            <a:picLocks noChangeAspect="1"/>
          </p:cNvPicPr>
          <p:nvPr userDrawn="1"/>
        </p:nvPicPr>
        <p:blipFill rotWithShape="1">
          <a:blip r:embed="rId3"/>
          <a:stretch>
            <a:fillRect/>
          </a:stretch>
        </p:blipFill>
        <p:spPr>
          <a:xfrm>
            <a:off x="3343275" y="7591425"/>
            <a:ext cx="2095500" cy="657225"/>
          </a:xfrm>
          <a:prstGeom prst="rect">
            <a:avLst/>
          </a:prstGeom>
        </p:spPr>
      </p:pic>
      <p:sp>
        <p:nvSpPr>
          <p:cNvPr id="15" name="Shape 15"/>
          <p:cNvSpPr/>
          <p:nvPr userDrawn="1"/>
        </p:nvSpPr>
        <p:spPr>
          <a:xfrm>
            <a:off x="5791200" y="7591425"/>
            <a:ext cx="9525" cy="657225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6" name="Picture 16"/>
          <p:cNvPicPr>
            <a:picLocks noChangeAspect="1"/>
          </p:cNvPicPr>
          <p:nvPr userDrawn="1"/>
        </p:nvPicPr>
        <p:blipFill rotWithShape="1">
          <a:blip r:embed="rId4"/>
          <a:stretch>
            <a:fillRect/>
          </a:stretch>
        </p:blipFill>
        <p:spPr>
          <a:xfrm>
            <a:off x="6162675" y="7467600"/>
            <a:ext cx="1371600" cy="914400"/>
          </a:xfrm>
          <a:prstGeom prst="rect">
            <a:avLst/>
          </a:prstGeom>
        </p:spPr>
      </p:pic>
      <p:sp>
        <p:nvSpPr>
          <p:cNvPr id="17" name="Shape 17"/>
          <p:cNvSpPr/>
          <p:nvPr userDrawn="1"/>
        </p:nvSpPr>
        <p:spPr>
          <a:xfrm>
            <a:off x="0" y="9115425"/>
            <a:ext cx="18288000" cy="1171575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8"/>
          <p:cNvSpPr txBox="1"/>
          <p:nvPr userDrawn="1"/>
        </p:nvSpPr>
        <p:spPr>
          <a:xfrm>
            <a:off x="1647825" y="9572625"/>
            <a:ext cx="5715000" cy="3429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© Information Systems Lab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– no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 userDrawn="1"/>
        </p:nvSpPr>
        <p:spPr>
          <a:xfrm>
            <a:off x="0" y="0"/>
            <a:ext cx="18288000" cy="552450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3"/>
          <p:cNvSpPr/>
          <p:nvPr userDrawn="1"/>
        </p:nvSpPr>
        <p:spPr>
          <a:xfrm>
            <a:off x="0" y="533400"/>
            <a:ext cx="18288000" cy="7620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4"/>
          <p:cNvSpPr/>
          <p:nvPr userDrawn="1"/>
        </p:nvSpPr>
        <p:spPr>
          <a:xfrm>
            <a:off x="1143000" y="2238375"/>
            <a:ext cx="85725" cy="2952750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1581150" y="2381250"/>
            <a:ext cx="14287500" cy="2190750"/>
          </a:xfr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 sz="7600" b="1">
                <a:solidFill>
                  <a:srgbClr val="1B2F6B"/>
                </a:solidFill>
                <a:latin typeface="Georgia"/>
                <a:cs typeface="Georgia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1647825" y="4657725"/>
            <a:ext cx="14220825" cy="571500"/>
          </a:xfrm>
        </p:spPr>
        <p:txBody>
          <a:bodyPr lIns="0" tIns="0" rIns="0" bIns="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500" b="0">
                <a:solidFill>
                  <a:srgbClr val="1B2F6B"/>
                </a:solidFill>
                <a:latin typeface="Georgia"/>
                <a:cs typeface="Georgia"/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7" name="Author"/>
          <p:cNvSpPr>
            <a:spLocks noGrp="1"/>
          </p:cNvSpPr>
          <p:nvPr>
            <p:ph type="body" idx="13"/>
          </p:nvPr>
        </p:nvSpPr>
        <p:spPr>
          <a:xfrm>
            <a:off x="1647825" y="5915025"/>
            <a:ext cx="8572500" cy="438150"/>
          </a:xfrm>
        </p:spPr>
        <p:txBody>
          <a:bodyPr lIns="0" tIns="0" rIns="0" bIns="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50" b="0">
                <a:solidFill>
                  <a:srgbClr val="26314F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Evangelos Kalampokis</a:t>
            </a:r>
          </a:p>
        </p:txBody>
      </p:sp>
      <p:sp>
        <p:nvSpPr>
          <p:cNvPr id="8" name="Website"/>
          <p:cNvSpPr>
            <a:spLocks noGrp="1"/>
          </p:cNvSpPr>
          <p:nvPr>
            <p:ph type="body" idx="14"/>
          </p:nvPr>
        </p:nvSpPr>
        <p:spPr>
          <a:xfrm>
            <a:off x="1647825" y="6429375"/>
            <a:ext cx="8572500" cy="342900"/>
          </a:xfrm>
        </p:spPr>
        <p:txBody>
          <a:bodyPr lIns="0" tIns="0" rIns="0" bIns="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5A6385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kalampokis.github.io</a:t>
            </a:r>
          </a:p>
        </p:txBody>
      </p:sp>
      <p:pic>
        <p:nvPicPr>
          <p:cNvPr id="9" name="Picture 9"/>
          <p:cNvPicPr>
            <a:picLocks noChangeAspect="1"/>
          </p:cNvPicPr>
          <p:nvPr userDrawn="1"/>
        </p:nvPicPr>
        <p:blipFill rotWithShape="1">
          <a:blip r:embed="rId2"/>
          <a:stretch>
            <a:fillRect/>
          </a:stretch>
        </p:blipFill>
        <p:spPr>
          <a:xfrm>
            <a:off x="1647825" y="7467600"/>
            <a:ext cx="971550" cy="914400"/>
          </a:xfrm>
          <a:prstGeom prst="rect">
            <a:avLst/>
          </a:prstGeom>
        </p:spPr>
      </p:pic>
      <p:sp>
        <p:nvSpPr>
          <p:cNvPr id="10" name="Shape 10"/>
          <p:cNvSpPr/>
          <p:nvPr userDrawn="1"/>
        </p:nvSpPr>
        <p:spPr>
          <a:xfrm>
            <a:off x="2971800" y="7591425"/>
            <a:ext cx="9525" cy="657225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1" name="Picture 11"/>
          <p:cNvPicPr>
            <a:picLocks noChangeAspect="1"/>
          </p:cNvPicPr>
          <p:nvPr userDrawn="1"/>
        </p:nvPicPr>
        <p:blipFill rotWithShape="1">
          <a:blip r:embed="rId3"/>
          <a:stretch>
            <a:fillRect/>
          </a:stretch>
        </p:blipFill>
        <p:spPr>
          <a:xfrm>
            <a:off x="3343275" y="7591425"/>
            <a:ext cx="2095500" cy="657225"/>
          </a:xfrm>
          <a:prstGeom prst="rect">
            <a:avLst/>
          </a:prstGeom>
        </p:spPr>
      </p:pic>
      <p:sp>
        <p:nvSpPr>
          <p:cNvPr id="12" name="Shape 12"/>
          <p:cNvSpPr/>
          <p:nvPr userDrawn="1"/>
        </p:nvSpPr>
        <p:spPr>
          <a:xfrm>
            <a:off x="5791200" y="7591425"/>
            <a:ext cx="9525" cy="657225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3" name="Picture 13"/>
          <p:cNvPicPr>
            <a:picLocks noChangeAspect="1"/>
          </p:cNvPicPr>
          <p:nvPr userDrawn="1"/>
        </p:nvPicPr>
        <p:blipFill rotWithShape="1">
          <a:blip r:embed="rId4"/>
          <a:stretch>
            <a:fillRect/>
          </a:stretch>
        </p:blipFill>
        <p:spPr>
          <a:xfrm>
            <a:off x="6162675" y="7467600"/>
            <a:ext cx="1371600" cy="914400"/>
          </a:xfrm>
          <a:prstGeom prst="rect">
            <a:avLst/>
          </a:prstGeom>
        </p:spPr>
      </p:pic>
      <p:sp>
        <p:nvSpPr>
          <p:cNvPr id="14" name="Shape 14"/>
          <p:cNvSpPr/>
          <p:nvPr userDrawn="1"/>
        </p:nvSpPr>
        <p:spPr>
          <a:xfrm>
            <a:off x="0" y="9115425"/>
            <a:ext cx="18288000" cy="1171575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5"/>
          <p:cNvSpPr txBox="1"/>
          <p:nvPr userDrawn="1"/>
        </p:nvSpPr>
        <p:spPr>
          <a:xfrm>
            <a:off x="1647825" y="9572625"/>
            <a:ext cx="5715000" cy="3429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© Information Systems Lab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 userDrawn="1"/>
        </p:nvSpPr>
        <p:spPr>
          <a:xfrm>
            <a:off x="0" y="0"/>
            <a:ext cx="6858000" cy="10287000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3"/>
          <p:cNvSpPr txBox="1"/>
          <p:nvPr userDrawn="1"/>
        </p:nvSpPr>
        <p:spPr>
          <a:xfrm>
            <a:off x="952500" y="1047750"/>
            <a:ext cx="4762500" cy="381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en-US" sz="2250" b="1" spc="450">
                <a:solidFill>
                  <a:srgbClr val="14224F"/>
                </a:solidFill>
                <a:latin typeface="Arial"/>
                <a:cs typeface="Arial"/>
              </a:rPr>
              <a:t>PART</a:t>
            </a:r>
          </a:p>
        </p:txBody>
      </p:sp>
      <p:sp>
        <p:nvSpPr>
          <p:cNvPr id="4" name="Section number"/>
          <p:cNvSpPr>
            <a:spLocks noGrp="1"/>
          </p:cNvSpPr>
          <p:nvPr>
            <p:ph type="body" idx="13"/>
          </p:nvPr>
        </p:nvSpPr>
        <p:spPr>
          <a:xfrm>
            <a:off x="952500" y="5715000"/>
            <a:ext cx="5334000" cy="381000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7000" b="1">
                <a:solidFill>
                  <a:srgbClr val="FFFFFF"/>
                </a:solidFill>
                <a:latin typeface="Georgia"/>
                <a:cs typeface="Georgia"/>
              </a:defRPr>
            </a:lvl1pPr>
          </a:lstStyle>
          <a:p>
            <a:r>
              <a:rPr lang="en-US"/>
              <a:t>I</a:t>
            </a:r>
          </a:p>
        </p:txBody>
      </p:sp>
      <p:sp>
        <p:nvSpPr>
          <p:cNvPr id="5" name="Shape 5"/>
          <p:cNvSpPr/>
          <p:nvPr userDrawn="1"/>
        </p:nvSpPr>
        <p:spPr>
          <a:xfrm>
            <a:off x="8001000" y="6753225"/>
            <a:ext cx="914400" cy="5715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itle"/>
          <p:cNvSpPr>
            <a:spLocks noGrp="1"/>
          </p:cNvSpPr>
          <p:nvPr>
            <p:ph type="title"/>
          </p:nvPr>
        </p:nvSpPr>
        <p:spPr>
          <a:xfrm>
            <a:off x="8001000" y="7048500"/>
            <a:ext cx="9525000" cy="1428750"/>
          </a:xfrm>
        </p:spPr>
        <p:txBody>
          <a:bodyPr lIns="0" tIns="0" rIns="0" bIns="0" anchor="t">
            <a:normAutofit/>
          </a:bodyPr>
          <a:lstStyle>
            <a:lvl1pPr marL="0" indent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 sz="7500" b="1">
                <a:solidFill>
                  <a:srgbClr val="1B2F6B"/>
                </a:solidFill>
                <a:latin typeface="Georgia"/>
                <a:cs typeface="Georgia"/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7" name="Description"/>
          <p:cNvSpPr>
            <a:spLocks noGrp="1"/>
          </p:cNvSpPr>
          <p:nvPr>
            <p:ph type="body" idx="1"/>
          </p:nvPr>
        </p:nvSpPr>
        <p:spPr>
          <a:xfrm>
            <a:off x="8001000" y="8572500"/>
            <a:ext cx="9220200" cy="571500"/>
          </a:xfrm>
        </p:spPr>
        <p:txBody>
          <a:bodyPr lIns="0" tIns="0" rIns="0" bIns="0" anchor="t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700" b="0">
                <a:solidFill>
                  <a:srgbClr val="5A6385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One-line description of this part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143000" y="666750"/>
            <a:ext cx="16002000" cy="1200150"/>
          </a:xfrm>
        </p:spPr>
        <p:txBody>
          <a:bodyPr lIns="0" tIns="0" rIns="0" bIns="0" anchor="b">
            <a:normAutofit/>
          </a:bodyPr>
          <a:lstStyle/>
          <a:p>
            <a:r>
              <a:rPr lang="en-US"/>
              <a:t>Click to edit title</a:t>
            </a:r>
          </a:p>
        </p:txBody>
      </p:sp>
      <p:sp>
        <p:nvSpPr>
          <p:cNvPr id="8" name="Content"/>
          <p:cNvSpPr>
            <a:spLocks noGrp="1"/>
          </p:cNvSpPr>
          <p:nvPr>
            <p:ph type="body" idx="1"/>
          </p:nvPr>
        </p:nvSpPr>
        <p:spPr>
          <a:xfrm>
            <a:off x="1143000" y="2571750"/>
            <a:ext cx="16002000" cy="6477000"/>
          </a:xfrm>
        </p:spPr>
        <p:txBody>
          <a:bodyPr lIns="0" tIns="0" rIns="0" bIns="0" anchor="t">
            <a:normAutofit/>
          </a:bodyPr>
          <a:lstStyle/>
          <a:p>
            <a:r>
              <a:rPr lang="en-US"/>
              <a:t>Click to edit text</a:t>
            </a:r>
          </a:p>
        </p:txBody>
      </p:sp>
      <p:sp>
        <p:nvSpPr>
          <p:cNvPr id="3" name="Footer"/>
          <p:cNvSpPr>
            <a:spLocks noGrp="1"/>
          </p:cNvSpPr>
          <p:nvPr>
            <p:ph type="ftr" sz="quarter" idx="11"/>
          </p:nvPr>
        </p:nvSpPr>
        <p:spPr>
          <a:xfrm>
            <a:off x="1143000" y="9563100"/>
            <a:ext cx="12382500" cy="419100"/>
          </a:xfrm>
        </p:spPr>
        <p:txBody>
          <a:bodyPr lIns="0" tIns="0" rIns="0" bIns="0" anchor="ctr">
            <a:noAutofit/>
          </a:bodyPr>
          <a:lstStyle>
            <a:lvl1pPr algn="l">
              <a:defRPr sz="1800">
                <a:solidFill>
                  <a:srgbClr val="5A6385"/>
                </a:solidFill>
                <a:latin typeface="Arial"/>
              </a:defRPr>
            </a:lvl1pPr>
          </a:lstStyle>
          <a:p>
            <a:r>
              <a:rPr lang="en-US"/>
              <a:t>Presentation Title · © Information Systems Lab</a:t>
            </a:r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>
          <a:xfrm>
            <a:off x="14287500" y="9563100"/>
            <a:ext cx="2857500" cy="419100"/>
          </a:xfrm>
        </p:spPr>
        <p:txBody>
          <a:bodyPr lIns="0" tIns="0" rIns="0" bIns="0" anchor="ctr">
            <a:noAutofit/>
          </a:bodyPr>
          <a:lstStyle>
            <a:lvl1pPr algn="r">
              <a:defRPr sz="1800">
                <a:solidFill>
                  <a:srgbClr val="5A6385"/>
                </a:solidFill>
                <a:latin typeface="Arial"/>
              </a:defRPr>
            </a:lvl1pPr>
          </a:lstStyle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143000" y="666750"/>
            <a:ext cx="16002000" cy="1200150"/>
          </a:xfrm>
        </p:spPr>
        <p:txBody>
          <a:bodyPr lIns="0" tIns="0" rIns="0" bIns="0" anchor="b">
            <a:normAutofit/>
          </a:bodyPr>
          <a:lstStyle/>
          <a:p>
            <a:r>
              <a:rPr lang="en-US"/>
              <a:t>Click to edit title</a:t>
            </a:r>
          </a:p>
        </p:txBody>
      </p:sp>
      <p:sp>
        <p:nvSpPr>
          <p:cNvPr id="5" name="Agenda items"/>
          <p:cNvSpPr>
            <a:spLocks noGrp="1"/>
          </p:cNvSpPr>
          <p:nvPr>
            <p:ph type="body" idx="1"/>
          </p:nvPr>
        </p:nvSpPr>
        <p:spPr>
          <a:xfrm>
            <a:off x="1143000" y="2667000"/>
            <a:ext cx="16002000" cy="6381750"/>
          </a:xfrm>
        </p:spPr>
        <p:txBody>
          <a:bodyPr lIns="0" tIns="0" rIns="0" bIns="0" anchor="t">
            <a:normAutofit/>
          </a:bodyPr>
          <a:lstStyle>
            <a:lvl1pPr marL="666750" indent="-666750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rgbClr val="F5821F"/>
              </a:buClr>
              <a:buSzPct val="100000"/>
              <a:buFont typeface="+mj-lt"/>
              <a:buAutoNum type="arabicPeriod"/>
              <a:defRPr sz="3200" b="0">
                <a:solidFill>
                  <a:srgbClr val="1B2F6B"/>
                </a:solidFill>
                <a:latin typeface="Arial"/>
                <a:cs typeface="Arial"/>
              </a:defRPr>
            </a:lvl1pPr>
            <a:lvl2pPr marL="666750" inden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2400" b="0">
                <a:solidFill>
                  <a:srgbClr val="5A6385"/>
                </a:solidFill>
                <a:latin typeface="Arial"/>
                <a:cs typeface="Arial"/>
              </a:defRPr>
            </a:lvl2pPr>
          </a:lstStyle>
          <a:p>
            <a:r>
              <a:rPr lang="en-US"/>
              <a:t>Agenda item</a:t>
            </a:r>
          </a:p>
        </p:txBody>
      </p:sp>
      <p:sp>
        <p:nvSpPr>
          <p:cNvPr id="3" name="Footer"/>
          <p:cNvSpPr>
            <a:spLocks noGrp="1"/>
          </p:cNvSpPr>
          <p:nvPr>
            <p:ph type="ftr" sz="quarter" idx="11"/>
          </p:nvPr>
        </p:nvSpPr>
        <p:spPr>
          <a:xfrm>
            <a:off x="1143000" y="9563100"/>
            <a:ext cx="12382500" cy="419100"/>
          </a:xfrm>
        </p:spPr>
        <p:txBody>
          <a:bodyPr lIns="0" tIns="0" rIns="0" bIns="0" anchor="ctr">
            <a:noAutofit/>
          </a:bodyPr>
          <a:lstStyle>
            <a:lvl1pPr algn="l">
              <a:defRPr sz="1800">
                <a:solidFill>
                  <a:srgbClr val="5A6385"/>
                </a:solidFill>
                <a:latin typeface="Arial"/>
              </a:defRPr>
            </a:lvl1pPr>
          </a:lstStyle>
          <a:p>
            <a:r>
              <a:rPr lang="en-US"/>
              <a:t>Presentation Title · © Information Systems Lab</a:t>
            </a:r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>
          <a:xfrm>
            <a:off x="14287500" y="9563100"/>
            <a:ext cx="2857500" cy="419100"/>
          </a:xfrm>
        </p:spPr>
        <p:txBody>
          <a:bodyPr lIns="0" tIns="0" rIns="0" bIns="0" anchor="ctr">
            <a:noAutofit/>
          </a:bodyPr>
          <a:lstStyle>
            <a:lvl1pPr algn="r">
              <a:defRPr sz="1800">
                <a:solidFill>
                  <a:srgbClr val="5A6385"/>
                </a:solidFill>
                <a:latin typeface="Arial"/>
              </a:defRPr>
            </a:lvl1pPr>
          </a:lstStyle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arning 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143000" y="666750"/>
            <a:ext cx="16002000" cy="1200150"/>
          </a:xfrm>
        </p:spPr>
        <p:txBody>
          <a:bodyPr lIns="0" tIns="0" rIns="0" bIns="0" anchor="b">
            <a:normAutofit/>
          </a:bodyPr>
          <a:lstStyle/>
          <a:p>
            <a:r>
              <a:rPr lang="en-US"/>
              <a:t>Click to edit title</a:t>
            </a:r>
          </a:p>
        </p:txBody>
      </p:sp>
      <p:sp>
        <p:nvSpPr>
          <p:cNvPr id="5" name="Objectives"/>
          <p:cNvSpPr>
            <a:spLocks noGrp="1"/>
          </p:cNvSpPr>
          <p:nvPr>
            <p:ph type="body" idx="1"/>
          </p:nvPr>
        </p:nvSpPr>
        <p:spPr>
          <a:xfrm>
            <a:off x="1143000" y="2667000"/>
            <a:ext cx="16002000" cy="6381750"/>
          </a:xfrm>
        </p:spPr>
        <p:txBody>
          <a:bodyPr lIns="0" tIns="0" rIns="0" bIns="0" anchor="t">
            <a:normAutofit/>
          </a:bodyPr>
          <a:lstStyle>
            <a:lvl1pPr marL="0" indent="0">
              <a:lnSpc>
                <a:spcPct val="100000"/>
              </a:lnSpc>
              <a:spcBef>
                <a:spcPts val="2600"/>
              </a:spcBef>
              <a:spcAft>
                <a:spcPts val="0"/>
              </a:spcAft>
              <a:buNone/>
              <a:defRPr sz="3000" b="1">
                <a:solidFill>
                  <a:srgbClr val="1B2F6B"/>
                </a:solidFill>
                <a:latin typeface="Arial"/>
                <a:cs typeface="Arial"/>
              </a:defRPr>
            </a:lvl1pPr>
            <a:lvl2pPr marL="0" indent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  <a:defRPr sz="2600" b="0">
                <a:solidFill>
                  <a:srgbClr val="26314F"/>
                </a:solidFill>
                <a:latin typeface="Arial"/>
                <a:cs typeface="Arial"/>
              </a:defRPr>
            </a:lvl2pPr>
          </a:lstStyle>
          <a:p>
            <a:r>
              <a:rPr lang="en-US"/>
              <a:t>Learning objective</a:t>
            </a:r>
          </a:p>
        </p:txBody>
      </p:sp>
      <p:sp>
        <p:nvSpPr>
          <p:cNvPr id="3" name="Footer"/>
          <p:cNvSpPr>
            <a:spLocks noGrp="1"/>
          </p:cNvSpPr>
          <p:nvPr>
            <p:ph type="ftr" sz="quarter" idx="11"/>
          </p:nvPr>
        </p:nvSpPr>
        <p:spPr>
          <a:xfrm>
            <a:off x="1143000" y="9563100"/>
            <a:ext cx="12382500" cy="419100"/>
          </a:xfrm>
        </p:spPr>
        <p:txBody>
          <a:bodyPr lIns="0" tIns="0" rIns="0" bIns="0" anchor="ctr">
            <a:noAutofit/>
          </a:bodyPr>
          <a:lstStyle>
            <a:lvl1pPr algn="l">
              <a:defRPr sz="1800">
                <a:solidFill>
                  <a:srgbClr val="5A6385"/>
                </a:solidFill>
                <a:latin typeface="Arial"/>
              </a:defRPr>
            </a:lvl1pPr>
          </a:lstStyle>
          <a:p>
            <a:r>
              <a:rPr lang="en-US"/>
              <a:t>Presentation Title · © Information Systems Lab</a:t>
            </a:r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>
          <a:xfrm>
            <a:off x="14287500" y="9563100"/>
            <a:ext cx="2857500" cy="419100"/>
          </a:xfrm>
        </p:spPr>
        <p:txBody>
          <a:bodyPr lIns="0" tIns="0" rIns="0" bIns="0" anchor="ctr">
            <a:noAutofit/>
          </a:bodyPr>
          <a:lstStyle>
            <a:lvl1pPr algn="r">
              <a:defRPr sz="1800">
                <a:solidFill>
                  <a:srgbClr val="5A6385"/>
                </a:solidFill>
                <a:latin typeface="Arial"/>
              </a:defRPr>
            </a:lvl1pPr>
          </a:lstStyle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143000" y="666750"/>
            <a:ext cx="16002000" cy="1200150"/>
          </a:xfrm>
        </p:spPr>
        <p:txBody>
          <a:bodyPr lIns="0" tIns="0" rIns="0" bIns="0" anchor="b">
            <a:normAutofit/>
          </a:bodyPr>
          <a:lstStyle/>
          <a:p>
            <a:r>
              <a:rPr lang="en-US"/>
              <a:t>Click to edit title</a:t>
            </a:r>
          </a:p>
        </p:txBody>
      </p:sp>
      <p:sp>
        <p:nvSpPr>
          <p:cNvPr id="5" name="Left"/>
          <p:cNvSpPr>
            <a:spLocks noGrp="1"/>
          </p:cNvSpPr>
          <p:nvPr>
            <p:ph type="body" sz="half" idx="1"/>
          </p:nvPr>
        </p:nvSpPr>
        <p:spPr>
          <a:xfrm>
            <a:off x="1143000" y="2571750"/>
            <a:ext cx="7715250" cy="6477000"/>
          </a:xfrm>
        </p:spPr>
        <p:txBody>
          <a:bodyPr lIns="0" tIns="0" rIns="0" bIns="0" anchor="t">
            <a:normAutofit/>
          </a:bodyPr>
          <a:lstStyle/>
          <a:p>
            <a:r>
              <a:rPr lang="en-US"/>
              <a:t>Click to edit text</a:t>
            </a:r>
          </a:p>
        </p:txBody>
      </p:sp>
      <p:sp>
        <p:nvSpPr>
          <p:cNvPr id="6" name="Right"/>
          <p:cNvSpPr>
            <a:spLocks noGrp="1"/>
          </p:cNvSpPr>
          <p:nvPr>
            <p:ph type="body" sz="half" idx="2"/>
          </p:nvPr>
        </p:nvSpPr>
        <p:spPr>
          <a:xfrm>
            <a:off x="9429750" y="2571750"/>
            <a:ext cx="7715250" cy="6477000"/>
          </a:xfrm>
        </p:spPr>
        <p:txBody>
          <a:bodyPr lIns="0" tIns="0" rIns="0" bIns="0" anchor="t">
            <a:normAutofit/>
          </a:bodyPr>
          <a:lstStyle/>
          <a:p>
            <a:r>
              <a:rPr lang="en-US"/>
              <a:t>Click to edit text</a:t>
            </a:r>
          </a:p>
        </p:txBody>
      </p:sp>
      <p:sp>
        <p:nvSpPr>
          <p:cNvPr id="3" name="Footer"/>
          <p:cNvSpPr>
            <a:spLocks noGrp="1"/>
          </p:cNvSpPr>
          <p:nvPr>
            <p:ph type="ftr" sz="quarter" idx="11"/>
          </p:nvPr>
        </p:nvSpPr>
        <p:spPr>
          <a:xfrm>
            <a:off x="1143000" y="9563100"/>
            <a:ext cx="12382500" cy="419100"/>
          </a:xfrm>
        </p:spPr>
        <p:txBody>
          <a:bodyPr lIns="0" tIns="0" rIns="0" bIns="0" anchor="ctr">
            <a:noAutofit/>
          </a:bodyPr>
          <a:lstStyle>
            <a:lvl1pPr algn="l">
              <a:defRPr sz="1800">
                <a:solidFill>
                  <a:srgbClr val="5A6385"/>
                </a:solidFill>
                <a:latin typeface="Arial"/>
              </a:defRPr>
            </a:lvl1pPr>
          </a:lstStyle>
          <a:p>
            <a:r>
              <a:rPr lang="en-US"/>
              <a:t>Presentation Title · © Information Systems Lab</a:t>
            </a:r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>
          <a:xfrm>
            <a:off x="14287500" y="9563100"/>
            <a:ext cx="2857500" cy="419100"/>
          </a:xfrm>
        </p:spPr>
        <p:txBody>
          <a:bodyPr lIns="0" tIns="0" rIns="0" bIns="0" anchor="ctr">
            <a:noAutofit/>
          </a:bodyPr>
          <a:lstStyle>
            <a:lvl1pPr algn="r">
              <a:defRPr sz="1800">
                <a:solidFill>
                  <a:srgbClr val="5A6385"/>
                </a:solidFill>
                <a:latin typeface="Arial"/>
              </a:defRPr>
            </a:lvl1pPr>
          </a:lstStyle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143000" y="666750"/>
            <a:ext cx="16002000" cy="1200150"/>
          </a:xfrm>
        </p:spPr>
        <p:txBody>
          <a:bodyPr lIns="0" tIns="0" rIns="0" bIns="0" anchor="b">
            <a:normAutofit/>
          </a:bodyPr>
          <a:lstStyle/>
          <a:p>
            <a:r>
              <a:rPr lang="en-US"/>
              <a:t>Click to edit title</a:t>
            </a:r>
          </a:p>
        </p:txBody>
      </p:sp>
      <p:sp>
        <p:nvSpPr>
          <p:cNvPr id="5" name="Left heading"/>
          <p:cNvSpPr>
            <a:spLocks noGrp="1"/>
          </p:cNvSpPr>
          <p:nvPr>
            <p:ph type="body" idx="1"/>
          </p:nvPr>
        </p:nvSpPr>
        <p:spPr>
          <a:xfrm>
            <a:off x="1143000" y="2667000"/>
            <a:ext cx="7715250" cy="533400"/>
          </a:xfr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 b="1">
                <a:solidFill>
                  <a:srgbClr val="1B2F6B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Option A</a:t>
            </a:r>
          </a:p>
        </p:txBody>
      </p:sp>
      <p:sp>
        <p:nvSpPr>
          <p:cNvPr id="6" name="Shape 6"/>
          <p:cNvSpPr/>
          <p:nvPr userDrawn="1"/>
        </p:nvSpPr>
        <p:spPr>
          <a:xfrm>
            <a:off x="1143000" y="3333750"/>
            <a:ext cx="7715250" cy="38100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Left content"/>
          <p:cNvSpPr>
            <a:spLocks noGrp="1"/>
          </p:cNvSpPr>
          <p:nvPr>
            <p:ph type="body" sz="half" idx="2"/>
          </p:nvPr>
        </p:nvSpPr>
        <p:spPr>
          <a:xfrm>
            <a:off x="1143000" y="3657600"/>
            <a:ext cx="7715250" cy="5391150"/>
          </a:xfrm>
        </p:spPr>
        <p:txBody>
          <a:bodyPr lIns="0" tIns="0" rIns="0" bIns="0" anchor="t">
            <a:normAutofit/>
          </a:bodyPr>
          <a:lstStyle/>
          <a:p>
            <a:r>
              <a:rPr lang="en-US"/>
              <a:t>Click to edit text</a:t>
            </a:r>
          </a:p>
        </p:txBody>
      </p:sp>
      <p:sp>
        <p:nvSpPr>
          <p:cNvPr id="8" name="Right heading"/>
          <p:cNvSpPr>
            <a:spLocks noGrp="1"/>
          </p:cNvSpPr>
          <p:nvPr>
            <p:ph type="body" idx="3"/>
          </p:nvPr>
        </p:nvSpPr>
        <p:spPr>
          <a:xfrm>
            <a:off x="9429750" y="2667000"/>
            <a:ext cx="7715250" cy="533400"/>
          </a:xfr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 b="1">
                <a:solidFill>
                  <a:srgbClr val="1B2F6B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Option B</a:t>
            </a:r>
          </a:p>
        </p:txBody>
      </p:sp>
      <p:sp>
        <p:nvSpPr>
          <p:cNvPr id="9" name="Shape 9"/>
          <p:cNvSpPr/>
          <p:nvPr userDrawn="1"/>
        </p:nvSpPr>
        <p:spPr>
          <a:xfrm>
            <a:off x="9429750" y="3333750"/>
            <a:ext cx="7715250" cy="3810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Right content"/>
          <p:cNvSpPr>
            <a:spLocks noGrp="1"/>
          </p:cNvSpPr>
          <p:nvPr>
            <p:ph type="body" sz="half" idx="4"/>
          </p:nvPr>
        </p:nvSpPr>
        <p:spPr>
          <a:xfrm>
            <a:off x="9429750" y="3657600"/>
            <a:ext cx="7715250" cy="5391150"/>
          </a:xfrm>
        </p:spPr>
        <p:txBody>
          <a:bodyPr lIns="0" tIns="0" rIns="0" bIns="0" anchor="t">
            <a:normAutofit/>
          </a:bodyPr>
          <a:lstStyle/>
          <a:p>
            <a:r>
              <a:rPr lang="en-US"/>
              <a:t>Click to edit text</a:t>
            </a:r>
          </a:p>
        </p:txBody>
      </p:sp>
      <p:sp>
        <p:nvSpPr>
          <p:cNvPr id="3" name="Footer"/>
          <p:cNvSpPr>
            <a:spLocks noGrp="1"/>
          </p:cNvSpPr>
          <p:nvPr>
            <p:ph type="ftr" sz="quarter" idx="11"/>
          </p:nvPr>
        </p:nvSpPr>
        <p:spPr>
          <a:xfrm>
            <a:off x="1143000" y="9563100"/>
            <a:ext cx="12382500" cy="419100"/>
          </a:xfrm>
        </p:spPr>
        <p:txBody>
          <a:bodyPr lIns="0" tIns="0" rIns="0" bIns="0" anchor="ctr">
            <a:noAutofit/>
          </a:bodyPr>
          <a:lstStyle>
            <a:lvl1pPr algn="l">
              <a:defRPr sz="1800">
                <a:solidFill>
                  <a:srgbClr val="5A6385"/>
                </a:solidFill>
                <a:latin typeface="Arial"/>
              </a:defRPr>
            </a:lvl1pPr>
          </a:lstStyle>
          <a:p>
            <a:r>
              <a:rPr lang="en-US"/>
              <a:t>Presentation Title · © Information Systems Lab</a:t>
            </a:r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>
          <a:xfrm>
            <a:off x="14287500" y="9563100"/>
            <a:ext cx="2857500" cy="419100"/>
          </a:xfrm>
        </p:spPr>
        <p:txBody>
          <a:bodyPr lIns="0" tIns="0" rIns="0" bIns="0" anchor="ctr">
            <a:noAutofit/>
          </a:bodyPr>
          <a:lstStyle>
            <a:lvl1pPr algn="r">
              <a:defRPr sz="1800">
                <a:solidFill>
                  <a:srgbClr val="5A6385"/>
                </a:solidFill>
                <a:latin typeface="Arial"/>
              </a:defRPr>
            </a:lvl1pPr>
          </a:lstStyle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143000" y="666750"/>
            <a:ext cx="16002000" cy="1200150"/>
          </a:xfrm>
        </p:spPr>
        <p:txBody>
          <a:bodyPr lIns="0" tIns="0" rIns="0" bIns="0" anchor="b">
            <a:normAutofit/>
          </a:bodyPr>
          <a:lstStyle/>
          <a:p>
            <a:r>
              <a:rPr lang="en-US"/>
              <a:t>Click to edit title</a:t>
            </a:r>
          </a:p>
        </p:txBody>
      </p:sp>
      <p:sp>
        <p:nvSpPr>
          <p:cNvPr id="5" name="Table"/>
          <p:cNvSpPr>
            <a:spLocks noGrp="1"/>
          </p:cNvSpPr>
          <p:nvPr>
            <p:ph type="tbl" idx="1"/>
          </p:nvPr>
        </p:nvSpPr>
        <p:spPr>
          <a:xfrm>
            <a:off x="1143000" y="2762250"/>
            <a:ext cx="16002000" cy="6096000"/>
          </a:xfrm>
        </p:spPr>
        <p:txBody>
          <a:bodyPr lIns="0" tIns="0" rIns="0" bIns="0" anchor="t">
            <a:normAutofit/>
          </a:bodyPr>
          <a:lstStyle/>
          <a:p>
            <a:r>
              <a:rPr lang="en-US"/>
              <a:t>Click icon to add table</a:t>
            </a:r>
          </a:p>
        </p:txBody>
      </p:sp>
      <p:sp>
        <p:nvSpPr>
          <p:cNvPr id="3" name="Footer"/>
          <p:cNvSpPr>
            <a:spLocks noGrp="1"/>
          </p:cNvSpPr>
          <p:nvPr>
            <p:ph type="ftr" sz="quarter" idx="11"/>
          </p:nvPr>
        </p:nvSpPr>
        <p:spPr>
          <a:xfrm>
            <a:off x="1143000" y="9563100"/>
            <a:ext cx="12382500" cy="419100"/>
          </a:xfrm>
        </p:spPr>
        <p:txBody>
          <a:bodyPr lIns="0" tIns="0" rIns="0" bIns="0" anchor="ctr">
            <a:noAutofit/>
          </a:bodyPr>
          <a:lstStyle>
            <a:lvl1pPr algn="l">
              <a:defRPr sz="1800">
                <a:solidFill>
                  <a:srgbClr val="5A6385"/>
                </a:solidFill>
                <a:latin typeface="Arial"/>
              </a:defRPr>
            </a:lvl1pPr>
          </a:lstStyle>
          <a:p>
            <a:r>
              <a:rPr lang="en-US"/>
              <a:t>Presentation Title · © Information Systems Lab</a:t>
            </a:r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>
          <a:xfrm>
            <a:off x="14287500" y="9563100"/>
            <a:ext cx="2857500" cy="419100"/>
          </a:xfrm>
        </p:spPr>
        <p:txBody>
          <a:bodyPr lIns="0" tIns="0" rIns="0" bIns="0" anchor="ctr">
            <a:noAutofit/>
          </a:bodyPr>
          <a:lstStyle>
            <a:lvl1pPr algn="r">
              <a:defRPr sz="1800">
                <a:solidFill>
                  <a:srgbClr val="5A6385"/>
                </a:solidFill>
                <a:latin typeface="Arial"/>
              </a:defRPr>
            </a:lvl1pPr>
          </a:lstStyle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or char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143000" y="666750"/>
            <a:ext cx="16002000" cy="1200150"/>
          </a:xfrm>
        </p:spPr>
        <p:txBody>
          <a:bodyPr lIns="0" tIns="0" rIns="0" bIns="0" anchor="b">
            <a:normAutofit/>
          </a:bodyPr>
          <a:lstStyle/>
          <a:p>
            <a:r>
              <a:rPr lang="en-US"/>
              <a:t>Click to edit title</a:t>
            </a:r>
          </a:p>
        </p:txBody>
      </p:sp>
      <p:sp>
        <p:nvSpPr>
          <p:cNvPr id="5" name="Picture"/>
          <p:cNvSpPr>
            <a:spLocks noGrp="1"/>
          </p:cNvSpPr>
          <p:nvPr>
            <p:ph type="pic" idx="1"/>
          </p:nvPr>
        </p:nvSpPr>
        <p:spPr>
          <a:xfrm>
            <a:off x="1143000" y="2571750"/>
            <a:ext cx="16002000" cy="5810250"/>
          </a:xfrm>
          <a:solidFill>
            <a:srgbClr val="EEF1FE"/>
          </a:solidFill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5A6385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Caption"/>
          <p:cNvSpPr>
            <a:spLocks noGrp="1"/>
          </p:cNvSpPr>
          <p:nvPr>
            <p:ph type="body" idx="2"/>
          </p:nvPr>
        </p:nvSpPr>
        <p:spPr>
          <a:xfrm>
            <a:off x="1143000" y="8572500"/>
            <a:ext cx="16002000" cy="533400"/>
          </a:xfrm>
        </p:spPr>
        <p:txBody>
          <a:bodyPr lIns="0" tIns="0" rIns="0" bIns="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1">
                <a:solidFill>
                  <a:srgbClr val="5A6385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Figure 1. Caption</a:t>
            </a:r>
          </a:p>
        </p:txBody>
      </p:sp>
      <p:sp>
        <p:nvSpPr>
          <p:cNvPr id="3" name="Footer"/>
          <p:cNvSpPr>
            <a:spLocks noGrp="1"/>
          </p:cNvSpPr>
          <p:nvPr>
            <p:ph type="ftr" sz="quarter" idx="11"/>
          </p:nvPr>
        </p:nvSpPr>
        <p:spPr>
          <a:xfrm>
            <a:off x="1143000" y="9563100"/>
            <a:ext cx="12382500" cy="419100"/>
          </a:xfrm>
        </p:spPr>
        <p:txBody>
          <a:bodyPr lIns="0" tIns="0" rIns="0" bIns="0" anchor="ctr">
            <a:noAutofit/>
          </a:bodyPr>
          <a:lstStyle>
            <a:lvl1pPr algn="l">
              <a:defRPr sz="1800">
                <a:solidFill>
                  <a:srgbClr val="5A6385"/>
                </a:solidFill>
                <a:latin typeface="Arial"/>
              </a:defRPr>
            </a:lvl1pPr>
          </a:lstStyle>
          <a:p>
            <a:r>
              <a:rPr lang="en-US"/>
              <a:t>Presentation Title · © Information Systems Lab</a:t>
            </a:r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>
          <a:xfrm>
            <a:off x="14287500" y="9563100"/>
            <a:ext cx="2857500" cy="419100"/>
          </a:xfrm>
        </p:spPr>
        <p:txBody>
          <a:bodyPr lIns="0" tIns="0" rIns="0" bIns="0" anchor="ctr">
            <a:noAutofit/>
          </a:bodyPr>
          <a:lstStyle>
            <a:lvl1pPr algn="r">
              <a:defRPr sz="1800">
                <a:solidFill>
                  <a:srgbClr val="5A6385"/>
                </a:solidFill>
                <a:latin typeface="Arial"/>
              </a:defRPr>
            </a:lvl1pPr>
          </a:lstStyle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143000" y="666750"/>
            <a:ext cx="16002000" cy="1200150"/>
          </a:xfrm>
        </p:spPr>
        <p:txBody>
          <a:bodyPr lIns="0" tIns="0" rIns="0" bIns="0" anchor="b">
            <a:normAutofit/>
          </a:bodyPr>
          <a:lstStyle/>
          <a:p>
            <a:r>
              <a:rPr lang="en-US"/>
              <a:t>Click to edit title</a:t>
            </a:r>
          </a:p>
        </p:txBody>
      </p:sp>
      <p:sp>
        <p:nvSpPr>
          <p:cNvPr id="5" name="Content"/>
          <p:cNvSpPr>
            <a:spLocks noGrp="1"/>
          </p:cNvSpPr>
          <p:nvPr>
            <p:ph type="body" idx="1"/>
          </p:nvPr>
        </p:nvSpPr>
        <p:spPr>
          <a:xfrm>
            <a:off x="1143000" y="2571750"/>
            <a:ext cx="7810500" cy="6477000"/>
          </a:xfrm>
        </p:spPr>
        <p:txBody>
          <a:bodyPr lIns="0" tIns="0" rIns="0" bIns="0" anchor="t">
            <a:normAutofit/>
          </a:bodyPr>
          <a:lstStyle/>
          <a:p>
            <a:r>
              <a:rPr lang="en-US"/>
              <a:t>Click to edit text</a:t>
            </a:r>
          </a:p>
        </p:txBody>
      </p:sp>
      <p:sp>
        <p:nvSpPr>
          <p:cNvPr id="6" name="Picture"/>
          <p:cNvSpPr>
            <a:spLocks noGrp="1"/>
          </p:cNvSpPr>
          <p:nvPr>
            <p:ph type="pic" idx="2"/>
          </p:nvPr>
        </p:nvSpPr>
        <p:spPr>
          <a:xfrm>
            <a:off x="9715500" y="2571750"/>
            <a:ext cx="7429500" cy="6477000"/>
          </a:xfrm>
          <a:solidFill>
            <a:srgbClr val="EEF1FE"/>
          </a:solidFill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5A6385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Footer"/>
          <p:cNvSpPr>
            <a:spLocks noGrp="1"/>
          </p:cNvSpPr>
          <p:nvPr>
            <p:ph type="ftr" sz="quarter" idx="11"/>
          </p:nvPr>
        </p:nvSpPr>
        <p:spPr>
          <a:xfrm>
            <a:off x="1143000" y="9563100"/>
            <a:ext cx="12382500" cy="419100"/>
          </a:xfrm>
        </p:spPr>
        <p:txBody>
          <a:bodyPr lIns="0" tIns="0" rIns="0" bIns="0" anchor="ctr">
            <a:noAutofit/>
          </a:bodyPr>
          <a:lstStyle>
            <a:lvl1pPr algn="l">
              <a:defRPr sz="1800">
                <a:solidFill>
                  <a:srgbClr val="5A6385"/>
                </a:solidFill>
                <a:latin typeface="Arial"/>
              </a:defRPr>
            </a:lvl1pPr>
          </a:lstStyle>
          <a:p>
            <a:r>
              <a:rPr lang="en-US"/>
              <a:t>Presentation Title · © Information Systems Lab</a:t>
            </a:r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>
          <a:xfrm>
            <a:off x="14287500" y="9563100"/>
            <a:ext cx="2857500" cy="419100"/>
          </a:xfrm>
        </p:spPr>
        <p:txBody>
          <a:bodyPr lIns="0" tIns="0" rIns="0" bIns="0" anchor="ctr">
            <a:noAutofit/>
          </a:bodyPr>
          <a:lstStyle>
            <a:lvl1pPr algn="r">
              <a:defRPr sz="1800">
                <a:solidFill>
                  <a:srgbClr val="5A6385"/>
                </a:solidFill>
                <a:latin typeface="Arial"/>
              </a:defRPr>
            </a:lvl1pPr>
          </a:lstStyle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143000" y="666750"/>
            <a:ext cx="16002000" cy="1200150"/>
          </a:xfrm>
        </p:spPr>
        <p:txBody>
          <a:bodyPr lIns="0" tIns="0" rIns="0" bIns="0" anchor="b">
            <a:normAutofit/>
          </a:bodyPr>
          <a:lstStyle/>
          <a:p>
            <a:r>
              <a:rPr lang="en-US"/>
              <a:t>Click to edit title</a:t>
            </a:r>
          </a:p>
        </p:txBody>
      </p:sp>
      <p:sp>
        <p:nvSpPr>
          <p:cNvPr id="5" name="Shape 5"/>
          <p:cNvSpPr/>
          <p:nvPr userDrawn="1"/>
        </p:nvSpPr>
        <p:spPr>
          <a:xfrm>
            <a:off x="1143000" y="2857500"/>
            <a:ext cx="95250" cy="361950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Message"/>
          <p:cNvSpPr>
            <a:spLocks noGrp="1"/>
          </p:cNvSpPr>
          <p:nvPr>
            <p:ph type="body" idx="1"/>
          </p:nvPr>
        </p:nvSpPr>
        <p:spPr>
          <a:xfrm>
            <a:off x="1714500" y="2857500"/>
            <a:ext cx="14859000" cy="3619500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rgbClr val="1B2F6B"/>
                </a:solidFill>
                <a:latin typeface="Georgia"/>
                <a:cs typeface="Georgia"/>
              </a:defRPr>
            </a:lvl1pPr>
          </a:lstStyle>
          <a:p>
            <a:r>
              <a:rPr lang="en-US"/>
              <a:t>One sentence the audience should remember.</a:t>
            </a:r>
          </a:p>
        </p:txBody>
      </p:sp>
      <p:sp>
        <p:nvSpPr>
          <p:cNvPr id="7" name="Attribution"/>
          <p:cNvSpPr>
            <a:spLocks noGrp="1"/>
          </p:cNvSpPr>
          <p:nvPr>
            <p:ph type="body" idx="2"/>
          </p:nvPr>
        </p:nvSpPr>
        <p:spPr>
          <a:xfrm>
            <a:off x="1714500" y="6953250"/>
            <a:ext cx="14859000" cy="476250"/>
          </a:xfrm>
        </p:spPr>
        <p:txBody>
          <a:bodyPr lIns="0" tIns="0" rIns="0" bIns="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 b="0">
                <a:solidFill>
                  <a:srgbClr val="5A6385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— Source or author</a:t>
            </a:r>
          </a:p>
        </p:txBody>
      </p:sp>
      <p:sp>
        <p:nvSpPr>
          <p:cNvPr id="3" name="Footer"/>
          <p:cNvSpPr>
            <a:spLocks noGrp="1"/>
          </p:cNvSpPr>
          <p:nvPr>
            <p:ph type="ftr" sz="quarter" idx="11"/>
          </p:nvPr>
        </p:nvSpPr>
        <p:spPr>
          <a:xfrm>
            <a:off x="1143000" y="9563100"/>
            <a:ext cx="12382500" cy="419100"/>
          </a:xfrm>
        </p:spPr>
        <p:txBody>
          <a:bodyPr lIns="0" tIns="0" rIns="0" bIns="0" anchor="ctr">
            <a:noAutofit/>
          </a:bodyPr>
          <a:lstStyle>
            <a:lvl1pPr algn="l">
              <a:defRPr sz="1800">
                <a:solidFill>
                  <a:srgbClr val="5A6385"/>
                </a:solidFill>
                <a:latin typeface="Arial"/>
              </a:defRPr>
            </a:lvl1pPr>
          </a:lstStyle>
          <a:p>
            <a:r>
              <a:rPr lang="en-US"/>
              <a:t>Presentation Title · © Information Systems Lab</a:t>
            </a:r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>
          <a:xfrm>
            <a:off x="14287500" y="9563100"/>
            <a:ext cx="2857500" cy="419100"/>
          </a:xfrm>
        </p:spPr>
        <p:txBody>
          <a:bodyPr lIns="0" tIns="0" rIns="0" bIns="0" anchor="ctr">
            <a:noAutofit/>
          </a:bodyPr>
          <a:lstStyle>
            <a:lvl1pPr algn="r">
              <a:defRPr sz="1800">
                <a:solidFill>
                  <a:srgbClr val="5A6385"/>
                </a:solidFill>
                <a:latin typeface="Arial"/>
              </a:defRPr>
            </a:lvl1pPr>
          </a:lstStyle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143000" y="666750"/>
            <a:ext cx="16002000" cy="1200150"/>
          </a:xfrm>
        </p:spPr>
        <p:txBody>
          <a:bodyPr lIns="0" tIns="0" rIns="0" bIns="0" anchor="b">
            <a:normAutofit/>
          </a:bodyPr>
          <a:lstStyle/>
          <a:p>
            <a:r>
              <a:rPr lang="en-US"/>
              <a:t>Click to edit title</a:t>
            </a:r>
          </a:p>
        </p:txBody>
      </p:sp>
      <p:sp>
        <p:nvSpPr>
          <p:cNvPr id="5" name="Conclusions"/>
          <p:cNvSpPr>
            <a:spLocks noGrp="1"/>
          </p:cNvSpPr>
          <p:nvPr>
            <p:ph type="body" idx="1"/>
          </p:nvPr>
        </p:nvSpPr>
        <p:spPr>
          <a:xfrm>
            <a:off x="1143000" y="2667000"/>
            <a:ext cx="16002000" cy="6381750"/>
          </a:xfrm>
        </p:spPr>
        <p:txBody>
          <a:bodyPr lIns="0" tIns="0" rIns="0" bIns="0" anchor="t">
            <a:normAutofit/>
          </a:bodyPr>
          <a:lstStyle>
            <a:lvl1pPr marL="476250" indent="-476250">
              <a:lnSpc>
                <a:spcPct val="110000"/>
              </a:lnSpc>
              <a:spcBef>
                <a:spcPts val="2600"/>
              </a:spcBef>
              <a:spcAft>
                <a:spcPts val="0"/>
              </a:spcAft>
              <a:buClr>
                <a:srgbClr val="F5821F"/>
              </a:buClr>
              <a:buSzPct val="60000"/>
              <a:buFont typeface="Arial"/>
              <a:buChar char="■"/>
              <a:defRPr sz="3000" b="1">
                <a:solidFill>
                  <a:srgbClr val="1B2F6B"/>
                </a:solidFill>
                <a:latin typeface="Arial"/>
                <a:cs typeface="Arial"/>
              </a:defRPr>
            </a:lvl1pPr>
            <a:lvl2pPr marL="476250" indent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  <a:defRPr sz="2600" b="0">
                <a:solidFill>
                  <a:srgbClr val="26314F"/>
                </a:solidFill>
                <a:latin typeface="Arial"/>
                <a:cs typeface="Arial"/>
              </a:defRPr>
            </a:lvl2pPr>
          </a:lstStyle>
          <a:p>
            <a:r>
              <a:rPr lang="en-US"/>
              <a:t>Conclusion</a:t>
            </a:r>
          </a:p>
        </p:txBody>
      </p:sp>
      <p:sp>
        <p:nvSpPr>
          <p:cNvPr id="3" name="Footer"/>
          <p:cNvSpPr>
            <a:spLocks noGrp="1"/>
          </p:cNvSpPr>
          <p:nvPr>
            <p:ph type="ftr" sz="quarter" idx="11"/>
          </p:nvPr>
        </p:nvSpPr>
        <p:spPr>
          <a:xfrm>
            <a:off x="1143000" y="9563100"/>
            <a:ext cx="12382500" cy="419100"/>
          </a:xfrm>
        </p:spPr>
        <p:txBody>
          <a:bodyPr lIns="0" tIns="0" rIns="0" bIns="0" anchor="ctr">
            <a:noAutofit/>
          </a:bodyPr>
          <a:lstStyle>
            <a:lvl1pPr algn="l">
              <a:defRPr sz="1800">
                <a:solidFill>
                  <a:srgbClr val="5A6385"/>
                </a:solidFill>
                <a:latin typeface="Arial"/>
              </a:defRPr>
            </a:lvl1pPr>
          </a:lstStyle>
          <a:p>
            <a:r>
              <a:rPr lang="en-US"/>
              <a:t>Presentation Title · © Information Systems Lab</a:t>
            </a:r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>
          <a:xfrm>
            <a:off x="14287500" y="9563100"/>
            <a:ext cx="2857500" cy="419100"/>
          </a:xfrm>
        </p:spPr>
        <p:txBody>
          <a:bodyPr lIns="0" tIns="0" rIns="0" bIns="0" anchor="ctr">
            <a:noAutofit/>
          </a:bodyPr>
          <a:lstStyle>
            <a:lvl1pPr algn="r">
              <a:defRPr sz="1800">
                <a:solidFill>
                  <a:srgbClr val="5A6385"/>
                </a:solidFill>
                <a:latin typeface="Arial"/>
              </a:defRPr>
            </a:lvl1pPr>
          </a:lstStyle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143000" y="666750"/>
            <a:ext cx="16002000" cy="1200150"/>
          </a:xfrm>
        </p:spPr>
        <p:txBody>
          <a:bodyPr lIns="0" tIns="0" rIns="0" bIns="0" anchor="b">
            <a:normAutofit/>
          </a:bodyPr>
          <a:lstStyle/>
          <a:p>
            <a:r>
              <a:rPr lang="en-US"/>
              <a:t>Click to edit title</a:t>
            </a:r>
          </a:p>
        </p:txBody>
      </p:sp>
      <p:sp>
        <p:nvSpPr>
          <p:cNvPr id="3" name="Footer"/>
          <p:cNvSpPr>
            <a:spLocks noGrp="1"/>
          </p:cNvSpPr>
          <p:nvPr>
            <p:ph type="ftr" sz="quarter" idx="11"/>
          </p:nvPr>
        </p:nvSpPr>
        <p:spPr>
          <a:xfrm>
            <a:off x="1143000" y="9563100"/>
            <a:ext cx="12382500" cy="419100"/>
          </a:xfrm>
        </p:spPr>
        <p:txBody>
          <a:bodyPr lIns="0" tIns="0" rIns="0" bIns="0" anchor="ctr">
            <a:noAutofit/>
          </a:bodyPr>
          <a:lstStyle>
            <a:lvl1pPr algn="l">
              <a:defRPr sz="1800">
                <a:solidFill>
                  <a:srgbClr val="5A6385"/>
                </a:solidFill>
                <a:latin typeface="Arial"/>
              </a:defRPr>
            </a:lvl1pPr>
          </a:lstStyle>
          <a:p>
            <a:r>
              <a:rPr lang="en-US"/>
              <a:t>Presentation Title · © Information Systems Lab</a:t>
            </a:r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>
          <a:xfrm>
            <a:off x="14287500" y="9563100"/>
            <a:ext cx="2857500" cy="419100"/>
          </a:xfrm>
        </p:spPr>
        <p:txBody>
          <a:bodyPr lIns="0" tIns="0" rIns="0" bIns="0" anchor="ctr">
            <a:noAutofit/>
          </a:bodyPr>
          <a:lstStyle>
            <a:lvl1pPr algn="r">
              <a:defRPr sz="1800">
                <a:solidFill>
                  <a:srgbClr val="5A6385"/>
                </a:solidFill>
                <a:latin typeface="Arial"/>
              </a:defRPr>
            </a:lvl1pPr>
          </a:lstStyle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estions /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 userDrawn="1"/>
        </p:nvSpPr>
        <p:spPr>
          <a:xfrm>
            <a:off x="0" y="0"/>
            <a:ext cx="18288000" cy="190500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3"/>
          <p:cNvSpPr/>
          <p:nvPr userDrawn="1"/>
        </p:nvSpPr>
        <p:spPr>
          <a:xfrm>
            <a:off x="0" y="190500"/>
            <a:ext cx="18288000" cy="7620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Label"/>
          <p:cNvSpPr>
            <a:spLocks noGrp="1"/>
          </p:cNvSpPr>
          <p:nvPr>
            <p:ph type="body" idx="13"/>
          </p:nvPr>
        </p:nvSpPr>
        <p:spPr>
          <a:xfrm>
            <a:off x="1143000" y="1428750"/>
            <a:ext cx="11430000" cy="342900"/>
          </a:xfrm>
        </p:spPr>
        <p:txBody>
          <a:bodyPr lIns="0" tIns="0" rIns="0" bIns="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1" spc="300">
                <a:solidFill>
                  <a:srgbClr val="5A6385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hape 5"/>
          <p:cNvSpPr/>
          <p:nvPr userDrawn="1"/>
        </p:nvSpPr>
        <p:spPr>
          <a:xfrm>
            <a:off x="1143000" y="2343150"/>
            <a:ext cx="95250" cy="1676400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itle"/>
          <p:cNvSpPr>
            <a:spLocks noGrp="1"/>
          </p:cNvSpPr>
          <p:nvPr>
            <p:ph type="title"/>
          </p:nvPr>
        </p:nvSpPr>
        <p:spPr>
          <a:xfrm>
            <a:off x="1657350" y="2381250"/>
            <a:ext cx="14287500" cy="1619250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 b="1">
                <a:solidFill>
                  <a:srgbClr val="1B2F6B"/>
                </a:solidFill>
                <a:latin typeface="Georgia"/>
                <a:cs typeface="Georgia"/>
              </a:defRPr>
            </a:lvl1pPr>
          </a:lstStyle>
          <a:p>
            <a:r>
              <a:rPr lang="en-US"/>
              <a:t>Questions?</a:t>
            </a:r>
          </a:p>
        </p:txBody>
      </p:sp>
      <p:sp>
        <p:nvSpPr>
          <p:cNvPr id="7" name="Name"/>
          <p:cNvSpPr>
            <a:spLocks noGrp="1"/>
          </p:cNvSpPr>
          <p:nvPr>
            <p:ph type="body" idx="1"/>
          </p:nvPr>
        </p:nvSpPr>
        <p:spPr>
          <a:xfrm>
            <a:off x="1657350" y="4448175"/>
            <a:ext cx="9525000" cy="438150"/>
          </a:xfrm>
        </p:spPr>
        <p:txBody>
          <a:bodyPr lIns="0" tIns="0" rIns="0" bIns="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50" b="0">
                <a:solidFill>
                  <a:srgbClr val="26314F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Evangelos Kalampokis</a:t>
            </a:r>
          </a:p>
        </p:txBody>
      </p:sp>
      <p:sp>
        <p:nvSpPr>
          <p:cNvPr id="8" name="Contact"/>
          <p:cNvSpPr>
            <a:spLocks noGrp="1"/>
          </p:cNvSpPr>
          <p:nvPr>
            <p:ph type="body" idx="14"/>
          </p:nvPr>
        </p:nvSpPr>
        <p:spPr>
          <a:xfrm>
            <a:off x="1657350" y="5324475"/>
            <a:ext cx="9525000" cy="762000"/>
          </a:xfrm>
        </p:spPr>
        <p:txBody>
          <a:bodyPr lIns="0" tIns="0" rIns="0" bIns="0" anchor="t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5A6385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kalampokis.github.io</a:t>
            </a:r>
          </a:p>
        </p:txBody>
      </p:sp>
      <p:sp>
        <p:nvSpPr>
          <p:cNvPr id="9" name="Shape 9"/>
          <p:cNvSpPr/>
          <p:nvPr userDrawn="1"/>
        </p:nvSpPr>
        <p:spPr>
          <a:xfrm>
            <a:off x="0" y="8467725"/>
            <a:ext cx="18288000" cy="9525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10"/>
          <p:cNvSpPr txBox="1"/>
          <p:nvPr userDrawn="1"/>
        </p:nvSpPr>
        <p:spPr>
          <a:xfrm>
            <a:off x="1657350" y="9229725"/>
            <a:ext cx="5715000" cy="3429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en-US" sz="1800">
                <a:solidFill>
                  <a:srgbClr val="5A6385"/>
                </a:solidFill>
                <a:latin typeface="Arial"/>
                <a:cs typeface="Arial"/>
              </a:rPr>
              <a:t>© Information Systems Lab</a:t>
            </a:r>
          </a:p>
        </p:txBody>
      </p:sp>
      <p:pic>
        <p:nvPicPr>
          <p:cNvPr id="11" name="Picture 11"/>
          <p:cNvPicPr>
            <a:picLocks noChangeAspect="1"/>
          </p:cNvPicPr>
          <p:nvPr userDrawn="1"/>
        </p:nvPicPr>
        <p:blipFill rotWithShape="1">
          <a:blip r:embed="rId2"/>
          <a:stretch>
            <a:fillRect/>
          </a:stretch>
        </p:blipFill>
        <p:spPr>
          <a:xfrm>
            <a:off x="11563350" y="8924925"/>
            <a:ext cx="971550" cy="914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 userDrawn="1"/>
        </p:nvPicPr>
        <p:blipFill rotWithShape="1">
          <a:blip r:embed="rId3"/>
          <a:stretch>
            <a:fillRect/>
          </a:stretch>
        </p:blipFill>
        <p:spPr>
          <a:xfrm>
            <a:off x="13068300" y="9039225"/>
            <a:ext cx="2171700" cy="6858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 userDrawn="1"/>
        </p:nvPicPr>
        <p:blipFill rotWithShape="1">
          <a:blip r:embed="rId4"/>
          <a:stretch>
            <a:fillRect/>
          </a:stretch>
        </p:blipFill>
        <p:spPr>
          <a:xfrm>
            <a:off x="15773400" y="8924925"/>
            <a:ext cx="1371600" cy="9144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 userDrawn="1"/>
        </p:nvSpPr>
        <p:spPr>
          <a:xfrm>
            <a:off x="571500" y="2038350"/>
            <a:ext cx="419100" cy="15240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3"/>
          <p:cNvSpPr/>
          <p:nvPr userDrawn="1"/>
        </p:nvSpPr>
        <p:spPr>
          <a:xfrm>
            <a:off x="1143000" y="2038350"/>
            <a:ext cx="17145000" cy="152400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4"/>
          <p:cNvSpPr/>
          <p:nvPr userDrawn="1"/>
        </p:nvSpPr>
        <p:spPr>
          <a:xfrm>
            <a:off x="1143000" y="9363075"/>
            <a:ext cx="16002000" cy="9525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1143000" y="666750"/>
            <a:ext cx="16002000" cy="1200150"/>
          </a:xfrm>
        </p:spPr>
        <p:txBody>
          <a:bodyPr lIns="0" tIns="0" rIns="0" bIns="0" anchor="b">
            <a:normAutofit/>
          </a:bodyPr>
          <a:lstStyle/>
          <a:p>
            <a:r>
              <a:rPr lang="en-US"/>
              <a:t>Click to edit title</a:t>
            </a:r>
          </a:p>
        </p:txBody>
      </p:sp>
      <p:sp>
        <p:nvSpPr>
          <p:cNvPr id="6" name="Body"/>
          <p:cNvSpPr>
            <a:spLocks noGrp="1"/>
          </p:cNvSpPr>
          <p:nvPr>
            <p:ph type="body" idx="1"/>
          </p:nvPr>
        </p:nvSpPr>
        <p:spPr>
          <a:xfrm>
            <a:off x="1143000" y="2571750"/>
            <a:ext cx="16002000" cy="6477000"/>
          </a:xfrm>
        </p:spPr>
        <p:txBody>
          <a:bodyPr lIns="0" tIns="0" rIns="0" bIns="0" anchor="t">
            <a:normAutofit/>
          </a:bodyPr>
          <a:lstStyle/>
          <a:p>
            <a:r>
              <a:rPr lang="en-US"/>
              <a:t>Click to edit text</a:t>
            </a:r>
          </a:p>
        </p:txBody>
      </p:sp>
      <p:sp>
        <p:nvSpPr>
          <p:cNvPr id="7" name="Footer"/>
          <p:cNvSpPr>
            <a:spLocks noGrp="1"/>
          </p:cNvSpPr>
          <p:nvPr>
            <p:ph type="ftr" sz="quarter" idx="11"/>
          </p:nvPr>
        </p:nvSpPr>
        <p:spPr>
          <a:xfrm>
            <a:off x="1143000" y="9563100"/>
            <a:ext cx="12382500" cy="419100"/>
          </a:xfrm>
        </p:spPr>
        <p:txBody>
          <a:bodyPr lIns="0" tIns="0" rIns="0" bIns="0" anchor="ctr">
            <a:noAutofit/>
          </a:bodyPr>
          <a:lstStyle>
            <a:lvl1pPr algn="l">
              <a:defRPr sz="1800">
                <a:solidFill>
                  <a:srgbClr val="5A6385"/>
                </a:solidFill>
                <a:latin typeface="Arial"/>
              </a:defRPr>
            </a:lvl1pPr>
          </a:lstStyle>
          <a:p>
            <a:r>
              <a:rPr lang="en-US"/>
              <a:t>Presentation Title · © Information Systems Lab</a:t>
            </a:r>
          </a:p>
        </p:txBody>
      </p:sp>
      <p:sp>
        <p:nvSpPr>
          <p:cNvPr id="8" name="Slide Number"/>
          <p:cNvSpPr>
            <a:spLocks noGrp="1"/>
          </p:cNvSpPr>
          <p:nvPr>
            <p:ph type="sldNum" sz="quarter" idx="12"/>
          </p:nvPr>
        </p:nvSpPr>
        <p:spPr>
          <a:xfrm>
            <a:off x="14287500" y="9563100"/>
            <a:ext cx="2857500" cy="419100"/>
          </a:xfrm>
        </p:spPr>
        <p:txBody>
          <a:bodyPr lIns="0" tIns="0" rIns="0" bIns="0" anchor="ctr">
            <a:noAutofit/>
          </a:bodyPr>
          <a:lstStyle>
            <a:lvl1pPr algn="r">
              <a:defRPr sz="1800">
                <a:solidFill>
                  <a:srgbClr val="5A6385"/>
                </a:solidFill>
                <a:latin typeface="Arial"/>
              </a:defRPr>
            </a:lvl1pPr>
          </a:lstStyle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hdr="0" dt="0"/>
  <p:txStyles>
    <p:titleStyle>
      <a:lvl1pPr marL="0" indent="0">
        <a:lnSpc>
          <a:spcPct val="97000"/>
        </a:lnSpc>
        <a:spcBef>
          <a:spcPts val="0"/>
        </a:spcBef>
        <a:spcAft>
          <a:spcPts val="0"/>
        </a:spcAft>
        <a:buNone/>
        <a:defRPr sz="5100" b="1">
          <a:solidFill>
            <a:srgbClr val="1B2F6B"/>
          </a:solidFill>
          <a:latin typeface="Georgia"/>
          <a:cs typeface="Georgia"/>
        </a:defRPr>
      </a:lvl1pPr>
    </p:titleStyle>
    <p:bodyStyle>
      <a:lvl1pPr marL="419100" indent="-419100">
        <a:lnSpc>
          <a:spcPct val="115000"/>
        </a:lnSpc>
        <a:spcBef>
          <a:spcPts val="2000"/>
        </a:spcBef>
        <a:spcAft>
          <a:spcPts val="0"/>
        </a:spcAft>
        <a:buClr>
          <a:srgbClr val="F5821F"/>
        </a:buClr>
        <a:buSzPct val="65000"/>
        <a:buFont typeface="Arial"/>
        <a:buChar char="●"/>
        <a:defRPr sz="2800" b="0">
          <a:solidFill>
            <a:srgbClr val="26314F"/>
          </a:solidFill>
          <a:latin typeface="Arial"/>
          <a:cs typeface="Arial"/>
        </a:defRPr>
      </a:lvl1pPr>
      <a:lvl2pPr marL="952500" indent="-381000">
        <a:lnSpc>
          <a:spcPct val="115000"/>
        </a:lnSpc>
        <a:spcBef>
          <a:spcPts val="800"/>
        </a:spcBef>
        <a:spcAft>
          <a:spcPts val="0"/>
        </a:spcAft>
        <a:buClr>
          <a:srgbClr val="7895F9"/>
        </a:buClr>
        <a:buSzPct val="55000"/>
        <a:buFont typeface="Arial"/>
        <a:buChar char="●"/>
        <a:defRPr sz="2400" b="0">
          <a:solidFill>
            <a:srgbClr val="5A6385"/>
          </a:solidFill>
          <a:latin typeface="Arial"/>
          <a:cs typeface="Arial"/>
        </a:defRPr>
      </a:lvl2pPr>
      <a:lvl3pPr marL="1428750" indent="-342900">
        <a:lnSpc>
          <a:spcPct val="115000"/>
        </a:lnSpc>
        <a:spcBef>
          <a:spcPts val="600"/>
        </a:spcBef>
        <a:spcAft>
          <a:spcPts val="0"/>
        </a:spcAft>
        <a:buClr>
          <a:srgbClr val="7895F9"/>
        </a:buClr>
        <a:buSzPct val="100000"/>
        <a:buFont typeface="Arial"/>
        <a:buChar char="–"/>
        <a:defRPr sz="2000" b="0">
          <a:solidFill>
            <a:srgbClr val="5A6385"/>
          </a:solidFill>
          <a:latin typeface="Arial"/>
          <a:cs typeface="Arial"/>
        </a:defRPr>
      </a:lvl3pPr>
      <a:lvl4pPr marL="1809750" indent="-285750">
        <a:lnSpc>
          <a:spcPct val="100000"/>
        </a:lnSpc>
        <a:spcBef>
          <a:spcPts val="400"/>
        </a:spcBef>
        <a:spcAft>
          <a:spcPts val="0"/>
        </a:spcAft>
        <a:buClr>
          <a:srgbClr val="7895F9"/>
        </a:buClr>
        <a:buSzPct val="100000"/>
        <a:buFont typeface="Arial"/>
        <a:buChar char="–"/>
        <a:defRPr sz="1800" b="0">
          <a:solidFill>
            <a:srgbClr val="5A6385"/>
          </a:solidFill>
          <a:latin typeface="Arial"/>
          <a:cs typeface="Arial"/>
        </a:defRPr>
      </a:lvl4pPr>
      <a:lvl5pPr marL="2190750" indent="-285750">
        <a:lnSpc>
          <a:spcPct val="100000"/>
        </a:lnSpc>
        <a:spcBef>
          <a:spcPts val="400"/>
        </a:spcBef>
        <a:spcAft>
          <a:spcPts val="0"/>
        </a:spcAft>
        <a:buClr>
          <a:srgbClr val="7895F9"/>
        </a:buClr>
        <a:buSzPct val="100000"/>
        <a:buFont typeface="Arial"/>
        <a:buChar char="–"/>
        <a:defRPr sz="1800" b="0">
          <a:solidFill>
            <a:srgbClr val="5A6385"/>
          </a:solidFill>
          <a:latin typeface="Arial"/>
          <a:cs typeface="Arial"/>
        </a:defRPr>
      </a:lvl5pPr>
    </p:bodyStyle>
    <p:otherStyle>
      <a:lvl1pPr marL="0" indent="0">
        <a:lnSpc>
          <a:spcPct val="100000"/>
        </a:lnSpc>
        <a:spcBef>
          <a:spcPts val="0"/>
        </a:spcBef>
        <a:spcAft>
          <a:spcPts val="0"/>
        </a:spcAft>
        <a:buNone/>
        <a:defRPr sz="1800" b="0">
          <a:solidFill>
            <a:srgbClr val="26314F"/>
          </a:solidFill>
          <a:latin typeface="Arial"/>
          <a:cs typeface="Arial"/>
        </a:defRPr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kalampokis.github.io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9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81150" y="2322740"/>
            <a:ext cx="9153525" cy="2190750"/>
          </a:xfrm>
        </p:spPr>
        <p:txBody>
          <a:bodyPr>
            <a:noAutofit/>
          </a:bodyPr>
          <a:lstStyle/>
          <a:p>
            <a:r>
              <a:rPr lang="el-GR" sz="5400" dirty="0"/>
              <a:t>Προγραμματισμός για Επιχειρηματική Αναλυτική</a:t>
            </a:r>
            <a:endParaRPr sz="5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81150" y="4642757"/>
            <a:ext cx="9086850" cy="571500"/>
          </a:xfrm>
        </p:spPr>
        <p:txBody>
          <a:bodyPr>
            <a:normAutofit/>
          </a:bodyPr>
          <a:lstStyle/>
          <a:p>
            <a:r>
              <a:rPr lang="el-GR" sz="2800" dirty="0" err="1"/>
              <a:t>Εισαγωγ</a:t>
            </a:r>
            <a:r>
              <a:rPr lang="en-US" sz="2800" dirty="0" err="1"/>
              <a:t>ή</a:t>
            </a:r>
            <a:r>
              <a:rPr lang="el-GR" sz="2800" dirty="0"/>
              <a:t> στην </a:t>
            </a:r>
            <a:r>
              <a:rPr lang="en-US" sz="2800" dirty="0"/>
              <a:t>Python</a:t>
            </a:r>
            <a:r>
              <a:rPr lang="el-GR" sz="2800" dirty="0"/>
              <a:t> -</a:t>
            </a:r>
            <a:r>
              <a:rPr sz="2800" dirty="0"/>
              <a:t> </a:t>
            </a:r>
            <a:r>
              <a:rPr sz="2800" dirty="0" err="1"/>
              <a:t>Ε</a:t>
            </a:r>
            <a:r>
              <a:rPr sz="2800" dirty="0"/>
              <a:t>β</a:t>
            </a:r>
            <a:r>
              <a:rPr sz="2800" dirty="0" err="1"/>
              <a:t>δομάδ</a:t>
            </a:r>
            <a:r>
              <a:rPr sz="2800" dirty="0"/>
              <a:t>α 3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dirty="0" err="1"/>
              <a:t>Ευάγγελος</a:t>
            </a:r>
            <a:r>
              <a:rPr dirty="0"/>
              <a:t> </a:t>
            </a:r>
            <a:r>
              <a:rPr dirty="0" err="1"/>
              <a:t>Κ</a:t>
            </a:r>
            <a:r>
              <a:rPr dirty="0"/>
              <a:t>α</a:t>
            </a:r>
            <a:r>
              <a:rPr dirty="0" err="1"/>
              <a:t>λ</a:t>
            </a:r>
            <a:r>
              <a:rPr dirty="0"/>
              <a:t>α</a:t>
            </a:r>
            <a:r>
              <a:rPr dirty="0" err="1"/>
              <a:t>μ</a:t>
            </a:r>
            <a:r>
              <a:rPr dirty="0"/>
              <a:t>π</a:t>
            </a:r>
            <a:r>
              <a:rPr dirty="0" err="1"/>
              <a:t>όκης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dirty="0" err="1">
                <a:hlinkClick r:id="rId3"/>
              </a:rPr>
              <a:t>kalampokis.github.io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Ατζέντα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Γιατί Python, πού γράφουμε κώδικα: script, κονσόλα, notebook, σχόλια</a:t>
            </a:r>
          </a:p>
          <a:p>
            <a:pPr/>
            <a:r>
              <a:t>Μεταβλητές (variables), τύποι δεδομένων (data types), κείμενο και συγκρίσεις</a:t>
            </a:r>
          </a:p>
          <a:p>
            <a:pPr/>
            <a:r>
              <a:t>Λίστες (lists): δημιουργία, δείκτες, τμήματα, αλλαγές</a:t>
            </a:r>
          </a:p>
          <a:p>
            <a:pPr/>
            <a:r>
              <a:t>Συναρτήσεις (functions), μέθοδοι (methods), πακέτα (packages)</a:t>
            </a:r>
          </a:p>
          <a:p>
            <a:pPr/>
            <a:r>
              <a:t>Πώς διαβάζουμε ένα μήνυμα σφάλματος (error message)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Μετά το μάθημα θα μπορείς να…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Γράφεις και εκτελείς απλό κώδικα Python</a:t>
            </a:r>
          </a:p>
          <a:p>
            <a:pPr lvl="1"/>
            <a:r>
              <a:t>Στο script και στην κονσόλα, με σχόλια που εξηγούν τι κάνει</a:t>
            </a:r>
          </a:p>
          <a:p>
            <a:pPr/>
            <a:r>
              <a:t>Αποθηκεύεις τιμές σε μεταβλητές και ξεχωρίζεις τους βασικούς τύπους</a:t>
            </a:r>
          </a:p>
          <a:p>
            <a:pPr lvl="1"/>
            <a:r>
              <a:t>int, float, str, bool, f-strings και συγκρίσεις, και γιατί ο τύπος αλλάζει τη συμπεριφορά</a:t>
            </a:r>
          </a:p>
          <a:p>
            <a:pPr/>
            <a:r>
              <a:t>Οργανώνεις πολλές τιμές σε λίστες και τις επεξεργάζεσαι</a:t>
            </a:r>
          </a:p>
          <a:p>
            <a:pPr lvl="1"/>
            <a:r>
              <a:t>Επιλογή στοιχείων με δείκτες, τμήματα με slicing, προσθήκη και διαγραφή</a:t>
            </a:r>
          </a:p>
          <a:p>
            <a:pPr/>
            <a:r>
              <a:t>Χρησιμοποιείς έτοιμο κώδικα αντί να τον γράφεις από την αρχή</a:t>
            </a:r>
          </a:p>
          <a:p>
            <a:pPr lvl="1"/>
            <a:r>
              <a:t>Ενσωματωμένες συναρτήσεις, μέθοδοι αντικειμένων και πακέτα όπως το NumPy</a:t>
            </a:r>
          </a:p>
          <a:p>
            <a:pPr/>
            <a:r>
              <a:t>Διαβάζεις ένα μήνυμα σφάλματος και βρίσκεις τι πήγε στραβά</a:t>
            </a:r>
          </a:p>
          <a:p>
            <a:pPr lvl="1"/>
            <a:r>
              <a:t>NameError, TypeError, IndexError, SyntaxError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001000" y="6903720"/>
            <a:ext cx="9528048" cy="1737360"/>
          </a:xfrm>
        </p:spPr>
        <p:txBody>
          <a:bodyPr/>
          <a:lstStyle/>
          <a:p>
            <a:r>
              <a:rPr sz="4400"/>
              <a:t>Το περιβάλλον της Python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8001000" y="8915400"/>
            <a:ext cx="9217152" cy="914400"/>
          </a:xfrm>
        </p:spPr>
        <p:txBody>
          <a:bodyPr/>
          <a:lstStyle/>
          <a:p>
            <a:r>
              <a:t>Πού γράφουμε κώδικα, πού βλέπουμε το αποτέλεσμα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Γιατί Python για επιχειρηματική αναλυτική;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43000" y="2743200"/>
            <a:ext cx="7818120" cy="2948939"/>
          </a:xfrm>
          <a:prstGeom prst="roundRect">
            <a:avLst>
              <a:gd name="adj" fmla="val 6000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4" name="Oval 3"/>
          <p:cNvSpPr/>
          <p:nvPr/>
        </p:nvSpPr>
        <p:spPr>
          <a:xfrm>
            <a:off x="1463040" y="3063240"/>
            <a:ext cx="731520" cy="731520"/>
          </a:xfrm>
          <a:prstGeom prst="ellipse">
            <a:avLst/>
          </a:prstGeom>
          <a:solidFill>
            <a:srgbClr val="1B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54864" bIns="54864"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23160" y="3017520"/>
            <a:ext cx="62636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B2F6B"/>
                </a:solidFill>
                <a:latin typeface="Georgia"/>
              </a:rPr>
              <a:t>Διαβάζεται σαν αγγλικά</a:t>
            </a:r>
          </a:p>
          <a:p>
            <a:pPr algn="l"/>
            <a:r>
              <a:rPr sz="1500" b="0" i="1">
                <a:solidFill>
                  <a:srgbClr val="5A6385"/>
                </a:solidFill>
                <a:latin typeface="Arial"/>
              </a:rPr>
              <a:t>readable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069080"/>
            <a:ext cx="7178040" cy="13944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6314F"/>
                </a:solidFill>
                <a:latin typeface="Arial"/>
              </a:rPr>
              <a:t>Λίγη «τελετουργία», καθαρή σύνταξη. Ιδανική πρώτη γλώσσα και ιδανική για να εξηγείς την ανάλυσή σου σε άλλους.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0" y="2743200"/>
            <a:ext cx="7818120" cy="2948939"/>
          </a:xfrm>
          <a:prstGeom prst="roundRect">
            <a:avLst>
              <a:gd name="adj" fmla="val 6000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8" name="Oval 7"/>
          <p:cNvSpPr/>
          <p:nvPr/>
        </p:nvSpPr>
        <p:spPr>
          <a:xfrm>
            <a:off x="9646920" y="3063240"/>
            <a:ext cx="731520" cy="731520"/>
          </a:xfrm>
          <a:prstGeom prst="ellipse">
            <a:avLst/>
          </a:prstGeom>
          <a:solidFill>
            <a:srgbClr val="1B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54864" bIns="54864"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3017520"/>
            <a:ext cx="6263639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B2F6B"/>
                </a:solidFill>
                <a:latin typeface="Georgia"/>
              </a:rPr>
              <a:t>Έτοιμα εργαλεία για δεδομένα</a:t>
            </a:r>
          </a:p>
          <a:p>
            <a:pPr algn="l"/>
            <a:r>
              <a:rPr sz="1500" b="0" i="1">
                <a:solidFill>
                  <a:srgbClr val="5A6385"/>
                </a:solidFill>
                <a:latin typeface="Arial"/>
              </a:rPr>
              <a:t>ecosystem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4069080"/>
            <a:ext cx="7178040" cy="13944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6314F"/>
                </a:solidFill>
                <a:latin typeface="Arial"/>
              </a:rPr>
              <a:t>NumPy, pandas, Matplotlib, scikit-learn: ό,τι χρειάζεται από το καθάρισμα δεδομένων μέχρι τη μηχανική μάθηση, δωρεάν.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6057900"/>
            <a:ext cx="7818120" cy="2948939"/>
          </a:xfrm>
          <a:prstGeom prst="roundRect">
            <a:avLst>
              <a:gd name="adj" fmla="val 6000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463040" y="6377940"/>
            <a:ext cx="731520" cy="731520"/>
          </a:xfrm>
          <a:prstGeom prst="ellipse">
            <a:avLst/>
          </a:prstGeom>
          <a:solidFill>
            <a:srgbClr val="1B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54864" bIns="54864"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6332220"/>
            <a:ext cx="62636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B2F6B"/>
                </a:solidFill>
                <a:latin typeface="Georgia"/>
              </a:rPr>
              <a:t>Η γλώσσα της αγοράς</a:t>
            </a:r>
          </a:p>
          <a:p>
            <a:pPr algn="l"/>
            <a:r>
              <a:rPr sz="1500" b="0" i="1">
                <a:solidFill>
                  <a:srgbClr val="5A6385"/>
                </a:solidFill>
                <a:latin typeface="Arial"/>
              </a:rPr>
              <a:t>industry standard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7383779"/>
            <a:ext cx="7178040" cy="13944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6314F"/>
                </a:solidFill>
                <a:latin typeface="Arial"/>
              </a:rPr>
              <a:t>Η πιο ζητούμενη γλώσσα σε θέσεις data analyst / data scientist. Χρησιμοποιείται από τράπεζες, retail, logistics, marketing.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6057900"/>
            <a:ext cx="7818120" cy="2948939"/>
          </a:xfrm>
          <a:prstGeom prst="roundRect">
            <a:avLst>
              <a:gd name="adj" fmla="val 6000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16" name="Oval 15"/>
          <p:cNvSpPr/>
          <p:nvPr/>
        </p:nvSpPr>
        <p:spPr>
          <a:xfrm>
            <a:off x="9646920" y="6377940"/>
            <a:ext cx="731520" cy="731520"/>
          </a:xfrm>
          <a:prstGeom prst="ellipse">
            <a:avLst/>
          </a:prstGeom>
          <a:solidFill>
            <a:srgbClr val="1B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54864" bIns="54864"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332220"/>
            <a:ext cx="6263639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B2F6B"/>
                </a:solidFill>
                <a:latin typeface="Georgia"/>
              </a:rPr>
              <a:t>Από το Excel στον κώδικα</a:t>
            </a:r>
          </a:p>
          <a:p>
            <a:pPr algn="l"/>
            <a:r>
              <a:rPr sz="1500" b="0" i="1">
                <a:solidFill>
                  <a:srgbClr val="5A6385"/>
                </a:solidFill>
                <a:latin typeface="Arial"/>
              </a:rPr>
              <a:t>reproducible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46920" y="7383779"/>
            <a:ext cx="7178040" cy="13944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6314F"/>
                </a:solidFill>
                <a:latin typeface="Arial"/>
              </a:rPr>
              <a:t>Ό,τι κάνεις γράφεται σε script: επαναλαμβάνεται, ελέγχεται, μοιράζεται. Όχι άλλα «ποιο αρχείο ήταν το σωστό;».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Πού γράφουμε και τρέχουμε Python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43000" y="2743200"/>
            <a:ext cx="5090160" cy="4023360"/>
          </a:xfrm>
          <a:prstGeom prst="roundRect">
            <a:avLst>
              <a:gd name="adj" fmla="val 6000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017520"/>
            <a:ext cx="4495799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B2F6B"/>
                </a:solidFill>
                <a:latin typeface="Georgia"/>
              </a:rPr>
              <a:t>Google Colab</a:t>
            </a:r>
          </a:p>
          <a:p>
            <a:pPr algn="l"/>
            <a:r>
              <a:rPr sz="1300" b="0" i="1">
                <a:solidFill>
                  <a:srgbClr val="5A6385"/>
                </a:solidFill>
                <a:latin typeface="Arial"/>
              </a:rPr>
              <a:t>στον browser, χωρίς εγκατάσταση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069080"/>
            <a:ext cx="445008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26314F"/>
                </a:solidFill>
                <a:latin typeface="Arial"/>
              </a:rPr>
              <a:t>Notebook στο cloud με λογαριασμό Google. Ανοίγεις colab.research.google.com και γράφεις αμέσως. Τα πακέτα δεδομένων είναι ήδη εκεί.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98920" y="2743200"/>
            <a:ext cx="5090160" cy="4023360"/>
          </a:xfrm>
          <a:prstGeom prst="roundRect">
            <a:avLst>
              <a:gd name="adj" fmla="val 6000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18960" y="3017520"/>
            <a:ext cx="4495799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B2F6B"/>
                </a:solidFill>
                <a:latin typeface="Georgia"/>
              </a:rPr>
              <a:t>Anaconda + Jupyter</a:t>
            </a:r>
          </a:p>
          <a:p>
            <a:pPr algn="l"/>
            <a:r>
              <a:rPr sz="1300" b="0" i="1">
                <a:solidFill>
                  <a:srgbClr val="5A6385"/>
                </a:solidFill>
                <a:latin typeface="Arial"/>
              </a:rPr>
              <a:t>στον υπολογιστή σου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18960" y="4069080"/>
            <a:ext cx="445008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26314F"/>
                </a:solidFill>
                <a:latin typeface="Arial"/>
              </a:rPr>
              <a:t>Εγκαθιστάς το Anaconda (Python + 250 πακέτα). Το Jupyter Notebook τρέχει τοπικά, δουλεύεις χωρίς Internet.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054840" y="2743200"/>
            <a:ext cx="5090160" cy="4023360"/>
          </a:xfrm>
          <a:prstGeom prst="roundRect">
            <a:avLst>
              <a:gd name="adj" fmla="val 6000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74880" y="3017520"/>
            <a:ext cx="4495799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B2F6B"/>
                </a:solidFill>
                <a:latin typeface="Georgia"/>
              </a:rPr>
              <a:t>VS Code / PyCharm</a:t>
            </a:r>
          </a:p>
          <a:p>
            <a:pPr algn="l"/>
            <a:r>
              <a:rPr sz="1300" b="0" i="1">
                <a:solidFill>
                  <a:srgbClr val="5A6385"/>
                </a:solidFill>
                <a:latin typeface="Arial"/>
              </a:rPr>
              <a:t>για μεγαλύτερα projects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74880" y="4069080"/>
            <a:ext cx="445008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26314F"/>
                </a:solidFill>
                <a:latin typeface="Arial"/>
              </a:rPr>
              <a:t>Επεξεργαστής κώδικα για αρχεία .py, με αυτόματη συμπλήρωση και debugging. Θα το χρειαστείς αργότερα.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7086600"/>
            <a:ext cx="7726679" cy="1920240"/>
          </a:xfrm>
          <a:prstGeom prst="roundRect">
            <a:avLst>
              <a:gd name="adj" fmla="val 6000"/>
            </a:avLst>
          </a:prstGeom>
          <a:solidFill>
            <a:srgbClr val="FD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7269480"/>
            <a:ext cx="71780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5821F"/>
                </a:solidFill>
                <a:latin typeface="Arial"/>
              </a:rPr>
              <a:t>ΓΙΑ ΣΗΜΕΡΑ</a:t>
            </a:r>
          </a:p>
          <a:p>
            <a:pPr algn="l">
              <a:spcBef>
                <a:spcPts val="400"/>
              </a:spcBef>
            </a:pPr>
            <a:r>
              <a:rPr sz="1500" b="0" i="0">
                <a:solidFill>
                  <a:srgbClr val="26314F"/>
                </a:solidFill>
                <a:latin typeface="Arial"/>
              </a:rPr>
              <a:t>Στην τάξη και στο σπίτι: η διαδραστική σελίδα της εβδομάδας (kalampokis.github.io/bap/Week3/PythonBasics.html). Κώδικας, κουίζ και ασκήσεις χωρίς καμία εγκατάσταση.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18320" y="7086600"/>
            <a:ext cx="7726679" cy="1920240"/>
          </a:xfrm>
          <a:prstGeom prst="roundRect">
            <a:avLst>
              <a:gd name="adj" fmla="val 6000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7269480"/>
            <a:ext cx="71780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2F6B"/>
                </a:solidFill>
                <a:latin typeface="Arial"/>
              </a:rPr>
              <a:t>NOTEBOOK = ΚΕΛΙΑ</a:t>
            </a:r>
          </a:p>
          <a:p>
            <a:pPr algn="l">
              <a:spcBef>
                <a:spcPts val="400"/>
              </a:spcBef>
            </a:pPr>
            <a:r>
              <a:rPr sz="1500" b="0" i="0">
                <a:solidFill>
                  <a:srgbClr val="26314F"/>
                </a:solidFill>
                <a:latin typeface="Arial"/>
              </a:rPr>
              <a:t>Σε Colab και Jupyter ο κώδικας μπαίνει σε κελιά (cells). Τρέχεις ένα κελί με Shift+Enter και το αποτέλεσμα εμφανίζεται ακριβώς από κάτω.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Το περιβάλλον: script και κονσόλα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43000" y="2743200"/>
            <a:ext cx="7589520" cy="3931920"/>
          </a:xfrm>
          <a:prstGeom prst="roundRect">
            <a:avLst>
              <a:gd name="adj" fmla="val 6000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292608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B2F6B"/>
                </a:solidFill>
                <a:latin typeface="Georgia"/>
              </a:rPr>
              <a:t>Script (script.py)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63040" y="3566160"/>
            <a:ext cx="6949440" cy="2286000"/>
          </a:xfrm>
          <a:prstGeom prst="roundRect">
            <a:avLst>
              <a:gd name="adj" fmla="val 5000"/>
            </a:avLst>
          </a:prstGeom>
          <a:solidFill>
            <a:srgbClr val="14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3675887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9C8FC"/>
                </a:solidFill>
                <a:latin typeface="Courier New"/>
              </a:rPr>
              <a:t>script.py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4023360"/>
            <a:ext cx="64008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>
                <a:solidFill>
                  <a:srgbClr val="9FB3E8"/>
                </a:solidFill>
                <a:latin typeface="Courier New"/>
              </a:rPr>
              <a:t># Το αποτέλεσμα φαίνεται μόνο με print()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print(7 / 3)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 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7 ** 3   </a:t>
            </a:r>
            <a:r>
              <a:rPr sz="1800">
                <a:solidFill>
                  <a:srgbClr val="9FB3E8"/>
                </a:solidFill>
                <a:latin typeface="Courier New"/>
              </a:rPr>
              <a:t># αυτό δεν θα εμφανιστεί!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print(7 ** 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5989320"/>
            <a:ext cx="1645920" cy="502920"/>
          </a:xfrm>
          <a:prstGeom prst="roundRect">
            <a:avLst>
              <a:gd name="adj" fmla="val 20000"/>
            </a:avLst>
          </a:prstGeom>
          <a:solidFill>
            <a:srgbClr val="2F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▶ 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5989320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1">
                <a:solidFill>
                  <a:srgbClr val="5A6385"/>
                </a:solidFill>
                <a:latin typeface="Arial"/>
              </a:rPr>
              <a:t>Τρέχει όλες τις γραμμές με τη σειρά, από πάνω προς τα κάτω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55480" y="2743200"/>
            <a:ext cx="7589520" cy="3931920"/>
          </a:xfrm>
          <a:prstGeom prst="roundRect">
            <a:avLst>
              <a:gd name="adj" fmla="val 6000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292608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B2F6B"/>
                </a:solidFill>
                <a:latin typeface="Georgia"/>
              </a:rPr>
              <a:t>Κονσόλα (console / shell)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20" y="3566160"/>
            <a:ext cx="6949440" cy="2286000"/>
          </a:xfrm>
          <a:prstGeom prst="roundRect">
            <a:avLst>
              <a:gd name="adj" fmla="val 5000"/>
            </a:avLst>
          </a:prstGeom>
          <a:solidFill>
            <a:srgbClr val="14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0" y="3675887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9C8FC"/>
                </a:solidFill>
                <a:latin typeface="Courier New"/>
              </a:rPr>
              <a:t>Console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0" y="4023360"/>
            <a:ext cx="64008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>
                <a:solidFill>
                  <a:srgbClr val="F4F6FF"/>
                </a:solidFill>
                <a:latin typeface="Courier New"/>
              </a:rPr>
              <a:t>In [1]: print('hello')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hello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In [2]: 7 / 3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Out[2]: 2.3333333333333335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5989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1">
                <a:solidFill>
                  <a:srgbClr val="5A6385"/>
                </a:solidFill>
                <a:latin typeface="Arial"/>
              </a:rPr>
              <a:t>Πληκτρολογείς μια εντολή, πατάς Enter, βλέπεις αμέσως το αποτέλεσμα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823960" y="4572000"/>
            <a:ext cx="640080" cy="0"/>
          </a:xfrm>
          <a:prstGeom prst="line">
            <a:avLst/>
          </a:prstGeom>
          <a:ln w="38100">
            <a:solidFill>
              <a:srgbClr val="F582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143000" y="6995160"/>
            <a:ext cx="7818120" cy="2011679"/>
          </a:xfrm>
          <a:prstGeom prst="roundRect">
            <a:avLst>
              <a:gd name="adj" fmla="val 6000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7269480"/>
            <a:ext cx="72237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1B2F6B"/>
                </a:solidFill>
                <a:latin typeface="Georgia"/>
              </a:rPr>
              <a:t>Script</a:t>
            </a:r>
          </a:p>
          <a:p>
            <a:pPr algn="l"/>
            <a:r>
              <a:rPr sz="1500" b="0" i="1">
                <a:solidFill>
                  <a:srgbClr val="5A6385"/>
                </a:solidFill>
                <a:latin typeface="Arial"/>
              </a:rPr>
              <a:t>αρχείο .py ή κελί notebook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8321040"/>
            <a:ext cx="7178040" cy="457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26314F"/>
                </a:solidFill>
                <a:latin typeface="Arial"/>
              </a:rPr>
              <a:t>Γράφεις πολλές γραμμές, τις τρέχεις όλες μαζί. Ό,τι θέλεις να δεις, το τυπώνεις με print().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6995160"/>
            <a:ext cx="7818120" cy="2011679"/>
          </a:xfrm>
          <a:prstGeom prst="roundRect">
            <a:avLst>
              <a:gd name="adj" fmla="val 6000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46920" y="7269480"/>
            <a:ext cx="7223759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1B2F6B"/>
                </a:solidFill>
                <a:latin typeface="Georgia"/>
              </a:rPr>
              <a:t>Κονσόλα</a:t>
            </a:r>
          </a:p>
          <a:p>
            <a:pPr algn="l"/>
            <a:r>
              <a:rPr sz="1500" b="0" i="1">
                <a:solidFill>
                  <a:srgbClr val="5A6385"/>
                </a:solidFill>
                <a:latin typeface="Arial"/>
              </a:rPr>
              <a:t>console / shell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46920" y="8321040"/>
            <a:ext cx="7178040" cy="457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26314F"/>
                </a:solidFill>
                <a:latin typeface="Arial"/>
              </a:rPr>
              <a:t>Δοκιμάζεις μία εντολή τη φορά και βλέπεις αμέσως την τιμή της. Ιδανική για πειράματα και για «τι τύπου είναι αυτό;».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Σχόλια (comments): σημειώσεις μέσα στον κώδικα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half"/>
          </p:nvPr>
        </p:nvSpPr>
        <p:spPr/>
        <p:txBody>
          <a:bodyPr/>
          <a:lstStyle/>
          <a:p>
            <a:pPr/>
            <a:r>
              <a:rPr sz="2400"/>
              <a:t>Ξεκινούν με </a:t>
            </a:r>
            <a:r>
              <a:rPr sz="2400">
                <a:solidFill>
                  <a:srgbClr val="1B2F6B"/>
                </a:solidFill>
                <a:latin typeface="Courier New"/>
              </a:rPr>
              <a:t>#</a:t>
            </a:r>
          </a:p>
          <a:p>
            <a:pPr lvl="1"/>
            <a:r>
              <a:rPr sz="2000"/>
              <a:t>Ό,τι ακολουθεί στη γραμμή δεν εκτελείται</a:t>
            </a:r>
          </a:p>
          <a:p>
            <a:pPr/>
            <a:r>
              <a:rPr sz="2400" b="1">
                <a:solidFill>
                  <a:srgbClr val="1B2F6B"/>
                </a:solidFill>
              </a:rPr>
              <a:t>Δεν επηρεάζουν το αποτέλεσμα</a:t>
            </a:r>
          </a:p>
          <a:p>
            <a:pPr lvl="1"/>
            <a:r>
              <a:rPr sz="2000"/>
              <a:t>Η Python τα προσπερνά εντελώς</a:t>
            </a:r>
          </a:p>
          <a:p>
            <a:pPr/>
            <a:r>
              <a:rPr sz="2400" b="1">
                <a:solidFill>
                  <a:srgbClr val="1B2F6B"/>
                </a:solidFill>
              </a:rPr>
              <a:t>Γιατί τα γράφουμε;</a:t>
            </a:r>
          </a:p>
          <a:p>
            <a:pPr lvl="1"/>
            <a:r>
              <a:rPr sz="2000"/>
              <a:t>Για να θυμάσαι εσύ (και να καταλαβαίνουν οι άλλοι) τι κάνει κάθε κομμάτι</a:t>
            </a:r>
          </a:p>
          <a:p>
            <a:pPr lvl="1"/>
            <a:r>
              <a:rPr sz="2000"/>
              <a:t>Για να «σβήσεις» προσωρινά μια γραμμή χωρίς να τη διαγράψεις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2743200"/>
            <a:ext cx="7452360" cy="2785110"/>
          </a:xfrm>
          <a:prstGeom prst="roundRect">
            <a:avLst>
              <a:gd name="adj" fmla="val 5000"/>
            </a:avLst>
          </a:prstGeom>
          <a:solidFill>
            <a:srgbClr val="14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2852928"/>
            <a:ext cx="6903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9C8FC"/>
                </a:solidFill>
                <a:latin typeface="Courier New"/>
              </a:rPr>
              <a:t>script.py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3200400"/>
            <a:ext cx="6903720" cy="22364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39">
                <a:solidFill>
                  <a:srgbClr val="9FB3E8"/>
                </a:solidFill>
                <a:latin typeface="Courier New"/>
              </a:rPr>
              <a:t># Διαίρεση</a:t>
            </a:r>
          </a:p>
          <a:p>
            <a:r>
              <a:rPr sz="2039">
                <a:solidFill>
                  <a:srgbClr val="F4F6FF"/>
                </a:solidFill>
                <a:latin typeface="Courier New"/>
              </a:rPr>
              <a:t>print(5 / 8)</a:t>
            </a:r>
          </a:p>
          <a:p>
            <a:r>
              <a:rPr sz="2039">
                <a:solidFill>
                  <a:srgbClr val="F4F6FF"/>
                </a:solidFill>
                <a:latin typeface="Courier New"/>
              </a:rPr>
              <a:t> </a:t>
            </a:r>
          </a:p>
          <a:p>
            <a:r>
              <a:rPr sz="2039">
                <a:solidFill>
                  <a:srgbClr val="9FB3E8"/>
                </a:solidFill>
                <a:latin typeface="Courier New"/>
              </a:rPr>
              <a:t># Πρόσθεση</a:t>
            </a:r>
          </a:p>
          <a:p>
            <a:r>
              <a:rPr sz="2039">
                <a:solidFill>
                  <a:srgbClr val="F4F6FF"/>
                </a:solidFill>
                <a:latin typeface="Courier New"/>
              </a:rPr>
              <a:t>print(7 + 10)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92640" y="5665470"/>
            <a:ext cx="7452360" cy="1488948"/>
          </a:xfrm>
          <a:prstGeom prst="roundRect">
            <a:avLst>
              <a:gd name="adj" fmla="val 5000"/>
            </a:avLst>
          </a:prstGeom>
          <a:solidFill>
            <a:srgbClr val="EEF1FE"/>
          </a:solidFill>
          <a:ln w="19050">
            <a:solidFill>
              <a:srgbClr val="B9C8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5756910"/>
            <a:ext cx="6903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5A6385"/>
                </a:solidFill>
                <a:latin typeface="Courier New"/>
              </a:rPr>
              <a:t>Έξοδος (output)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076950"/>
            <a:ext cx="6903720" cy="10317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39">
                <a:solidFill>
                  <a:srgbClr val="1B2F6B"/>
                </a:solidFill>
                <a:latin typeface="Courier New"/>
              </a:rPr>
              <a:t>0.625</a:t>
            </a:r>
          </a:p>
          <a:p>
            <a:r>
              <a:rPr sz="2039">
                <a:solidFill>
                  <a:srgbClr val="1B2F6B"/>
                </a:solidFill>
                <a:latin typeface="Courier New"/>
              </a:rPr>
              <a:t>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Η Python ως αριθμομηχανή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half"/>
          </p:nvPr>
        </p:nvSpPr>
        <p:spPr/>
        <p:txBody>
          <a:bodyPr/>
          <a:lstStyle/>
          <a:p>
            <a:pPr/>
            <a:r>
              <a:rPr sz="2400" b="1">
                <a:solidFill>
                  <a:srgbClr val="1B2F6B"/>
                </a:solidFill>
              </a:rPr>
              <a:t>Αριθμητικοί τελεστές (operators)</a:t>
            </a:r>
          </a:p>
          <a:p>
            <a:pPr lvl="1"/>
            <a:r>
              <a:rPr sz="1900">
                <a:solidFill>
                  <a:srgbClr val="1B2F6B"/>
                </a:solidFill>
                <a:latin typeface="Courier New"/>
              </a:rPr>
              <a:t>+  -  *  /</a:t>
            </a:r>
            <a:r>
              <a:rPr sz="1900"/>
              <a:t>   πρόσθεση, αφαίρεση, πολλαπλασιασμός, διαίρεση</a:t>
            </a:r>
          </a:p>
          <a:p>
            <a:pPr lvl="1"/>
            <a:r>
              <a:rPr sz="1900">
                <a:solidFill>
                  <a:srgbClr val="1B2F6B"/>
                </a:solidFill>
                <a:latin typeface="Courier New"/>
              </a:rPr>
              <a:t>**</a:t>
            </a:r>
            <a:r>
              <a:rPr sz="1900"/>
              <a:t>   δύναμη (exponentiation): 4 ** 2 = 16</a:t>
            </a:r>
          </a:p>
          <a:p>
            <a:pPr lvl="1"/>
            <a:r>
              <a:rPr sz="1900">
                <a:solidFill>
                  <a:srgbClr val="1B2F6B"/>
                </a:solidFill>
                <a:latin typeface="Courier New"/>
              </a:rPr>
              <a:t>%</a:t>
            </a:r>
            <a:r>
              <a:rPr sz="1900"/>
              <a:t>   υπόλοιπο διαίρεσης (modulo): 18 % 7 = 4</a:t>
            </a:r>
          </a:p>
          <a:p>
            <a:pPr lvl="1"/>
            <a:r>
              <a:rPr sz="1900">
                <a:solidFill>
                  <a:srgbClr val="1B2F6B"/>
                </a:solidFill>
                <a:latin typeface="Courier New"/>
              </a:rPr>
              <a:t>//</a:t>
            </a:r>
            <a:r>
              <a:rPr sz="1900"/>
              <a:t>   ακέραια διαίρεση: 18 // 7 = 2</a:t>
            </a:r>
          </a:p>
          <a:p>
            <a:pPr/>
            <a:r>
              <a:rPr sz="2400" b="1">
                <a:solidFill>
                  <a:srgbClr val="1B2F6B"/>
                </a:solidFill>
              </a:rPr>
              <a:t>Προσοχή</a:t>
            </a:r>
          </a:p>
          <a:p>
            <a:pPr lvl="1"/>
            <a:r>
              <a:rPr sz="1900"/>
              <a:t>Η διαίρεση / δίνει πάντα δεκαδικό: 10 / 2 = 5.0</a:t>
            </a:r>
          </a:p>
          <a:p>
            <a:pPr lvl="1"/>
            <a:r>
              <a:rPr sz="1900"/>
              <a:t>Η προτεραιότητα είναι η μαθηματική: 2 + 3 * 4 = 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2743200"/>
            <a:ext cx="7452360" cy="5029200"/>
          </a:xfrm>
          <a:prstGeom prst="roundRect">
            <a:avLst>
              <a:gd name="adj" fmla="val 5000"/>
            </a:avLst>
          </a:prstGeom>
          <a:solidFill>
            <a:srgbClr val="14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2852928"/>
            <a:ext cx="6903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9C8FC"/>
                </a:solidFill>
                <a:latin typeface="Courier New"/>
              </a:rPr>
              <a:t>script.py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3200400"/>
            <a:ext cx="690372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>
                <a:solidFill>
                  <a:srgbClr val="9FB3E8"/>
                </a:solidFill>
                <a:latin typeface="Courier New"/>
              </a:rPr>
              <a:t># Πρόσθεση, αφαίρεση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print(5 + 5)      </a:t>
            </a:r>
            <a:r>
              <a:rPr sz="1800">
                <a:solidFill>
                  <a:srgbClr val="9FB3E8"/>
                </a:solidFill>
                <a:latin typeface="Courier New"/>
              </a:rPr>
              <a:t># 10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print(5 - 5)      </a:t>
            </a:r>
            <a:r>
              <a:rPr sz="1800">
                <a:solidFill>
                  <a:srgbClr val="9FB3E8"/>
                </a:solidFill>
                <a:latin typeface="Courier New"/>
              </a:rPr>
              <a:t># 0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 </a:t>
            </a:r>
          </a:p>
          <a:p>
            <a:r>
              <a:rPr sz="1800">
                <a:solidFill>
                  <a:srgbClr val="9FB3E8"/>
                </a:solidFill>
                <a:latin typeface="Courier New"/>
              </a:rPr>
              <a:t># Πολλαπλασιασμός, διαίρεση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print(3 * 5)      </a:t>
            </a:r>
            <a:r>
              <a:rPr sz="1800">
                <a:solidFill>
                  <a:srgbClr val="9FB3E8"/>
                </a:solidFill>
                <a:latin typeface="Courier New"/>
              </a:rPr>
              <a:t># 15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print(10 / 2)     </a:t>
            </a:r>
            <a:r>
              <a:rPr sz="1800">
                <a:solidFill>
                  <a:srgbClr val="9FB3E8"/>
                </a:solidFill>
                <a:latin typeface="Courier New"/>
              </a:rPr>
              <a:t># 5.0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 </a:t>
            </a:r>
          </a:p>
          <a:p>
            <a:r>
              <a:rPr sz="1800">
                <a:solidFill>
                  <a:srgbClr val="9FB3E8"/>
                </a:solidFill>
                <a:latin typeface="Courier New"/>
              </a:rPr>
              <a:t># Δύναμη, υπόλοιπο, ακέραια διαίρεση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print(4 ** 2)     </a:t>
            </a:r>
            <a:r>
              <a:rPr sz="1800">
                <a:solidFill>
                  <a:srgbClr val="9FB3E8"/>
                </a:solidFill>
                <a:latin typeface="Courier New"/>
              </a:rPr>
              <a:t># 16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print(18 % 7)     </a:t>
            </a:r>
            <a:r>
              <a:rPr sz="1800">
                <a:solidFill>
                  <a:srgbClr val="9FB3E8"/>
                </a:solidFill>
                <a:latin typeface="Courier New"/>
              </a:rPr>
              <a:t># 4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print(18 // 7)    </a:t>
            </a:r>
            <a:r>
              <a:rPr sz="1800">
                <a:solidFill>
                  <a:srgbClr val="9FB3E8"/>
                </a:solidFill>
                <a:latin typeface="Courier New"/>
              </a:rPr>
              <a:t>#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001000" y="6903720"/>
            <a:ext cx="9528048" cy="1737360"/>
          </a:xfrm>
        </p:spPr>
        <p:txBody>
          <a:bodyPr/>
          <a:lstStyle/>
          <a:p>
            <a:r>
              <a:rPr sz="4400"/>
              <a:t>Μεταβλητές και τύποι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8001000" y="8915400"/>
            <a:ext cx="9217152" cy="914400"/>
          </a:xfrm>
        </p:spPr>
        <p:txBody>
          <a:bodyPr/>
          <a:lstStyle/>
          <a:p>
            <a:r>
              <a:t>Πώς «κρατάμε» τιμές και γιατί ο τύπος τους έχει σημασία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Μεταβλητές (variables): δίνουμε όνομα σε μια τιμή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half"/>
          </p:nvPr>
        </p:nvSpPr>
        <p:spPr/>
        <p:txBody>
          <a:bodyPr/>
          <a:lstStyle/>
          <a:p>
            <a:pPr/>
            <a:r>
              <a:rPr sz="2400" b="1">
                <a:solidFill>
                  <a:srgbClr val="1B2F6B"/>
                </a:solidFill>
              </a:rPr>
              <a:t>Γιατί;</a:t>
            </a:r>
          </a:p>
          <a:p>
            <a:pPr lvl="1"/>
            <a:r>
              <a:rPr sz="2000"/>
              <a:t>Για να «αποθηκεύσουμε» μια τιμή και να την ξαναχρησιμοποιήσουμε</a:t>
            </a:r>
          </a:p>
          <a:p>
            <a:pPr/>
            <a:r>
              <a:rPr sz="2400" b="1">
                <a:solidFill>
                  <a:srgbClr val="1B2F6B"/>
                </a:solidFill>
              </a:rPr>
              <a:t>Πώς;</a:t>
            </a:r>
          </a:p>
          <a:p>
            <a:pPr lvl="1"/>
            <a:r>
              <a:rPr sz="2000">
                <a:solidFill>
                  <a:srgbClr val="1B2F6B"/>
                </a:solidFill>
                <a:latin typeface="Courier New"/>
              </a:rPr>
              <a:t>όνομα = τιμή</a:t>
            </a:r>
            <a:r>
              <a:rPr sz="2000"/>
              <a:t>   (το = σημαίνει ανάθεση, όχι ισότητα)</a:t>
            </a:r>
          </a:p>
          <a:p>
            <a:pPr lvl="1"/>
            <a:r>
              <a:rPr sz="2000"/>
              <a:t>Το όνομα ξεχωρίζει πεζά/κεφαλαία (case-sensitive)</a:t>
            </a:r>
          </a:p>
          <a:p>
            <a:pPr/>
            <a:r>
              <a:rPr sz="2400" b="1">
                <a:solidFill>
                  <a:srgbClr val="1B2F6B"/>
                </a:solidFill>
              </a:rPr>
              <a:t>Μετά;</a:t>
            </a:r>
          </a:p>
          <a:p>
            <a:pPr lvl="1"/>
            <a:r>
              <a:rPr sz="2000"/>
              <a:t>Γράφοντας το όνομα, παίρνουμε πίσω την τιμή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2743200"/>
            <a:ext cx="5120640" cy="2785110"/>
          </a:xfrm>
          <a:prstGeom prst="roundRect">
            <a:avLst>
              <a:gd name="adj" fmla="val 5000"/>
            </a:avLst>
          </a:prstGeom>
          <a:solidFill>
            <a:srgbClr val="14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285292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9C8FC"/>
                </a:solidFill>
                <a:latin typeface="Courier New"/>
              </a:rPr>
              <a:t>script.py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3200400"/>
            <a:ext cx="4572000" cy="22364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39">
                <a:solidFill>
                  <a:srgbClr val="9FB3E8"/>
                </a:solidFill>
                <a:latin typeface="Courier New"/>
              </a:rPr>
              <a:t># Δημιουργία μεταβλητής</a:t>
            </a:r>
          </a:p>
          <a:p>
            <a:r>
              <a:rPr sz="2039">
                <a:solidFill>
                  <a:srgbClr val="F4F6FF"/>
                </a:solidFill>
                <a:latin typeface="Courier New"/>
              </a:rPr>
              <a:t>revenue = 1250</a:t>
            </a:r>
          </a:p>
          <a:p>
            <a:r>
              <a:rPr sz="2039">
                <a:solidFill>
                  <a:srgbClr val="F4F6FF"/>
                </a:solidFill>
                <a:latin typeface="Courier New"/>
              </a:rPr>
              <a:t> </a:t>
            </a:r>
          </a:p>
          <a:p>
            <a:r>
              <a:rPr sz="2039">
                <a:solidFill>
                  <a:srgbClr val="9FB3E8"/>
                </a:solidFill>
                <a:latin typeface="Courier New"/>
              </a:rPr>
              <a:t># Εμφάνιση της τιμής</a:t>
            </a:r>
          </a:p>
          <a:p>
            <a:r>
              <a:rPr sz="2039">
                <a:solidFill>
                  <a:srgbClr val="F4F6FF"/>
                </a:solidFill>
                <a:latin typeface="Courier New"/>
              </a:rPr>
              <a:t>print(revenue)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92640" y="5665470"/>
            <a:ext cx="5120640" cy="1087374"/>
          </a:xfrm>
          <a:prstGeom prst="roundRect">
            <a:avLst>
              <a:gd name="adj" fmla="val 5000"/>
            </a:avLst>
          </a:prstGeom>
          <a:solidFill>
            <a:srgbClr val="EEF1FE"/>
          </a:solidFill>
          <a:ln w="19050">
            <a:solidFill>
              <a:srgbClr val="B9C8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575691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5A6385"/>
                </a:solidFill>
                <a:latin typeface="Courier New"/>
              </a:rPr>
              <a:t>Έξοδος (output)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076950"/>
            <a:ext cx="4572000" cy="6301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39">
                <a:solidFill>
                  <a:srgbClr val="1B2F6B"/>
                </a:solidFill>
                <a:latin typeface="Courier New"/>
              </a:rPr>
              <a:t>1250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041880" y="3246120"/>
            <a:ext cx="2103120" cy="822960"/>
          </a:xfrm>
          <a:prstGeom prst="roundRect">
            <a:avLst>
              <a:gd name="adj" fmla="val 10000"/>
            </a:avLst>
          </a:prstGeom>
          <a:solidFill>
            <a:srgbClr val="FDE8D4"/>
          </a:solidFill>
          <a:ln w="19050">
            <a:solidFill>
              <a:srgbClr val="F58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400" b="1" i="0">
                <a:solidFill>
                  <a:srgbClr val="1B2F6B"/>
                </a:solidFill>
                <a:latin typeface="Arial"/>
              </a:rPr>
              <a:t>Δημιουργία</a:t>
            </a:r>
          </a:p>
          <a:p>
            <a:pPr algn="ctr"/>
            <a:r>
              <a:rPr sz="1200" b="1" i="0">
                <a:solidFill>
                  <a:srgbClr val="5A6385"/>
                </a:solidFill>
                <a:latin typeface="Arial"/>
              </a:rPr>
              <a:t>(declare)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041880" y="4480560"/>
            <a:ext cx="2103120" cy="822960"/>
          </a:xfrm>
          <a:prstGeom prst="roundRect">
            <a:avLst>
              <a:gd name="adj" fmla="val 10000"/>
            </a:avLst>
          </a:prstGeom>
          <a:solidFill>
            <a:srgbClr val="FDE8D4"/>
          </a:solidFill>
          <a:ln w="19050">
            <a:solidFill>
              <a:srgbClr val="F58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400" b="1" i="0">
                <a:solidFill>
                  <a:srgbClr val="1B2F6B"/>
                </a:solidFill>
                <a:latin typeface="Arial"/>
              </a:rPr>
              <a:t>Κλήση</a:t>
            </a:r>
          </a:p>
          <a:p>
            <a:pPr algn="ctr"/>
            <a:r>
              <a:rPr sz="1200" b="1" i="0">
                <a:solidFill>
                  <a:srgbClr val="5A6385"/>
                </a:solidFill>
                <a:latin typeface="Arial"/>
              </a:rPr>
              <a:t>(call up)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92640" y="7027164"/>
            <a:ext cx="7452360" cy="1463040"/>
          </a:xfrm>
          <a:prstGeom prst="roundRect">
            <a:avLst>
              <a:gd name="adj" fmla="val 6000"/>
            </a:avLst>
          </a:prstGeom>
          <a:solidFill>
            <a:srgbClr val="FD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7210044"/>
            <a:ext cx="6903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5821F"/>
                </a:solidFill>
                <a:latin typeface="Arial"/>
              </a:rPr>
              <a:t>ΚΑΛΑ ΟΝΟΜΑΤΑ</a:t>
            </a:r>
          </a:p>
          <a:p>
            <a:pPr algn="l">
              <a:spcBef>
                <a:spcPts val="400"/>
              </a:spcBef>
            </a:pPr>
            <a:r>
              <a:rPr sz="1600" b="0" i="0">
                <a:solidFill>
                  <a:srgbClr val="26314F"/>
                </a:solidFill>
                <a:latin typeface="Arial"/>
              </a:rPr>
              <a:t>unit_price αντί για x. Μικρά γράμματα, λέξεις χωρισμένες με κάτω παύλα, χωρίς κενά ή ελληνικά.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Υπολογισμοί με μεταβλητές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half"/>
          </p:nvPr>
        </p:nvSpPr>
        <p:spPr/>
        <p:txBody>
          <a:bodyPr/>
          <a:lstStyle/>
          <a:p>
            <a:pPr/>
            <a:r>
              <a:rPr sz="2400" b="1">
                <a:solidFill>
                  <a:srgbClr val="1B2F6B"/>
                </a:solidFill>
              </a:rPr>
              <a:t>Αντί για αριθμούς, χρησιμοποιούμε ονόματα</a:t>
            </a:r>
          </a:p>
          <a:p>
            <a:pPr lvl="1"/>
            <a:r>
              <a:rPr sz="1900"/>
              <a:t>Ο κώδικας διαβάζεται σαν πρόταση: «το σύνολο είναι η τιμή επί την ποσότητα»</a:t>
            </a:r>
          </a:p>
          <a:p>
            <a:pPr/>
            <a:r>
              <a:rPr sz="2400" b="1">
                <a:solidFill>
                  <a:srgbClr val="1B2F6B"/>
                </a:solidFill>
              </a:rPr>
              <a:t>Αλλαγή σε ένα σημείο</a:t>
            </a:r>
          </a:p>
          <a:p>
            <a:pPr lvl="1"/>
            <a:r>
              <a:rPr sz="1900"/>
              <a:t>Θέλεις 24 τεμάχια; Αλλάζεις μόνο το quantity και ξανατρέχεις</a:t>
            </a:r>
          </a:p>
          <a:p>
            <a:pPr/>
            <a:r>
              <a:rPr sz="2400" b="1">
                <a:solidFill>
                  <a:srgbClr val="1B2F6B"/>
                </a:solidFill>
              </a:rPr>
              <a:t>Μια μεταβλητή μπορεί να ξαναοριστεί</a:t>
            </a:r>
          </a:p>
          <a:p>
            <a:pPr lvl="1"/>
            <a:r>
              <a:rPr sz="1900">
                <a:solidFill>
                  <a:srgbClr val="1B2F6B"/>
                </a:solidFill>
                <a:latin typeface="Courier New"/>
              </a:rPr>
              <a:t>stock = stock - 1</a:t>
            </a:r>
            <a:r>
              <a:rPr sz="1900"/>
              <a:t>  αφαιρεί 1 από την τρέχουσα τιμή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2743200"/>
            <a:ext cx="7452360" cy="4178807"/>
          </a:xfrm>
          <a:prstGeom prst="roundRect">
            <a:avLst>
              <a:gd name="adj" fmla="val 5000"/>
            </a:avLst>
          </a:prstGeom>
          <a:solidFill>
            <a:srgbClr val="14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2852928"/>
            <a:ext cx="6903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9C8FC"/>
                </a:solidFill>
                <a:latin typeface="Courier New"/>
              </a:rPr>
              <a:t>script.py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3200400"/>
            <a:ext cx="6903720" cy="36301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20">
                <a:solidFill>
                  <a:srgbClr val="9FB3E8"/>
                </a:solidFill>
                <a:latin typeface="Courier New"/>
              </a:rPr>
              <a:t># Δημιουργία μεταβλητών</a:t>
            </a:r>
          </a:p>
          <a:p>
            <a:r>
              <a:rPr sz="1920">
                <a:solidFill>
                  <a:srgbClr val="F4F6FF"/>
                </a:solidFill>
                <a:latin typeface="Courier New"/>
              </a:rPr>
              <a:t>unit_price = 25.5</a:t>
            </a:r>
          </a:p>
          <a:p>
            <a:r>
              <a:rPr sz="1920">
                <a:solidFill>
                  <a:srgbClr val="F4F6FF"/>
                </a:solidFill>
                <a:latin typeface="Courier New"/>
              </a:rPr>
              <a:t>quantity = 12</a:t>
            </a:r>
          </a:p>
          <a:p>
            <a:r>
              <a:rPr sz="1920">
                <a:solidFill>
                  <a:srgbClr val="F4F6FF"/>
                </a:solidFill>
                <a:latin typeface="Courier New"/>
              </a:rPr>
              <a:t> </a:t>
            </a:r>
          </a:p>
          <a:p>
            <a:r>
              <a:rPr sz="1920">
                <a:solidFill>
                  <a:srgbClr val="9FB3E8"/>
                </a:solidFill>
                <a:latin typeface="Courier New"/>
              </a:rPr>
              <a:t># Πολλαπλασιασμός</a:t>
            </a:r>
          </a:p>
          <a:p>
            <a:r>
              <a:rPr sz="1920">
                <a:solidFill>
                  <a:srgbClr val="F4F6FF"/>
                </a:solidFill>
                <a:latin typeface="Courier New"/>
              </a:rPr>
              <a:t>total = unit_price * quantity</a:t>
            </a:r>
          </a:p>
          <a:p>
            <a:r>
              <a:rPr sz="1920">
                <a:solidFill>
                  <a:srgbClr val="F4F6FF"/>
                </a:solidFill>
                <a:latin typeface="Courier New"/>
              </a:rPr>
              <a:t> </a:t>
            </a:r>
          </a:p>
          <a:p>
            <a:r>
              <a:rPr sz="1920">
                <a:solidFill>
                  <a:srgbClr val="9FB3E8"/>
                </a:solidFill>
                <a:latin typeface="Courier New"/>
              </a:rPr>
              <a:t># Εμφάνιση</a:t>
            </a:r>
          </a:p>
          <a:p>
            <a:r>
              <a:rPr sz="1920">
                <a:solidFill>
                  <a:srgbClr val="F4F6FF"/>
                </a:solidFill>
                <a:latin typeface="Courier New"/>
              </a:rPr>
              <a:t>print(total)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92640" y="7059168"/>
            <a:ext cx="7452360" cy="1063752"/>
          </a:xfrm>
          <a:prstGeom prst="roundRect">
            <a:avLst>
              <a:gd name="adj" fmla="val 5000"/>
            </a:avLst>
          </a:prstGeom>
          <a:solidFill>
            <a:srgbClr val="EEF1FE"/>
          </a:solidFill>
          <a:ln w="19050">
            <a:solidFill>
              <a:srgbClr val="B9C8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7150607"/>
            <a:ext cx="6903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5A6385"/>
                </a:solidFill>
                <a:latin typeface="Courier New"/>
              </a:rPr>
              <a:t>Έξοδος (output)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7470648"/>
            <a:ext cx="6903720" cy="606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20">
                <a:solidFill>
                  <a:srgbClr val="1B2F6B"/>
                </a:solidFill>
                <a:latin typeface="Courier New"/>
              </a:rPr>
              <a:t>306.0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Οι τέσσερις βασικοί τύποι δεδομένων (data types)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43000" y="2743200"/>
            <a:ext cx="7818120" cy="2948939"/>
          </a:xfrm>
          <a:prstGeom prst="roundRect">
            <a:avLst>
              <a:gd name="adj" fmla="val 6000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4" name="Oval 3"/>
          <p:cNvSpPr/>
          <p:nvPr/>
        </p:nvSpPr>
        <p:spPr>
          <a:xfrm>
            <a:off x="1463040" y="3063240"/>
            <a:ext cx="731520" cy="731520"/>
          </a:xfrm>
          <a:prstGeom prst="ellipse">
            <a:avLst/>
          </a:prstGeom>
          <a:solidFill>
            <a:srgbClr val="1B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54864" bIns="54864"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23160" y="3017520"/>
            <a:ext cx="62636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B2F6B"/>
                </a:solidFill>
                <a:latin typeface="Georgia"/>
              </a:rPr>
              <a:t>Ακέραιος</a:t>
            </a:r>
          </a:p>
          <a:p>
            <a:pPr algn="l"/>
            <a:r>
              <a:rPr sz="1500" b="0" i="1">
                <a:solidFill>
                  <a:srgbClr val="5A6385"/>
                </a:solidFill>
                <a:latin typeface="Arial"/>
              </a:rPr>
              <a:t>int (integer)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069080"/>
            <a:ext cx="7178040" cy="13944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6314F"/>
                </a:solidFill>
                <a:latin typeface="Arial"/>
              </a:rPr>
              <a:t>Αριθμός χωρίς δεκαδικό μέρος.</a:t>
            </a:r>
          </a:p>
          <a:p>
            <a:pPr algn="l">
              <a:spcBef>
                <a:spcPts val="800"/>
              </a:spcBef>
            </a:pPr>
            <a:r>
              <a:rPr sz="1700" b="1" i="0">
                <a:solidFill>
                  <a:srgbClr val="1B2F6B"/>
                </a:solidFill>
                <a:latin typeface="Courier New"/>
              </a:rPr>
              <a:t>stock = 42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0" y="2743200"/>
            <a:ext cx="7818120" cy="2948939"/>
          </a:xfrm>
          <a:prstGeom prst="roundRect">
            <a:avLst>
              <a:gd name="adj" fmla="val 6000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8" name="Oval 7"/>
          <p:cNvSpPr/>
          <p:nvPr/>
        </p:nvSpPr>
        <p:spPr>
          <a:xfrm>
            <a:off x="9646920" y="3063240"/>
            <a:ext cx="731520" cy="731520"/>
          </a:xfrm>
          <a:prstGeom prst="ellipse">
            <a:avLst/>
          </a:prstGeom>
          <a:solidFill>
            <a:srgbClr val="1B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54864" bIns="54864"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3017520"/>
            <a:ext cx="6263639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B2F6B"/>
                </a:solidFill>
                <a:latin typeface="Georgia"/>
              </a:rPr>
              <a:t>Δεκαδικός</a:t>
            </a:r>
          </a:p>
          <a:p>
            <a:pPr algn="l"/>
            <a:r>
              <a:rPr sz="1500" b="0" i="1">
                <a:solidFill>
                  <a:srgbClr val="5A6385"/>
                </a:solidFill>
                <a:latin typeface="Arial"/>
              </a:rPr>
              <a:t>float (floating point)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4069080"/>
            <a:ext cx="7178040" cy="13944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6314F"/>
                </a:solidFill>
                <a:latin typeface="Arial"/>
              </a:rPr>
              <a:t>Πραγματικός αριθμός, με ακέραιο και δεκαδικό μέρος. Η υποδιαστολή είναι τελεία.</a:t>
            </a:r>
          </a:p>
          <a:p>
            <a:pPr algn="l">
              <a:spcBef>
                <a:spcPts val="800"/>
              </a:spcBef>
            </a:pPr>
            <a:r>
              <a:rPr sz="1700" b="1" i="0">
                <a:solidFill>
                  <a:srgbClr val="1B2F6B"/>
                </a:solidFill>
                <a:latin typeface="Courier New"/>
              </a:rPr>
              <a:t>price = 25.5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6057900"/>
            <a:ext cx="7818120" cy="2948939"/>
          </a:xfrm>
          <a:prstGeom prst="roundRect">
            <a:avLst>
              <a:gd name="adj" fmla="val 6000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463040" y="6377940"/>
            <a:ext cx="731520" cy="731520"/>
          </a:xfrm>
          <a:prstGeom prst="ellipse">
            <a:avLst/>
          </a:prstGeom>
          <a:solidFill>
            <a:srgbClr val="1B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54864" bIns="54864"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6332220"/>
            <a:ext cx="62636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B2F6B"/>
                </a:solidFill>
                <a:latin typeface="Georgia"/>
              </a:rPr>
              <a:t>Συμβολοσειρά</a:t>
            </a:r>
          </a:p>
          <a:p>
            <a:pPr algn="l"/>
            <a:r>
              <a:rPr sz="1500" b="0" i="1">
                <a:solidFill>
                  <a:srgbClr val="5A6385"/>
                </a:solidFill>
                <a:latin typeface="Arial"/>
              </a:rPr>
              <a:t>str (string)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7383779"/>
            <a:ext cx="7178040" cy="13944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6314F"/>
                </a:solidFill>
                <a:latin typeface="Arial"/>
              </a:rPr>
              <a:t>Κείμενο, μέσα σε μονά ή διπλά εισαγωγικά.</a:t>
            </a:r>
          </a:p>
          <a:p>
            <a:pPr algn="l">
              <a:spcBef>
                <a:spcPts val="800"/>
              </a:spcBef>
            </a:pPr>
            <a:r>
              <a:rPr sz="1700" b="1" i="0">
                <a:solidFill>
                  <a:srgbClr val="1B2F6B"/>
                </a:solidFill>
                <a:latin typeface="Courier New"/>
              </a:rPr>
              <a:t>product = "Laptop"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6057900"/>
            <a:ext cx="7818120" cy="2948939"/>
          </a:xfrm>
          <a:prstGeom prst="roundRect">
            <a:avLst>
              <a:gd name="adj" fmla="val 6000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16" name="Oval 15"/>
          <p:cNvSpPr/>
          <p:nvPr/>
        </p:nvSpPr>
        <p:spPr>
          <a:xfrm>
            <a:off x="9646920" y="6377940"/>
            <a:ext cx="731520" cy="731520"/>
          </a:xfrm>
          <a:prstGeom prst="ellipse">
            <a:avLst/>
          </a:prstGeom>
          <a:solidFill>
            <a:srgbClr val="1B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54864" bIns="54864"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332220"/>
            <a:ext cx="6263639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B2F6B"/>
                </a:solidFill>
                <a:latin typeface="Georgia"/>
              </a:rPr>
              <a:t>Λογική τιμή</a:t>
            </a:r>
          </a:p>
          <a:p>
            <a:pPr algn="l"/>
            <a:r>
              <a:rPr sz="1500" b="0" i="1">
                <a:solidFill>
                  <a:srgbClr val="5A6385"/>
                </a:solidFill>
                <a:latin typeface="Arial"/>
              </a:rPr>
              <a:t>bool (boolean)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46920" y="7383779"/>
            <a:ext cx="7178040" cy="13944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6314F"/>
                </a:solidFill>
                <a:latin typeface="Arial"/>
              </a:rPr>
              <a:t>Μόνο δύο τιμές: True ή False. Με κεφαλαίο πρώτο γράμμα.</a:t>
            </a:r>
          </a:p>
          <a:p>
            <a:pPr algn="l">
              <a:spcBef>
                <a:spcPts val="800"/>
              </a:spcBef>
            </a:pPr>
            <a:r>
              <a:rPr sz="1700" b="1" i="0">
                <a:solidFill>
                  <a:srgbClr val="1B2F6B"/>
                </a:solidFill>
                <a:latin typeface="Courier New"/>
              </a:rPr>
              <a:t>in_stock = True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Ποιος είναι ο τύπος; Η συνάρτηση type()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half"/>
          </p:nvPr>
        </p:nvSpPr>
        <p:spPr/>
        <p:txBody>
          <a:bodyPr/>
          <a:lstStyle/>
          <a:p>
            <a:pPr/>
            <a:r>
              <a:rPr sz="2400">
                <a:solidFill>
                  <a:srgbClr val="1B2F6B"/>
                </a:solidFill>
                <a:latin typeface="Courier New"/>
              </a:rPr>
              <a:t>type(τιμή)</a:t>
            </a:r>
            <a:r>
              <a:rPr sz="2400"/>
              <a:t> λέει τι τύπου είναι</a:t>
            </a:r>
          </a:p>
          <a:p>
            <a:pPr lvl="1"/>
            <a:r>
              <a:rPr sz="1900"/>
              <a:t>Δουλεύει και με μεταβλητές: type(revenue)</a:t>
            </a:r>
          </a:p>
          <a:p>
            <a:pPr/>
            <a:r>
              <a:rPr sz="2400" b="1">
                <a:solidFill>
                  <a:srgbClr val="1B2F6B"/>
                </a:solidFill>
              </a:rPr>
              <a:t>Τι είναι μια συνάρτηση (function);</a:t>
            </a:r>
          </a:p>
          <a:p>
            <a:pPr lvl="1"/>
            <a:r>
              <a:rPr sz="1900"/>
              <a:t>Ένα έτοιμο κομμάτι κώδικα με όνομα, που το «καλούμε» με παρενθέσεις</a:t>
            </a:r>
          </a:p>
          <a:p>
            <a:pPr lvl="1"/>
            <a:r>
              <a:rPr sz="1900"/>
              <a:t>Δίνουμε κάτι μέσα στις παρενθέσεις (όρισμα) και παίρνουμε πίσω ένα αποτέλεσμα</a:t>
            </a:r>
          </a:p>
          <a:p>
            <a:pPr lvl="1"/>
            <a:r>
              <a:rPr sz="1900"/>
              <a:t>Θα τις δούμε αναλυτικά στην ενότητα IV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2743200"/>
            <a:ext cx="7452360" cy="4178807"/>
          </a:xfrm>
          <a:prstGeom prst="roundRect">
            <a:avLst>
              <a:gd name="adj" fmla="val 5000"/>
            </a:avLst>
          </a:prstGeom>
          <a:solidFill>
            <a:srgbClr val="14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2852928"/>
            <a:ext cx="6903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9C8FC"/>
                </a:solidFill>
                <a:latin typeface="Courier New"/>
              </a:rPr>
              <a:t>script.py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3200400"/>
            <a:ext cx="6903720" cy="36301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20">
                <a:solidFill>
                  <a:srgbClr val="F4F6FF"/>
                </a:solidFill>
                <a:latin typeface="Courier New"/>
              </a:rPr>
              <a:t>stock = 42</a:t>
            </a:r>
          </a:p>
          <a:p>
            <a:r>
              <a:rPr sz="1920">
                <a:solidFill>
                  <a:srgbClr val="F4F6FF"/>
                </a:solidFill>
                <a:latin typeface="Courier New"/>
              </a:rPr>
              <a:t>price = 25.5</a:t>
            </a:r>
          </a:p>
          <a:p>
            <a:r>
              <a:rPr sz="1920">
                <a:solidFill>
                  <a:srgbClr val="F4F6FF"/>
                </a:solidFill>
                <a:latin typeface="Courier New"/>
              </a:rPr>
              <a:t>product = "Laptop"</a:t>
            </a:r>
          </a:p>
          <a:p>
            <a:r>
              <a:rPr sz="1920">
                <a:solidFill>
                  <a:srgbClr val="F4F6FF"/>
                </a:solidFill>
                <a:latin typeface="Courier New"/>
              </a:rPr>
              <a:t>in_stock = True</a:t>
            </a:r>
          </a:p>
          <a:p>
            <a:r>
              <a:rPr sz="1920">
                <a:solidFill>
                  <a:srgbClr val="F4F6FF"/>
                </a:solidFill>
                <a:latin typeface="Courier New"/>
              </a:rPr>
              <a:t> </a:t>
            </a:r>
          </a:p>
          <a:p>
            <a:r>
              <a:rPr sz="1920">
                <a:solidFill>
                  <a:srgbClr val="F4F6FF"/>
                </a:solidFill>
                <a:latin typeface="Courier New"/>
              </a:rPr>
              <a:t>print(type(stock))</a:t>
            </a:r>
          </a:p>
          <a:p>
            <a:r>
              <a:rPr sz="1920">
                <a:solidFill>
                  <a:srgbClr val="F4F6FF"/>
                </a:solidFill>
                <a:latin typeface="Courier New"/>
              </a:rPr>
              <a:t>print(type(price))</a:t>
            </a:r>
          </a:p>
          <a:p>
            <a:r>
              <a:rPr sz="1920">
                <a:solidFill>
                  <a:srgbClr val="F4F6FF"/>
                </a:solidFill>
                <a:latin typeface="Courier New"/>
              </a:rPr>
              <a:t>print(type(product))</a:t>
            </a:r>
          </a:p>
          <a:p>
            <a:r>
              <a:rPr sz="1920">
                <a:solidFill>
                  <a:srgbClr val="F4F6FF"/>
                </a:solidFill>
                <a:latin typeface="Courier New"/>
              </a:rPr>
              <a:t>print(type(in_stock))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92640" y="7059168"/>
            <a:ext cx="7452360" cy="2197608"/>
          </a:xfrm>
          <a:prstGeom prst="roundRect">
            <a:avLst>
              <a:gd name="adj" fmla="val 5000"/>
            </a:avLst>
          </a:prstGeom>
          <a:solidFill>
            <a:srgbClr val="EEF1FE"/>
          </a:solidFill>
          <a:ln w="19050">
            <a:solidFill>
              <a:srgbClr val="B9C8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7150607"/>
            <a:ext cx="6903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5A6385"/>
                </a:solidFill>
                <a:latin typeface="Courier New"/>
              </a:rPr>
              <a:t>Έξοδος (output)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7470648"/>
            <a:ext cx="6903720" cy="1740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20">
                <a:solidFill>
                  <a:srgbClr val="1B2F6B"/>
                </a:solidFill>
                <a:latin typeface="Courier New"/>
              </a:rPr>
              <a:t>&lt;class 'int'&gt;</a:t>
            </a:r>
          </a:p>
          <a:p>
            <a:r>
              <a:rPr sz="1920">
                <a:solidFill>
                  <a:srgbClr val="1B2F6B"/>
                </a:solidFill>
                <a:latin typeface="Courier New"/>
              </a:rPr>
              <a:t>&lt;class 'float'&gt;</a:t>
            </a:r>
          </a:p>
          <a:p>
            <a:r>
              <a:rPr sz="1920">
                <a:solidFill>
                  <a:srgbClr val="1B2F6B"/>
                </a:solidFill>
                <a:latin typeface="Courier New"/>
              </a:rPr>
              <a:t>&lt;class 'str'&gt;</a:t>
            </a:r>
          </a:p>
          <a:p>
            <a:r>
              <a:rPr sz="1920">
                <a:solidFill>
                  <a:srgbClr val="1B2F6B"/>
                </a:solidFill>
                <a:latin typeface="Courier New"/>
              </a:rPr>
              <a:t>&lt;class 'bool'&gt;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Ο ίδιος τελεστής, διαφορετική συμπεριφορά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half"/>
          </p:nvPr>
        </p:nvSpPr>
        <p:spPr/>
        <p:txBody>
          <a:bodyPr/>
          <a:lstStyle/>
          <a:p>
            <a:pPr/>
            <a:r>
              <a:rPr sz="2100" b="1">
                <a:solidFill>
                  <a:srgbClr val="1B2F6B"/>
                </a:solidFill>
              </a:rPr>
              <a:t>Το πώς συμπεριφέρεται ο κώδικας εξαρτάται από τους τύπους</a:t>
            </a:r>
          </a:p>
          <a:p>
            <a:pPr/>
            <a:r>
              <a:rPr sz="2100">
                <a:solidFill>
                  <a:srgbClr val="1B2F6B"/>
                </a:solidFill>
                <a:latin typeface="Courier New"/>
              </a:rPr>
              <a:t>+</a:t>
            </a:r>
            <a:r>
              <a:rPr sz="2100"/>
              <a:t> σε αριθμούς: πρόσθεση</a:t>
            </a:r>
          </a:p>
          <a:p>
            <a:pPr/>
            <a:r>
              <a:rPr sz="2100">
                <a:solidFill>
                  <a:srgbClr val="1B2F6B"/>
                </a:solidFill>
                <a:latin typeface="Courier New"/>
              </a:rPr>
              <a:t>+</a:t>
            </a:r>
            <a:r>
              <a:rPr sz="2100"/>
              <a:t> σε strings: ένωση κειμένων (concatenation)</a:t>
            </a:r>
          </a:p>
          <a:p>
            <a:pPr/>
            <a:r>
              <a:rPr sz="2100">
                <a:solidFill>
                  <a:srgbClr val="1B2F6B"/>
                </a:solidFill>
                <a:latin typeface="Courier New"/>
              </a:rPr>
              <a:t>+</a:t>
            </a:r>
            <a:r>
              <a:rPr sz="2100"/>
              <a:t> σε booleans: True μετρά ως 1, False ως 0</a:t>
            </a:r>
          </a:p>
          <a:p>
            <a:pPr/>
            <a:r>
              <a:rPr sz="2100">
                <a:solidFill>
                  <a:srgbClr val="1B2F6B"/>
                </a:solidFill>
                <a:latin typeface="Courier New"/>
              </a:rPr>
              <a:t>*</a:t>
            </a:r>
            <a:r>
              <a:rPr sz="2100"/>
              <a:t> σε string και αριθμό: επανάληψη</a:t>
            </a:r>
          </a:p>
          <a:p>
            <a:pPr/>
            <a:r>
              <a:rPr sz="2100" b="1">
                <a:solidFill>
                  <a:srgbClr val="1B2F6B"/>
                </a:solidFill>
              </a:rPr>
              <a:t>Αριθμός + string = σφάλμα</a:t>
            </a:r>
          </a:p>
          <a:p>
            <a:pPr lvl="1"/>
            <a:r>
              <a:rPr sz="1800"/>
              <a:t>TypeError: η Python δεν ξέρει αν θέλεις πρόσθεση ή ένωση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2743200"/>
            <a:ext cx="7452360" cy="2666999"/>
          </a:xfrm>
          <a:prstGeom prst="roundRect">
            <a:avLst>
              <a:gd name="adj" fmla="val 5000"/>
            </a:avLst>
          </a:prstGeom>
          <a:solidFill>
            <a:srgbClr val="14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2852928"/>
            <a:ext cx="6903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9C8FC"/>
                </a:solidFill>
                <a:latin typeface="Courier New"/>
              </a:rPr>
              <a:t>script.py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3200400"/>
            <a:ext cx="6903720" cy="21183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20">
                <a:solidFill>
                  <a:srgbClr val="F4F6FF"/>
                </a:solidFill>
                <a:latin typeface="Courier New"/>
              </a:rPr>
              <a:t>print(2 + 3)</a:t>
            </a:r>
          </a:p>
          <a:p>
            <a:r>
              <a:rPr sz="1920">
                <a:solidFill>
                  <a:srgbClr val="F4F6FF"/>
                </a:solidFill>
                <a:latin typeface="Courier New"/>
              </a:rPr>
              <a:t>print("ab" + "cd")</a:t>
            </a:r>
          </a:p>
          <a:p>
            <a:r>
              <a:rPr sz="1920">
                <a:solidFill>
                  <a:srgbClr val="F4F6FF"/>
                </a:solidFill>
                <a:latin typeface="Courier New"/>
              </a:rPr>
              <a:t>print(True + False)</a:t>
            </a:r>
          </a:p>
          <a:p>
            <a:r>
              <a:rPr sz="1920">
                <a:solidFill>
                  <a:srgbClr val="F4F6FF"/>
                </a:solidFill>
                <a:latin typeface="Courier New"/>
              </a:rPr>
              <a:t>print("I said " * 2)</a:t>
            </a:r>
          </a:p>
          <a:p>
            <a:r>
              <a:rPr sz="1920">
                <a:solidFill>
                  <a:srgbClr val="F4F6FF"/>
                </a:solidFill>
                <a:latin typeface="Courier New"/>
              </a:rPr>
              <a:t>print("total: " + 3)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92640" y="5547360"/>
            <a:ext cx="7452360" cy="2953512"/>
          </a:xfrm>
          <a:prstGeom prst="roundRect">
            <a:avLst>
              <a:gd name="adj" fmla="val 5000"/>
            </a:avLst>
          </a:prstGeom>
          <a:solidFill>
            <a:srgbClr val="EEF1FE"/>
          </a:solidFill>
          <a:ln w="19050">
            <a:solidFill>
              <a:srgbClr val="B9C8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5638799"/>
            <a:ext cx="6903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5A6385"/>
                </a:solidFill>
                <a:latin typeface="Courier New"/>
              </a:rPr>
              <a:t>Έξοδος (output)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5958840"/>
            <a:ext cx="6903720" cy="2496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20">
                <a:solidFill>
                  <a:srgbClr val="1B2F6B"/>
                </a:solidFill>
                <a:latin typeface="Courier New"/>
              </a:rPr>
              <a:t>5</a:t>
            </a:r>
          </a:p>
          <a:p>
            <a:r>
              <a:rPr sz="1920">
                <a:solidFill>
                  <a:srgbClr val="1B2F6B"/>
                </a:solidFill>
                <a:latin typeface="Courier New"/>
              </a:rPr>
              <a:t>abcd</a:t>
            </a:r>
          </a:p>
          <a:p>
            <a:r>
              <a:rPr sz="1920">
                <a:solidFill>
                  <a:srgbClr val="1B2F6B"/>
                </a:solidFill>
                <a:latin typeface="Courier New"/>
              </a:rPr>
              <a:t>1</a:t>
            </a:r>
          </a:p>
          <a:p>
            <a:r>
              <a:rPr sz="1920">
                <a:solidFill>
                  <a:srgbClr val="1B2F6B"/>
                </a:solidFill>
                <a:latin typeface="Courier New"/>
              </a:rPr>
              <a:t>I said I said </a:t>
            </a:r>
          </a:p>
          <a:p>
            <a:r>
              <a:rPr sz="1920">
                <a:solidFill>
                  <a:srgbClr val="1B2F6B"/>
                </a:solidFill>
                <a:latin typeface="Courier New"/>
              </a:rPr>
              <a:t>TypeError: can only concatenate</a:t>
            </a:r>
          </a:p>
          <a:p>
            <a:r>
              <a:rPr sz="1920">
                <a:solidFill>
                  <a:srgbClr val="1B2F6B"/>
                </a:solidFill>
                <a:latin typeface="Courier New"/>
              </a:rPr>
              <a:t>str (not "int") to str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Μετατροπή τύπων (type conversion)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half"/>
          </p:nvPr>
        </p:nvSpPr>
        <p:spPr/>
        <p:txBody>
          <a:bodyPr/>
          <a:lstStyle/>
          <a:p>
            <a:pPr/>
            <a:r>
              <a:rPr sz="2200" b="1">
                <a:solidFill>
                  <a:srgbClr val="1B2F6B"/>
                </a:solidFill>
              </a:rPr>
              <a:t>Συναρτήσεις μετατροπής</a:t>
            </a:r>
          </a:p>
          <a:p>
            <a:pPr lvl="1"/>
            <a:r>
              <a:rPr sz="1800">
                <a:solidFill>
                  <a:srgbClr val="1B2F6B"/>
                </a:solidFill>
                <a:latin typeface="Courier New"/>
              </a:rPr>
              <a:t>str(100)</a:t>
            </a:r>
            <a:r>
              <a:rPr sz="1800"/>
              <a:t>  →  "100"</a:t>
            </a:r>
          </a:p>
          <a:p>
            <a:pPr lvl="1"/>
            <a:r>
              <a:rPr sz="1800">
                <a:solidFill>
                  <a:srgbClr val="1B2F6B"/>
                </a:solidFill>
                <a:latin typeface="Courier New"/>
              </a:rPr>
              <a:t>int("42")</a:t>
            </a:r>
            <a:r>
              <a:rPr sz="1800"/>
              <a:t>  →  42</a:t>
            </a:r>
          </a:p>
          <a:p>
            <a:pPr lvl="1"/>
            <a:r>
              <a:rPr sz="1800">
                <a:solidFill>
                  <a:srgbClr val="1B2F6B"/>
                </a:solidFill>
                <a:latin typeface="Courier New"/>
              </a:rPr>
              <a:t>float("1.5")</a:t>
            </a:r>
            <a:r>
              <a:rPr sz="1800"/>
              <a:t>  →  1.5</a:t>
            </a:r>
          </a:p>
          <a:p>
            <a:pPr lvl="1"/>
            <a:r>
              <a:rPr sz="1800">
                <a:solidFill>
                  <a:srgbClr val="1B2F6B"/>
                </a:solidFill>
                <a:latin typeface="Courier New"/>
              </a:rPr>
              <a:t>int(3.9)</a:t>
            </a:r>
            <a:r>
              <a:rPr sz="1800"/>
              <a:t>  →  3  (κόβει, δεν στρογγυλοποιεί)</a:t>
            </a:r>
          </a:p>
          <a:p>
            <a:pPr lvl="1"/>
            <a:r>
              <a:rPr sz="1800">
                <a:solidFill>
                  <a:srgbClr val="1B2F6B"/>
                </a:solidFill>
                <a:latin typeface="Courier New"/>
              </a:rPr>
              <a:t>bool(0)</a:t>
            </a:r>
            <a:r>
              <a:rPr sz="1800"/>
              <a:t>  →  False,   </a:t>
            </a:r>
            <a:r>
              <a:rPr sz="1800">
                <a:solidFill>
                  <a:srgbClr val="1B2F6B"/>
                </a:solidFill>
                <a:latin typeface="Courier New"/>
              </a:rPr>
              <a:t>bool("hi")</a:t>
            </a:r>
            <a:r>
              <a:rPr sz="1800"/>
              <a:t>  →  True</a:t>
            </a:r>
          </a:p>
          <a:p>
            <a:pPr/>
            <a:r>
              <a:rPr sz="2200" b="1">
                <a:solidFill>
                  <a:srgbClr val="1B2F6B"/>
                </a:solidFill>
              </a:rPr>
              <a:t>Τυπική χρήση</a:t>
            </a:r>
          </a:p>
          <a:p>
            <a:pPr lvl="1"/>
            <a:r>
              <a:rPr sz="1800"/>
              <a:t>Τα δεδομένα από αρχεία και φόρμες έρχονται συχνά ως κείμενο. Πριν κάνεις πράξεις, τα μετατρέπεις σε αριθμούς.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2743200"/>
            <a:ext cx="7452360" cy="5029200"/>
          </a:xfrm>
          <a:prstGeom prst="roundRect">
            <a:avLst>
              <a:gd name="adj" fmla="val 5000"/>
            </a:avLst>
          </a:prstGeom>
          <a:solidFill>
            <a:srgbClr val="14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2852928"/>
            <a:ext cx="6903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9C8FC"/>
                </a:solidFill>
                <a:latin typeface="Courier New"/>
              </a:rPr>
              <a:t>script.py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3200400"/>
            <a:ext cx="690372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>
                <a:solidFill>
                  <a:srgbClr val="F4F6FF"/>
                </a:solidFill>
                <a:latin typeface="Courier New"/>
              </a:rPr>
              <a:t>revenue = 1250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growth = 1.08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result = revenue * growth ** 5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 </a:t>
            </a:r>
          </a:p>
          <a:p>
            <a:r>
              <a:rPr sz="1800">
                <a:solidFill>
                  <a:srgbClr val="9FB3E8"/>
                </a:solidFill>
                <a:latin typeface="Courier New"/>
              </a:rPr>
              <a:t># Ένωση κειμένου και αριθμού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print("Revenue now: " + str(revenue))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print("In 5 years: " + str(round(result)))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 </a:t>
            </a:r>
          </a:p>
          <a:p>
            <a:r>
              <a:rPr sz="1800">
                <a:solidFill>
                  <a:srgbClr val="9FB3E8"/>
                </a:solidFill>
                <a:latin typeface="Courier New"/>
              </a:rPr>
              <a:t># Κείμενο σε αριθμό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stock_string = "42"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stock = int(stock_string)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print(stock - 1)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92640" y="7909560"/>
            <a:ext cx="7452360" cy="1748790"/>
          </a:xfrm>
          <a:prstGeom prst="roundRect">
            <a:avLst>
              <a:gd name="adj" fmla="val 5000"/>
            </a:avLst>
          </a:prstGeom>
          <a:solidFill>
            <a:srgbClr val="EEF1FE"/>
          </a:solidFill>
          <a:ln w="19050">
            <a:solidFill>
              <a:srgbClr val="B9C8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8001000"/>
            <a:ext cx="6903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5A6385"/>
                </a:solidFill>
                <a:latin typeface="Courier New"/>
              </a:rPr>
              <a:t>Έξοδος (output)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8321040"/>
            <a:ext cx="6903720" cy="12915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>
                <a:solidFill>
                  <a:srgbClr val="1B2F6B"/>
                </a:solidFill>
                <a:latin typeface="Courier New"/>
              </a:rPr>
              <a:t>Revenue now: 1250</a:t>
            </a:r>
          </a:p>
          <a:p>
            <a:r>
              <a:rPr sz="1800">
                <a:solidFill>
                  <a:srgbClr val="1B2F6B"/>
                </a:solidFill>
                <a:latin typeface="Courier New"/>
              </a:rPr>
              <a:t>In 5 years: 1837</a:t>
            </a:r>
          </a:p>
          <a:p>
            <a:r>
              <a:rPr sz="1800">
                <a:solidFill>
                  <a:srgbClr val="1B2F6B"/>
                </a:solidFill>
                <a:latin typeface="Courier New"/>
              </a:rPr>
              <a:t>41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Κείμενο με τιμές μέσα: f-strings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half"/>
          </p:nvPr>
        </p:nvSpPr>
        <p:spPr/>
        <p:txBody>
          <a:bodyPr/>
          <a:lstStyle/>
          <a:p>
            <a:pPr/>
            <a:r>
              <a:rPr sz="2200">
                <a:solidFill>
                  <a:srgbClr val="1B2F6B"/>
                </a:solidFill>
                <a:latin typeface="Courier New"/>
              </a:rPr>
              <a:t>f"...{μεταβλητή}..."</a:t>
            </a:r>
          </a:p>
          <a:p>
            <a:pPr lvl="1"/>
            <a:r>
              <a:rPr sz="1800"/>
              <a:t>Ένα f πριν τα εισαγωγικά, και οι τιμές μέσα σε άγκιστρα</a:t>
            </a:r>
          </a:p>
          <a:p>
            <a:pPr lvl="1"/>
            <a:r>
              <a:rPr sz="1800"/>
              <a:t>Η μετατροπή σε κείμενο γίνεται αυτόματα: όχι str()</a:t>
            </a:r>
          </a:p>
          <a:p>
            <a:pPr/>
            <a:r>
              <a:rPr sz="2200" b="1">
                <a:solidFill>
                  <a:srgbClr val="1B2F6B"/>
                </a:solidFill>
              </a:rPr>
              <a:t>Μορφοποίηση μέσα στα άγκιστρα</a:t>
            </a:r>
          </a:p>
          <a:p>
            <a:pPr lvl="1"/>
            <a:r>
              <a:rPr sz="1800">
                <a:solidFill>
                  <a:srgbClr val="1B2F6B"/>
                </a:solidFill>
                <a:latin typeface="Courier New"/>
              </a:rPr>
              <a:t>{result:.2f}</a:t>
            </a:r>
            <a:r>
              <a:rPr sz="1800"/>
              <a:t>  δύο δεκαδικά</a:t>
            </a:r>
          </a:p>
          <a:p>
            <a:pPr lvl="1"/>
            <a:r>
              <a:rPr sz="1800">
                <a:solidFill>
                  <a:srgbClr val="1B2F6B"/>
                </a:solidFill>
                <a:latin typeface="Courier New"/>
              </a:rPr>
              <a:t>{sales:,}</a:t>
            </a:r>
            <a:r>
              <a:rPr sz="1800"/>
              <a:t>  διαχωριστικό χιλιάδων</a:t>
            </a:r>
          </a:p>
          <a:p>
            <a:pPr lvl="1"/>
            <a:r>
              <a:rPr sz="1800">
                <a:solidFill>
                  <a:srgbClr val="1B2F6B"/>
                </a:solidFill>
                <a:latin typeface="Courier New"/>
              </a:rPr>
              <a:t>{share:.1%}</a:t>
            </a:r>
            <a:r>
              <a:rPr sz="1800"/>
              <a:t>  ποσοστό</a:t>
            </a:r>
          </a:p>
          <a:p>
            <a:pPr/>
            <a:r>
              <a:rPr sz="2200" b="1">
                <a:solidFill>
                  <a:srgbClr val="1B2F6B"/>
                </a:solidFill>
              </a:rPr>
              <a:t>Στην αναλυτική το χρησιμοποιείς συνέχεια</a:t>
            </a:r>
          </a:p>
          <a:p>
            <a:pPr lvl="1"/>
            <a:r>
              <a:rPr sz="1800"/>
              <a:t>Αναφορές, ετικέτες γραφημάτων, μηνύματα ελέγχου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2743200"/>
            <a:ext cx="7452360" cy="4745736"/>
          </a:xfrm>
          <a:prstGeom prst="roundRect">
            <a:avLst>
              <a:gd name="adj" fmla="val 5000"/>
            </a:avLst>
          </a:prstGeom>
          <a:solidFill>
            <a:srgbClr val="14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2852928"/>
            <a:ext cx="6903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9C8FC"/>
                </a:solidFill>
                <a:latin typeface="Courier New"/>
              </a:rPr>
              <a:t>script.py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3200400"/>
            <a:ext cx="6903720" cy="4197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80">
                <a:solidFill>
                  <a:srgbClr val="F4F6FF"/>
                </a:solidFill>
                <a:latin typeface="Courier New"/>
              </a:rPr>
              <a:t>revenue = 1250</a:t>
            </a:r>
          </a:p>
          <a:p>
            <a:r>
              <a:rPr sz="1680">
                <a:solidFill>
                  <a:srgbClr val="F4F6FF"/>
                </a:solidFill>
                <a:latin typeface="Courier New"/>
              </a:rPr>
              <a:t>result = revenue * 1.08 ** 5</a:t>
            </a:r>
          </a:p>
          <a:p>
            <a:r>
              <a:rPr sz="1680">
                <a:solidFill>
                  <a:srgbClr val="F4F6FF"/>
                </a:solidFill>
                <a:latin typeface="Courier New"/>
              </a:rPr>
              <a:t>sales = 1250000</a:t>
            </a:r>
          </a:p>
          <a:p>
            <a:r>
              <a:rPr sz="1680">
                <a:solidFill>
                  <a:srgbClr val="F4F6FF"/>
                </a:solidFill>
                <a:latin typeface="Courier New"/>
              </a:rPr>
              <a:t>share = 0.24</a:t>
            </a:r>
          </a:p>
          <a:p>
            <a:r>
              <a:rPr sz="1680">
                <a:solidFill>
                  <a:srgbClr val="F4F6FF"/>
                </a:solidFill>
                <a:latin typeface="Courier New"/>
              </a:rPr>
              <a:t> </a:t>
            </a:r>
          </a:p>
          <a:p>
            <a:r>
              <a:rPr sz="1680">
                <a:solidFill>
                  <a:srgbClr val="9FB3E8"/>
                </a:solidFill>
                <a:latin typeface="Courier New"/>
              </a:rPr>
              <a:t># Με + και str()</a:t>
            </a:r>
          </a:p>
          <a:p>
            <a:r>
              <a:rPr sz="1680">
                <a:solidFill>
                  <a:srgbClr val="F4F6FF"/>
                </a:solidFill>
                <a:latin typeface="Courier New"/>
              </a:rPr>
              <a:t>print("In 5 years: " + str(round(result, 2)))</a:t>
            </a:r>
          </a:p>
          <a:p>
            <a:r>
              <a:rPr sz="1680">
                <a:solidFill>
                  <a:srgbClr val="F4F6FF"/>
                </a:solidFill>
                <a:latin typeface="Courier New"/>
              </a:rPr>
              <a:t> </a:t>
            </a:r>
          </a:p>
          <a:p>
            <a:r>
              <a:rPr sz="1680">
                <a:solidFill>
                  <a:srgbClr val="9FB3E8"/>
                </a:solidFill>
                <a:latin typeface="Courier New"/>
              </a:rPr>
              <a:t># Με f-string</a:t>
            </a:r>
          </a:p>
          <a:p>
            <a:r>
              <a:rPr sz="1680">
                <a:solidFill>
                  <a:srgbClr val="F4F6FF"/>
                </a:solidFill>
                <a:latin typeface="Courier New"/>
              </a:rPr>
              <a:t>print(f"In 5 years: {result:.2f}")</a:t>
            </a:r>
          </a:p>
          <a:p>
            <a:r>
              <a:rPr sz="1680">
                <a:solidFill>
                  <a:srgbClr val="F4F6FF"/>
                </a:solidFill>
                <a:latin typeface="Courier New"/>
              </a:rPr>
              <a:t>print(f"Sales: {sales:,} euros")</a:t>
            </a:r>
          </a:p>
          <a:p>
            <a:r>
              <a:rPr sz="1680">
                <a:solidFill>
                  <a:srgbClr val="F4F6FF"/>
                </a:solidFill>
                <a:latin typeface="Courier New"/>
              </a:rPr>
              <a:t>print(f"Market share: {share:.1%}")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92640" y="7626096"/>
            <a:ext cx="7452360" cy="2008632"/>
          </a:xfrm>
          <a:prstGeom prst="roundRect">
            <a:avLst>
              <a:gd name="adj" fmla="val 5000"/>
            </a:avLst>
          </a:prstGeom>
          <a:solidFill>
            <a:srgbClr val="EEF1FE"/>
          </a:solidFill>
          <a:ln w="19050">
            <a:solidFill>
              <a:srgbClr val="B9C8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7717536"/>
            <a:ext cx="6903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5A6385"/>
                </a:solidFill>
                <a:latin typeface="Courier New"/>
              </a:rPr>
              <a:t>Έξοδος (output)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8037575"/>
            <a:ext cx="6903720" cy="1551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80">
                <a:solidFill>
                  <a:srgbClr val="1B2F6B"/>
                </a:solidFill>
                <a:latin typeface="Courier New"/>
              </a:rPr>
              <a:t>In 5 years: 1836.66</a:t>
            </a:r>
          </a:p>
          <a:p>
            <a:r>
              <a:rPr sz="1680">
                <a:solidFill>
                  <a:srgbClr val="1B2F6B"/>
                </a:solidFill>
                <a:latin typeface="Courier New"/>
              </a:rPr>
              <a:t>In 5 years: 1836.66</a:t>
            </a:r>
          </a:p>
          <a:p>
            <a:r>
              <a:rPr sz="1680">
                <a:solidFill>
                  <a:srgbClr val="1B2F6B"/>
                </a:solidFill>
                <a:latin typeface="Courier New"/>
              </a:rPr>
              <a:t>Sales: 1,250,000 euros</a:t>
            </a:r>
          </a:p>
          <a:p>
            <a:r>
              <a:rPr sz="1680">
                <a:solidFill>
                  <a:srgbClr val="1B2F6B"/>
                </a:solidFill>
                <a:latin typeface="Courier New"/>
              </a:rPr>
              <a:t>Market share: 24.0%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Συγκρίσεις: από πού έρχονται τα True και False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half"/>
          </p:nvPr>
        </p:nvSpPr>
        <p:spPr/>
        <p:txBody>
          <a:bodyPr/>
          <a:lstStyle/>
          <a:p>
            <a:pPr/>
            <a:r>
              <a:rPr sz="2200" b="1">
                <a:solidFill>
                  <a:srgbClr val="1B2F6B"/>
                </a:solidFill>
              </a:rPr>
              <a:t>Τελεστές σύγκρισης (comparison operators)</a:t>
            </a:r>
          </a:p>
          <a:p>
            <a:pPr lvl="1"/>
            <a:r>
              <a:rPr sz="1800">
                <a:solidFill>
                  <a:srgbClr val="1B2F6B"/>
                </a:solidFill>
                <a:latin typeface="Courier New"/>
              </a:rPr>
              <a:t>==  !=</a:t>
            </a:r>
            <a:r>
              <a:rPr sz="1800"/>
              <a:t>   ίσο, διάφορο</a:t>
            </a:r>
          </a:p>
          <a:p>
            <a:pPr lvl="1"/>
            <a:r>
              <a:rPr sz="1800">
                <a:solidFill>
                  <a:srgbClr val="1B2F6B"/>
                </a:solidFill>
                <a:latin typeface="Courier New"/>
              </a:rPr>
              <a:t>&lt;  &lt;=  &gt;  &gt;=</a:t>
            </a:r>
            <a:r>
              <a:rPr sz="1800"/>
              <a:t>   μικρότερο, μεγαλύτερο</a:t>
            </a:r>
          </a:p>
          <a:p>
            <a:pPr/>
            <a:r>
              <a:rPr sz="2200" b="1">
                <a:solidFill>
                  <a:srgbClr val="1B2F6B"/>
                </a:solidFill>
              </a:rPr>
              <a:t>Λογικοί τελεστές (logical operators)</a:t>
            </a:r>
          </a:p>
          <a:p>
            <a:pPr lvl="1"/>
            <a:r>
              <a:rPr sz="1800">
                <a:solidFill>
                  <a:srgbClr val="1B2F6B"/>
                </a:solidFill>
                <a:latin typeface="Courier New"/>
              </a:rPr>
              <a:t>and</a:t>
            </a:r>
            <a:r>
              <a:rPr sz="1800"/>
              <a:t> και τα δύο αληθή, </a:t>
            </a:r>
            <a:r>
              <a:rPr sz="1800">
                <a:solidFill>
                  <a:srgbClr val="1B2F6B"/>
                </a:solidFill>
                <a:latin typeface="Courier New"/>
              </a:rPr>
              <a:t>or</a:t>
            </a:r>
            <a:r>
              <a:rPr sz="1800"/>
              <a:t> τουλάχιστον ένα, </a:t>
            </a:r>
            <a:r>
              <a:rPr sz="1800">
                <a:solidFill>
                  <a:srgbClr val="1B2F6B"/>
                </a:solidFill>
                <a:latin typeface="Courier New"/>
              </a:rPr>
              <a:t>not</a:t>
            </a:r>
            <a:r>
              <a:rPr sz="1800"/>
              <a:t> αντιστροφή</a:t>
            </a:r>
          </a:p>
          <a:p>
            <a:pPr/>
            <a:r>
              <a:rPr sz="2200" b="1">
                <a:solidFill>
                  <a:srgbClr val="1B2F6B"/>
                </a:solidFill>
              </a:rPr>
              <a:t>Προσοχή</a:t>
            </a:r>
          </a:p>
          <a:p>
            <a:pPr lvl="1"/>
            <a:r>
              <a:rPr sz="1800">
                <a:solidFill>
                  <a:srgbClr val="1B2F6B"/>
                </a:solidFill>
                <a:latin typeface="Courier New"/>
              </a:rPr>
              <a:t>=</a:t>
            </a:r>
            <a:r>
              <a:rPr sz="1800"/>
              <a:t> αναθέτει τιμή,  </a:t>
            </a:r>
            <a:r>
              <a:rPr sz="1800">
                <a:solidFill>
                  <a:srgbClr val="1B2F6B"/>
                </a:solidFill>
                <a:latin typeface="Courier New"/>
              </a:rPr>
              <a:t>==</a:t>
            </a:r>
            <a:r>
              <a:rPr sz="1800"/>
              <a:t> ρωτά αν είναι ίσες</a:t>
            </a:r>
          </a:p>
          <a:p>
            <a:pPr lvl="1"/>
            <a:r>
              <a:rPr sz="1800"/>
              <a:t>Σε strings η σύγκριση ξεχωρίζει πεζά/κεφαλαία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2743200"/>
            <a:ext cx="7452360" cy="4320540"/>
          </a:xfrm>
          <a:prstGeom prst="roundRect">
            <a:avLst>
              <a:gd name="adj" fmla="val 5000"/>
            </a:avLst>
          </a:prstGeom>
          <a:solidFill>
            <a:srgbClr val="14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2852928"/>
            <a:ext cx="6903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9C8FC"/>
                </a:solidFill>
                <a:latin typeface="Courier New"/>
              </a:rPr>
              <a:t>script.py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3200400"/>
            <a:ext cx="6903720" cy="3771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>
                <a:solidFill>
                  <a:srgbClr val="F4F6FF"/>
                </a:solidFill>
                <a:latin typeface="Courier New"/>
              </a:rPr>
              <a:t>sales = 1250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target = 1000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 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print(sales &gt; target)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print(sales == target)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print(sales &gt;= 1000 and sales &lt; 2000)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 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print("Athens" == "athens")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hit = sales &gt; target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print(type(hit))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92640" y="7200900"/>
            <a:ext cx="7452360" cy="2457450"/>
          </a:xfrm>
          <a:prstGeom prst="roundRect">
            <a:avLst>
              <a:gd name="adj" fmla="val 5000"/>
            </a:avLst>
          </a:prstGeom>
          <a:solidFill>
            <a:srgbClr val="EEF1FE"/>
          </a:solidFill>
          <a:ln w="19050">
            <a:solidFill>
              <a:srgbClr val="B9C8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7292340"/>
            <a:ext cx="6903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5A6385"/>
                </a:solidFill>
                <a:latin typeface="Courier New"/>
              </a:rPr>
              <a:t>Έξοδος (output)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7612379"/>
            <a:ext cx="6903720" cy="2000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>
                <a:solidFill>
                  <a:srgbClr val="1B2F6B"/>
                </a:solidFill>
                <a:latin typeface="Courier New"/>
              </a:rPr>
              <a:t>True</a:t>
            </a:r>
          </a:p>
          <a:p>
            <a:r>
              <a:rPr sz="1800">
                <a:solidFill>
                  <a:srgbClr val="1B2F6B"/>
                </a:solidFill>
                <a:latin typeface="Courier New"/>
              </a:rPr>
              <a:t>False</a:t>
            </a:r>
          </a:p>
          <a:p>
            <a:r>
              <a:rPr sz="1800">
                <a:solidFill>
                  <a:srgbClr val="1B2F6B"/>
                </a:solidFill>
                <a:latin typeface="Courier New"/>
              </a:rPr>
              <a:t>True</a:t>
            </a:r>
          </a:p>
          <a:p>
            <a:r>
              <a:rPr sz="1800">
                <a:solidFill>
                  <a:srgbClr val="1B2F6B"/>
                </a:solidFill>
                <a:latin typeface="Courier New"/>
              </a:rPr>
              <a:t>False</a:t>
            </a:r>
          </a:p>
          <a:p>
            <a:r>
              <a:rPr sz="1800">
                <a:solidFill>
                  <a:srgbClr val="1B2F6B"/>
                </a:solidFill>
                <a:latin typeface="Courier New"/>
              </a:rPr>
              <a:t>&lt;class 'bool'&gt;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Ο τύπος καθορίζει τη συμπεριφορά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Πριν ρωτήσεις «γιατί δεν δουλεύει;», ρώτα «τι τύπου είναι αυτό;». Το type() είναι ο πρώτος σου φίλος στο debugging.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— Οι περισσότερες πρώτες «περίεργες» συμπεριφορές της Python είναι θέμα τύπων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001000" y="6903720"/>
            <a:ext cx="9528048" cy="1737360"/>
          </a:xfrm>
        </p:spPr>
        <p:txBody>
          <a:bodyPr/>
          <a:lstStyle/>
          <a:p>
            <a:r>
              <a:rPr sz="4400"/>
              <a:t>Λίστες (lists)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8001000" y="8915400"/>
            <a:ext cx="9217152" cy="914400"/>
          </a:xfrm>
        </p:spPr>
        <p:txBody>
          <a:bodyPr/>
          <a:lstStyle/>
          <a:p>
            <a:r>
              <a:t>Πολλές τιμές, ένα όνομα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Γιατί χρειαζόμαστε λίστες;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half"/>
          </p:nvPr>
        </p:nvSpPr>
        <p:spPr/>
        <p:txBody>
          <a:bodyPr/>
          <a:lstStyle/>
          <a:p>
            <a:pPr/>
            <a:r>
              <a:rPr sz="2300" b="1">
                <a:solidFill>
                  <a:srgbClr val="1B2F6B"/>
                </a:solidFill>
              </a:rPr>
              <a:t>Μία μεταβλητή = μία τιμή</a:t>
            </a:r>
          </a:p>
          <a:p>
            <a:pPr lvl="1"/>
            <a:r>
              <a:rPr sz="1900"/>
              <a:t>Για 5 μήνες θέλουμε 5 μεταβλητές, για 1000 παραγγελίες 1000 μεταβλητές…</a:t>
            </a:r>
          </a:p>
          <a:p>
            <a:pPr/>
            <a:r>
              <a:rPr sz="2300" b="1">
                <a:solidFill>
                  <a:srgbClr val="1B2F6B"/>
                </a:solidFill>
              </a:rPr>
              <a:t>Λίστα = ένα όνομα για μια συλλογή τιμών</a:t>
            </a:r>
          </a:p>
          <a:p>
            <a:pPr lvl="1"/>
            <a:r>
              <a:rPr sz="1900">
                <a:solidFill>
                  <a:srgbClr val="1B2F6B"/>
                </a:solidFill>
                <a:latin typeface="Courier New"/>
              </a:rPr>
              <a:t>[</a:t>
            </a:r>
            <a:r>
              <a:rPr sz="1900"/>
              <a:t> τιμές χωρισμένες με κόμμα </a:t>
            </a:r>
            <a:r>
              <a:rPr sz="1900">
                <a:solidFill>
                  <a:srgbClr val="1B2F6B"/>
                </a:solidFill>
                <a:latin typeface="Courier New"/>
              </a:rPr>
              <a:t>]</a:t>
            </a:r>
          </a:p>
          <a:p>
            <a:pPr lvl="1"/>
            <a:r>
              <a:rPr sz="1900"/>
              <a:t>Έχει σειρά: υπάρχει πρώτο, δεύτερο, τελευταίο στοιχείο</a:t>
            </a:r>
          </a:p>
          <a:p>
            <a:pPr lvl="1"/>
            <a:r>
              <a:rPr sz="1900"/>
              <a:t>Μπορεί να έχει όσα στοιχεία θέλουμε, ακόμη και κανένα: []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2743200"/>
            <a:ext cx="7452360" cy="4320540"/>
          </a:xfrm>
          <a:prstGeom prst="roundRect">
            <a:avLst>
              <a:gd name="adj" fmla="val 5000"/>
            </a:avLst>
          </a:prstGeom>
          <a:solidFill>
            <a:srgbClr val="14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2852928"/>
            <a:ext cx="6903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9C8FC"/>
                </a:solidFill>
                <a:latin typeface="Courier New"/>
              </a:rPr>
              <a:t>script.py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3200400"/>
            <a:ext cx="6903720" cy="3771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>
                <a:solidFill>
                  <a:srgbClr val="9FB3E8"/>
                </a:solidFill>
                <a:latin typeface="Courier New"/>
              </a:rPr>
              <a:t># Μηνιαίες πωλήσεις (σε ευρώ)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jan = 1200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feb = 1550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mar = 1000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apr = 1800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may = 1650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 </a:t>
            </a:r>
          </a:p>
          <a:p>
            <a:r>
              <a:rPr sz="1800">
                <a:solidFill>
                  <a:srgbClr val="9FB3E8"/>
                </a:solidFill>
                <a:latin typeface="Courier New"/>
              </a:rPr>
              <a:t># Όλα μαζί σε μια λίστα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sales = [jan, feb, mar, apr, may]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print(sales)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92640" y="7200900"/>
            <a:ext cx="7452360" cy="1040130"/>
          </a:xfrm>
          <a:prstGeom prst="roundRect">
            <a:avLst>
              <a:gd name="adj" fmla="val 5000"/>
            </a:avLst>
          </a:prstGeom>
          <a:solidFill>
            <a:srgbClr val="EEF1FE"/>
          </a:solidFill>
          <a:ln w="19050">
            <a:solidFill>
              <a:srgbClr val="B9C8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7292340"/>
            <a:ext cx="6903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5A6385"/>
                </a:solidFill>
                <a:latin typeface="Courier New"/>
              </a:rPr>
              <a:t>Έξοδος (output)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7612379"/>
            <a:ext cx="6903720" cy="5829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>
                <a:solidFill>
                  <a:srgbClr val="1B2F6B"/>
                </a:solidFill>
                <a:latin typeface="Courier New"/>
              </a:rPr>
              <a:t>[1200, 1550, 1000, 1800, 1650]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Λίστες με διαφορετικούς τύπους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half"/>
          </p:nvPr>
        </p:nvSpPr>
        <p:spPr/>
        <p:txBody>
          <a:bodyPr/>
          <a:lstStyle/>
          <a:p>
            <a:pPr/>
            <a:r>
              <a:rPr sz="2300" b="1">
                <a:solidFill>
                  <a:srgbClr val="1B2F6B"/>
                </a:solidFill>
              </a:rPr>
              <a:t>Οποιοσδήποτε τύπος</a:t>
            </a:r>
          </a:p>
          <a:p>
            <a:pPr lvl="1"/>
            <a:r>
              <a:rPr sz="1900"/>
              <a:t>float, int, bool, str… ακόμη και άλλες λίστες</a:t>
            </a:r>
          </a:p>
          <a:p>
            <a:pPr/>
            <a:r>
              <a:rPr sz="2300" b="1">
                <a:solidFill>
                  <a:srgbClr val="1B2F6B"/>
                </a:solidFill>
              </a:rPr>
              <a:t>Μείγμα τύπων</a:t>
            </a:r>
          </a:p>
          <a:p>
            <a:pPr lvl="1"/>
            <a:r>
              <a:rPr sz="1900"/>
              <a:t>Επιτρέπεται, αλλά συνήθως κρατάμε έναν τύπο ανά λίστα για ευκολία</a:t>
            </a:r>
          </a:p>
          <a:p>
            <a:pPr/>
            <a:r>
              <a:rPr sz="2300" b="1">
                <a:solidFill>
                  <a:srgbClr val="1B2F6B"/>
                </a:solidFill>
              </a:rPr>
              <a:t>Η λίστα είναι κι αυτή τύπος</a:t>
            </a:r>
          </a:p>
          <a:p>
            <a:pPr lvl="1"/>
            <a:r>
              <a:rPr sz="1900">
                <a:solidFill>
                  <a:srgbClr val="1B2F6B"/>
                </a:solidFill>
                <a:latin typeface="Courier New"/>
              </a:rPr>
              <a:t>type(products)</a:t>
            </a:r>
            <a:r>
              <a:rPr sz="1900"/>
              <a:t>  →  &lt;class 'list'&gt;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2743200"/>
            <a:ext cx="7452360" cy="3611880"/>
          </a:xfrm>
          <a:prstGeom prst="roundRect">
            <a:avLst>
              <a:gd name="adj" fmla="val 5000"/>
            </a:avLst>
          </a:prstGeom>
          <a:solidFill>
            <a:srgbClr val="14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2852928"/>
            <a:ext cx="6903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9C8FC"/>
                </a:solidFill>
                <a:latin typeface="Courier New"/>
              </a:rPr>
              <a:t>script.py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3200400"/>
            <a:ext cx="6903720" cy="3063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>
                <a:solidFill>
                  <a:srgbClr val="9FB3E8"/>
                </a:solidFill>
                <a:latin typeface="Courier New"/>
              </a:rPr>
              <a:t># Προϊόν και τιμή εναλλάξ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products = ["laptop", 899.0,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            "mouse", 19.9,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            "monitor", 249.0,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            "keyboard", 45.0,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            "webcam", 59.0]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 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print(type(products))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92640" y="6492240"/>
            <a:ext cx="7452360" cy="1040130"/>
          </a:xfrm>
          <a:prstGeom prst="roundRect">
            <a:avLst>
              <a:gd name="adj" fmla="val 5000"/>
            </a:avLst>
          </a:prstGeom>
          <a:solidFill>
            <a:srgbClr val="EEF1FE"/>
          </a:solidFill>
          <a:ln w="19050">
            <a:solidFill>
              <a:srgbClr val="B9C8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6583680"/>
            <a:ext cx="6903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5A6385"/>
                </a:solidFill>
                <a:latin typeface="Courier New"/>
              </a:rPr>
              <a:t>Έξοδος (output)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903720"/>
            <a:ext cx="6903720" cy="5829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>
                <a:solidFill>
                  <a:srgbClr val="1B2F6B"/>
                </a:solidFill>
                <a:latin typeface="Courier New"/>
              </a:rPr>
              <a:t>&lt;class 'list'&gt;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Λίστα μέσα σε λίστα (list of lists)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half"/>
          </p:nvPr>
        </p:nvSpPr>
        <p:spPr/>
        <p:txBody>
          <a:bodyPr/>
          <a:lstStyle/>
          <a:p>
            <a:pPr/>
            <a:r>
              <a:rPr sz="2300" b="1">
                <a:solidFill>
                  <a:srgbClr val="1B2F6B"/>
                </a:solidFill>
              </a:rPr>
              <a:t>Η λίστα είναι τύπος, άρα χωρά σε λίστα</a:t>
            </a:r>
          </a:p>
          <a:p>
            <a:pPr/>
            <a:r>
              <a:rPr sz="2300" b="1">
                <a:solidFill>
                  <a:srgbClr val="1B2F6B"/>
                </a:solidFill>
              </a:rPr>
              <a:t>Κάθε εσωτερική λίστα = μια «εγγραφή»</a:t>
            </a:r>
          </a:p>
          <a:p>
            <a:pPr lvl="1"/>
            <a:r>
              <a:rPr sz="1900"/>
              <a:t>Εδώ: [προϊόν, τιμή]</a:t>
            </a:r>
          </a:p>
          <a:p>
            <a:pPr lvl="1"/>
            <a:r>
              <a:rPr sz="1900"/>
              <a:t>Σκέψου το σαν πίνακα με γραμμές και στήλες</a:t>
            </a:r>
          </a:p>
          <a:p>
            <a:pPr/>
            <a:r>
              <a:rPr sz="2300" b="1">
                <a:solidFill>
                  <a:srgbClr val="1B2F6B"/>
                </a:solidFill>
              </a:rPr>
              <a:t>Είναι το πρώτο βήμα προς τα δεδομένα</a:t>
            </a:r>
          </a:p>
          <a:p>
            <a:pPr lvl="1"/>
            <a:r>
              <a:rPr sz="1900"/>
              <a:t>Αργότερα το ίδιο θα το κάνουμε με NumPy arrays και pandas DataFrames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2743200"/>
            <a:ext cx="7452360" cy="3257550"/>
          </a:xfrm>
          <a:prstGeom prst="roundRect">
            <a:avLst>
              <a:gd name="adj" fmla="val 5000"/>
            </a:avLst>
          </a:prstGeom>
          <a:solidFill>
            <a:srgbClr val="14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2852928"/>
            <a:ext cx="6903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9C8FC"/>
                </a:solidFill>
                <a:latin typeface="Courier New"/>
              </a:rPr>
              <a:t>script.py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3200400"/>
            <a:ext cx="6903720" cy="27089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>
                <a:solidFill>
                  <a:srgbClr val="F4F6FF"/>
                </a:solidFill>
                <a:latin typeface="Courier New"/>
              </a:rPr>
              <a:t>catalog = [["laptop", 899.0],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           ["mouse", 19.9],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           ["monitor", 249.0],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           ["keyboard", 45.0],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           ["webcam", 59.0]]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 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print(catalog[0])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92640" y="6137910"/>
            <a:ext cx="7452360" cy="1040130"/>
          </a:xfrm>
          <a:prstGeom prst="roundRect">
            <a:avLst>
              <a:gd name="adj" fmla="val 5000"/>
            </a:avLst>
          </a:prstGeom>
          <a:solidFill>
            <a:srgbClr val="EEF1FE"/>
          </a:solidFill>
          <a:ln w="19050">
            <a:solidFill>
              <a:srgbClr val="B9C8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6229350"/>
            <a:ext cx="6903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5A6385"/>
                </a:solidFill>
                <a:latin typeface="Courier New"/>
              </a:rPr>
              <a:t>Έξοδος (output)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549390"/>
            <a:ext cx="6903720" cy="5829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>
                <a:solidFill>
                  <a:srgbClr val="1B2F6B"/>
                </a:solidFill>
                <a:latin typeface="Courier New"/>
              </a:rPr>
              <a:t>['laptop', 899.0]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Χρήσιμα εργαλεία για λίστες: len, in, sum, max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half"/>
          </p:nvPr>
        </p:nvSpPr>
        <p:spPr/>
        <p:txBody>
          <a:bodyPr/>
          <a:lstStyle/>
          <a:p>
            <a:pPr/>
            <a:r>
              <a:rPr sz="2100">
                <a:solidFill>
                  <a:srgbClr val="1B2F6B"/>
                </a:solidFill>
                <a:latin typeface="Courier New"/>
              </a:rPr>
              <a:t>len(x)</a:t>
            </a:r>
            <a:r>
              <a:rPr sz="2100"/>
              <a:t>   πόσα στοιχεία έχει</a:t>
            </a:r>
          </a:p>
          <a:p>
            <a:pPr/>
            <a:r>
              <a:rPr sz="2100">
                <a:solidFill>
                  <a:srgbClr val="1B2F6B"/>
                </a:solidFill>
                <a:latin typeface="Courier New"/>
              </a:rPr>
              <a:t>στοιχείο in x</a:t>
            </a:r>
            <a:r>
              <a:rPr sz="2100"/>
              <a:t>   υπάρχει; → True / False</a:t>
            </a:r>
          </a:p>
          <a:p>
            <a:pPr/>
            <a:r>
              <a:rPr sz="2100">
                <a:solidFill>
                  <a:srgbClr val="1B2F6B"/>
                </a:solidFill>
                <a:latin typeface="Courier New"/>
              </a:rPr>
              <a:t>sum(x)  min(x)  max(x)</a:t>
            </a:r>
          </a:p>
          <a:p>
            <a:pPr lvl="1"/>
            <a:r>
              <a:rPr sz="1800"/>
              <a:t>Μόνο για λίστες με αριθμούς</a:t>
            </a:r>
          </a:p>
          <a:p>
            <a:pPr/>
            <a:r>
              <a:rPr sz="2100">
                <a:solidFill>
                  <a:srgbClr val="1B2F6B"/>
                </a:solidFill>
                <a:latin typeface="Courier New"/>
              </a:rPr>
              <a:t>sum(x) / len(x)</a:t>
            </a:r>
            <a:r>
              <a:rPr sz="2100"/>
              <a:t>   ο μέσος όρος</a:t>
            </a:r>
          </a:p>
          <a:p>
            <a:pPr/>
            <a:r>
              <a:rPr sz="2100" b="1">
                <a:solidFill>
                  <a:srgbClr val="1B2F6B"/>
                </a:solidFill>
              </a:rPr>
              <a:t>Προσοχή</a:t>
            </a:r>
          </a:p>
          <a:p>
            <a:pPr lvl="1"/>
            <a:r>
              <a:rPr sz="1800"/>
              <a:t>Αν η λίστα έχει μείγμα προϊόντων και τιμών, το sum() δίνει TypeError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2743200"/>
            <a:ext cx="7452360" cy="3611880"/>
          </a:xfrm>
          <a:prstGeom prst="roundRect">
            <a:avLst>
              <a:gd name="adj" fmla="val 5000"/>
            </a:avLst>
          </a:prstGeom>
          <a:solidFill>
            <a:srgbClr val="14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2852928"/>
            <a:ext cx="6903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9C8FC"/>
                </a:solidFill>
                <a:latin typeface="Courier New"/>
              </a:rPr>
              <a:t>script.py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3200400"/>
            <a:ext cx="6903720" cy="3063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>
                <a:solidFill>
                  <a:srgbClr val="F4F6FF"/>
                </a:solidFill>
                <a:latin typeface="Courier New"/>
              </a:rPr>
              <a:t>sales = [1200, 1550, 1000, 1800, 1650]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 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print(len(sales))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print(1800 in sales)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print(2000 in sales)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print(sum(sales))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print(max(sales), min(sales))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print(sum(sales) / len(sales))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92640" y="6492240"/>
            <a:ext cx="7452360" cy="2811780"/>
          </a:xfrm>
          <a:prstGeom prst="roundRect">
            <a:avLst>
              <a:gd name="adj" fmla="val 5000"/>
            </a:avLst>
          </a:prstGeom>
          <a:solidFill>
            <a:srgbClr val="EEF1FE"/>
          </a:solidFill>
          <a:ln w="19050">
            <a:solidFill>
              <a:srgbClr val="B9C8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6583680"/>
            <a:ext cx="6903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5A6385"/>
                </a:solidFill>
                <a:latin typeface="Courier New"/>
              </a:rPr>
              <a:t>Έξοδος (output)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903720"/>
            <a:ext cx="6903720" cy="23545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>
                <a:solidFill>
                  <a:srgbClr val="1B2F6B"/>
                </a:solidFill>
                <a:latin typeface="Courier New"/>
              </a:rPr>
              <a:t>5</a:t>
            </a:r>
          </a:p>
          <a:p>
            <a:r>
              <a:rPr sz="1800">
                <a:solidFill>
                  <a:srgbClr val="1B2F6B"/>
                </a:solidFill>
                <a:latin typeface="Courier New"/>
              </a:rPr>
              <a:t>True</a:t>
            </a:r>
          </a:p>
          <a:p>
            <a:r>
              <a:rPr sz="1800">
                <a:solidFill>
                  <a:srgbClr val="1B2F6B"/>
                </a:solidFill>
                <a:latin typeface="Courier New"/>
              </a:rPr>
              <a:t>False</a:t>
            </a:r>
          </a:p>
          <a:p>
            <a:r>
              <a:rPr sz="1800">
                <a:solidFill>
                  <a:srgbClr val="1B2F6B"/>
                </a:solidFill>
                <a:latin typeface="Courier New"/>
              </a:rPr>
              <a:t>7200</a:t>
            </a:r>
          </a:p>
          <a:p>
            <a:r>
              <a:rPr sz="1800">
                <a:solidFill>
                  <a:srgbClr val="1B2F6B"/>
                </a:solidFill>
                <a:latin typeface="Courier New"/>
              </a:rPr>
              <a:t>1800 1000</a:t>
            </a:r>
          </a:p>
          <a:p>
            <a:r>
              <a:rPr sz="1800">
                <a:solidFill>
                  <a:srgbClr val="1B2F6B"/>
                </a:solidFill>
                <a:latin typeface="Courier New"/>
              </a:rPr>
              <a:t>1440.0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Δείκτες (indexes): πώς βρίσκουμε ένα στοιχείο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743200"/>
            <a:ext cx="16002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>
                <a:solidFill>
                  <a:srgbClr val="1B2F6B"/>
                </a:solidFill>
                <a:latin typeface="Courier New"/>
              </a:rPr>
              <a:t>q = ["Q1", "Q2", "Q3", "Q4"]   # τρίμηνα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749039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0" i="0">
                <a:solidFill>
                  <a:srgbClr val="5A6385"/>
                </a:solidFill>
                <a:latin typeface="Arial"/>
              </a:rPr>
              <a:t>Δείκτης από την αρχή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76072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0" i="0">
                <a:solidFill>
                  <a:srgbClr val="5A6385"/>
                </a:solidFill>
                <a:latin typeface="Arial"/>
              </a:rPr>
              <a:t>Δείκτης από το τέλος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3749039"/>
            <a:ext cx="2377440" cy="640080"/>
          </a:xfrm>
          <a:prstGeom prst="roundRect">
            <a:avLst>
              <a:gd name="adj" fmla="val 20000"/>
            </a:avLst>
          </a:prstGeom>
          <a:solidFill>
            <a:srgbClr val="B9C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2000" b="1" i="0">
                <a:solidFill>
                  <a:srgbClr val="1B2F6B"/>
                </a:solidFill>
                <a:latin typeface="Courier New"/>
              </a:rPr>
              <a:t>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4526280"/>
            <a:ext cx="2377440" cy="1097280"/>
          </a:xfrm>
          <a:prstGeom prst="roundRect">
            <a:avLst>
              <a:gd name="adj" fmla="val 6000"/>
            </a:avLst>
          </a:prstGeom>
          <a:solidFill>
            <a:srgbClr val="14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ourier New"/>
              </a:rPr>
              <a:t>"Q1"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5760720"/>
            <a:ext cx="2377440" cy="640080"/>
          </a:xfrm>
          <a:prstGeom prst="roundRect">
            <a:avLst>
              <a:gd name="adj" fmla="val 20000"/>
            </a:avLst>
          </a:prstGeom>
          <a:solidFill>
            <a:srgbClr val="FDE8D4"/>
          </a:solidFill>
          <a:ln w="19050">
            <a:solidFill>
              <a:srgbClr val="F58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2000" b="1" i="0">
                <a:solidFill>
                  <a:srgbClr val="1B2F6B"/>
                </a:solidFill>
                <a:latin typeface="Courier New"/>
              </a:rPr>
              <a:t>-4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749039"/>
            <a:ext cx="2377440" cy="640080"/>
          </a:xfrm>
          <a:prstGeom prst="roundRect">
            <a:avLst>
              <a:gd name="adj" fmla="val 20000"/>
            </a:avLst>
          </a:prstGeom>
          <a:solidFill>
            <a:srgbClr val="B9C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2000" b="1" i="0">
                <a:solidFill>
                  <a:srgbClr val="1B2F6B"/>
                </a:solidFill>
                <a:latin typeface="Courier New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4526280"/>
            <a:ext cx="2377440" cy="1097280"/>
          </a:xfrm>
          <a:prstGeom prst="roundRect">
            <a:avLst>
              <a:gd name="adj" fmla="val 6000"/>
            </a:avLst>
          </a:prstGeom>
          <a:solidFill>
            <a:srgbClr val="14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ourier New"/>
              </a:rPr>
              <a:t>"Q2"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5760720"/>
            <a:ext cx="2377440" cy="640080"/>
          </a:xfrm>
          <a:prstGeom prst="roundRect">
            <a:avLst>
              <a:gd name="adj" fmla="val 20000"/>
            </a:avLst>
          </a:prstGeom>
          <a:solidFill>
            <a:srgbClr val="FDE8D4"/>
          </a:solidFill>
          <a:ln w="19050">
            <a:solidFill>
              <a:srgbClr val="F58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2000" b="1" i="0">
                <a:solidFill>
                  <a:srgbClr val="1B2F6B"/>
                </a:solidFill>
                <a:latin typeface="Courier New"/>
              </a:rPr>
              <a:t>-3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3749039"/>
            <a:ext cx="2377440" cy="640080"/>
          </a:xfrm>
          <a:prstGeom prst="roundRect">
            <a:avLst>
              <a:gd name="adj" fmla="val 20000"/>
            </a:avLst>
          </a:prstGeom>
          <a:solidFill>
            <a:srgbClr val="B9C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2000" b="1" i="0">
                <a:solidFill>
                  <a:srgbClr val="1B2F6B"/>
                </a:solidFill>
                <a:latin typeface="Courier New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4526280"/>
            <a:ext cx="2377440" cy="1097280"/>
          </a:xfrm>
          <a:prstGeom prst="roundRect">
            <a:avLst>
              <a:gd name="adj" fmla="val 6000"/>
            </a:avLst>
          </a:prstGeom>
          <a:solidFill>
            <a:srgbClr val="14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ourier New"/>
              </a:rPr>
              <a:t>"Q3"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5760720"/>
            <a:ext cx="2377440" cy="640080"/>
          </a:xfrm>
          <a:prstGeom prst="roundRect">
            <a:avLst>
              <a:gd name="adj" fmla="val 20000"/>
            </a:avLst>
          </a:prstGeom>
          <a:solidFill>
            <a:srgbClr val="FDE8D4"/>
          </a:solidFill>
          <a:ln w="19050">
            <a:solidFill>
              <a:srgbClr val="F58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2000" b="1" i="0">
                <a:solidFill>
                  <a:srgbClr val="1B2F6B"/>
                </a:solidFill>
                <a:latin typeface="Courier New"/>
              </a:rPr>
              <a:t>-2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612880" y="3749039"/>
            <a:ext cx="2377440" cy="640080"/>
          </a:xfrm>
          <a:prstGeom prst="roundRect">
            <a:avLst>
              <a:gd name="adj" fmla="val 20000"/>
            </a:avLst>
          </a:prstGeom>
          <a:solidFill>
            <a:srgbClr val="B9C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2000" b="1" i="0">
                <a:solidFill>
                  <a:srgbClr val="1B2F6B"/>
                </a:solidFill>
                <a:latin typeface="Courier New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12880" y="4526280"/>
            <a:ext cx="2377440" cy="1097280"/>
          </a:xfrm>
          <a:prstGeom prst="roundRect">
            <a:avLst>
              <a:gd name="adj" fmla="val 6000"/>
            </a:avLst>
          </a:prstGeom>
          <a:solidFill>
            <a:srgbClr val="14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ourier New"/>
              </a:rPr>
              <a:t>"Q4"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612880" y="5760720"/>
            <a:ext cx="2377440" cy="640080"/>
          </a:xfrm>
          <a:prstGeom prst="roundRect">
            <a:avLst>
              <a:gd name="adj" fmla="val 20000"/>
            </a:avLst>
          </a:prstGeom>
          <a:solidFill>
            <a:srgbClr val="FDE8D4"/>
          </a:solidFill>
          <a:ln w="19050">
            <a:solidFill>
              <a:srgbClr val="F58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2000" b="1" i="0">
                <a:solidFill>
                  <a:srgbClr val="1B2F6B"/>
                </a:solidFill>
                <a:latin typeface="Courier New"/>
              </a:rPr>
              <a:t>-1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6858000"/>
            <a:ext cx="7589520" cy="2103120"/>
          </a:xfrm>
          <a:prstGeom prst="roundRect">
            <a:avLst>
              <a:gd name="adj" fmla="val 5000"/>
            </a:avLst>
          </a:prstGeom>
          <a:solidFill>
            <a:srgbClr val="14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6967728"/>
            <a:ext cx="70408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9C8FC"/>
                </a:solidFill>
                <a:latin typeface="Courier New"/>
              </a:rPr>
              <a:t>Console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7315200"/>
            <a:ext cx="7040880" cy="1554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>
                <a:solidFill>
                  <a:srgbClr val="F4F6FF"/>
                </a:solidFill>
                <a:latin typeface="Courier New"/>
              </a:rPr>
              <a:t>q[0]   </a:t>
            </a:r>
            <a:r>
              <a:rPr sz="1800">
                <a:solidFill>
                  <a:srgbClr val="9FB3E8"/>
                </a:solidFill>
                <a:latin typeface="Courier New"/>
              </a:rPr>
              <a:t># πρώτο στοιχείο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q[1]   </a:t>
            </a:r>
            <a:r>
              <a:rPr sz="1800">
                <a:solidFill>
                  <a:srgbClr val="9FB3E8"/>
                </a:solidFill>
                <a:latin typeface="Courier New"/>
              </a:rPr>
              <a:t># δεύτερο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q[-1]  </a:t>
            </a:r>
            <a:r>
              <a:rPr sz="1800">
                <a:solidFill>
                  <a:srgbClr val="9FB3E8"/>
                </a:solidFill>
                <a:latin typeface="Courier New"/>
              </a:rPr>
              <a:t># τελευταίο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q[-3]  </a:t>
            </a:r>
            <a:r>
              <a:rPr sz="1800">
                <a:solidFill>
                  <a:srgbClr val="9FB3E8"/>
                </a:solidFill>
                <a:latin typeface="Courier New"/>
              </a:rPr>
              <a:t># το ίδιο με q[1]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55480" y="6858000"/>
            <a:ext cx="7589520" cy="2103120"/>
          </a:xfrm>
          <a:prstGeom prst="roundRect">
            <a:avLst>
              <a:gd name="adj" fmla="val 5000"/>
            </a:avLst>
          </a:prstGeom>
          <a:solidFill>
            <a:srgbClr val="14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6967728"/>
            <a:ext cx="70408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9C8FC"/>
                </a:solidFill>
                <a:latin typeface="Courier New"/>
              </a:rPr>
              <a:t>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7315200"/>
            <a:ext cx="7040880" cy="1554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>
                <a:solidFill>
                  <a:srgbClr val="F4F6FF"/>
                </a:solidFill>
                <a:latin typeface="Courier New"/>
              </a:rPr>
              <a:t>'Q1'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'Q2'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'Q4'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'Q2'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Άσκηση: τι θα τυπώσει;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half"/>
          </p:nvPr>
        </p:nvSpPr>
        <p:spPr/>
        <p:txBody>
          <a:bodyPr/>
          <a:lstStyle/>
          <a:p>
            <a:pPr/>
            <a:r>
              <a:rPr sz="2300" b="1">
                <a:solidFill>
                  <a:srgbClr val="1B2F6B"/>
                </a:solidFill>
              </a:rPr>
              <a:t>Θυμήσου</a:t>
            </a:r>
          </a:p>
          <a:p>
            <a:pPr lvl="1"/>
            <a:r>
              <a:rPr sz="1900"/>
              <a:t>Η αρίθμηση ξεκινά από το 0</a:t>
            </a:r>
          </a:p>
          <a:p>
            <a:pPr lvl="1"/>
            <a:r>
              <a:rPr sz="1900"/>
              <a:t>Το -1 είναι το τελευταίο στοιχείο</a:t>
            </a:r>
          </a:p>
          <a:p>
            <a:pPr lvl="1"/>
            <a:r>
              <a:rPr sz="1900"/>
              <a:t>Μέτρα προσεκτικά: τα προϊόντα και οι τιμές εναλλάσσονται</a:t>
            </a:r>
          </a:p>
          <a:p>
            <a:pPr/>
            <a:r>
              <a:rPr sz="2300" b="1">
                <a:solidFill>
                  <a:srgbClr val="1B2F6B"/>
                </a:solidFill>
              </a:rPr>
              <a:t>Σκέψου πρώτα, μετά τρέξε</a:t>
            </a:r>
          </a:p>
          <a:p>
            <a:pPr lvl="1"/>
            <a:r>
              <a:rPr sz="1900"/>
              <a:t>Γράψε την πρόβλεψή σου και έλεγξέ την στην κονσόλα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2743200"/>
            <a:ext cx="7452360" cy="3257550"/>
          </a:xfrm>
          <a:prstGeom prst="roundRect">
            <a:avLst>
              <a:gd name="adj" fmla="val 5000"/>
            </a:avLst>
          </a:prstGeom>
          <a:solidFill>
            <a:srgbClr val="14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2852928"/>
            <a:ext cx="6903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9C8FC"/>
                </a:solidFill>
                <a:latin typeface="Courier New"/>
              </a:rPr>
              <a:t>script.py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3200400"/>
            <a:ext cx="6903720" cy="27089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>
                <a:solidFill>
                  <a:srgbClr val="F4F6FF"/>
                </a:solidFill>
                <a:latin typeface="Courier New"/>
              </a:rPr>
              <a:t>products = ["laptop", 899.0, "mouse", 19.9,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            "monitor", 249.0,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            "keyboard", 45.0, "webcam", 59.0]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 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print(products[1])    </a:t>
            </a:r>
            <a:r>
              <a:rPr sz="1800">
                <a:solidFill>
                  <a:srgbClr val="9FB3E8"/>
                </a:solidFill>
                <a:latin typeface="Courier New"/>
              </a:rPr>
              <a:t># → ?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print(products[-1])   </a:t>
            </a:r>
            <a:r>
              <a:rPr sz="1800">
                <a:solidFill>
                  <a:srgbClr val="9FB3E8"/>
                </a:solidFill>
                <a:latin typeface="Courier New"/>
              </a:rPr>
              <a:t># → ?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print(products[5])    </a:t>
            </a:r>
            <a:r>
              <a:rPr sz="1800">
                <a:solidFill>
                  <a:srgbClr val="9FB3E8"/>
                </a:solidFill>
                <a:latin typeface="Courier New"/>
              </a:rPr>
              <a:t># →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92640" y="6675120"/>
            <a:ext cx="7452360" cy="2194560"/>
          </a:xfrm>
          <a:prstGeom prst="roundRect">
            <a:avLst>
              <a:gd name="adj" fmla="val 6000"/>
            </a:avLst>
          </a:prstGeom>
          <a:solidFill>
            <a:srgbClr val="FD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6812280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5821F"/>
                </a:solidFill>
                <a:latin typeface="Arial"/>
              </a:rPr>
              <a:t>ΑΠΑΝΤΗΣΕΙΣ (κρύψε τες πριν την τάξη)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7223760"/>
            <a:ext cx="69494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1B2F6B"/>
                </a:solidFill>
                <a:latin typeface="Courier New"/>
              </a:rPr>
              <a:t>products[1]  → 899.0   το δεύτερο στοιχείο</a:t>
            </a:r>
          </a:p>
          <a:p>
            <a:pPr algn="l"/>
            <a:r>
              <a:rPr sz="1700" b="0" i="0">
                <a:solidFill>
                  <a:srgbClr val="1B2F6B"/>
                </a:solidFill>
                <a:latin typeface="Courier New"/>
              </a:rPr>
              <a:t>products[-1] → 59.0    το τελευταίο</a:t>
            </a:r>
          </a:p>
          <a:p>
            <a:pPr algn="l"/>
            <a:r>
              <a:rPr sz="1700" b="0" i="0">
                <a:solidFill>
                  <a:srgbClr val="1B2F6B"/>
                </a:solidFill>
                <a:latin typeface="Courier New"/>
              </a:rPr>
              <a:t>products[5]  → 249.0   το έκτο (monitor)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Τμήματα λίστας (slicing): πολλά στοιχεία με τη μία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743200"/>
            <a:ext cx="16002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1B2F6B"/>
                </a:solidFill>
                <a:latin typeface="Courier New"/>
              </a:rPr>
              <a:t>my_list[start:end]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31920" y="3566160"/>
            <a:ext cx="4572000" cy="640080"/>
          </a:xfrm>
          <a:prstGeom prst="roundRect">
            <a:avLst>
              <a:gd name="adj" fmla="val 30000"/>
            </a:avLst>
          </a:prstGeom>
          <a:solidFill>
            <a:srgbClr val="B9C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500" b="1" i="0">
                <a:solidFill>
                  <a:srgbClr val="1B2F6B"/>
                </a:solidFill>
                <a:latin typeface="Arial"/>
              </a:rPr>
              <a:t>start: περιλαμβάνεται (inclusive)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3566160"/>
            <a:ext cx="4572000" cy="640080"/>
          </a:xfrm>
          <a:prstGeom prst="roundRect">
            <a:avLst>
              <a:gd name="adj" fmla="val 30000"/>
            </a:avLst>
          </a:prstGeom>
          <a:solidFill>
            <a:srgbClr val="FDE8D4"/>
          </a:solidFill>
          <a:ln w="19050">
            <a:solidFill>
              <a:srgbClr val="F58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500" b="1" i="0">
                <a:solidFill>
                  <a:srgbClr val="1B2F6B"/>
                </a:solidFill>
                <a:latin typeface="Arial"/>
              </a:rPr>
              <a:t>end: ΔΕΝ περιλαμβάνεται (exclusive)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572000"/>
            <a:ext cx="16002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1B2F6B"/>
                </a:solidFill>
                <a:latin typeface="Courier New"/>
              </a:rPr>
              <a:t>q = ["Q1", "Q2", "Q3", "Q4"]        q[1:3]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5303520"/>
            <a:ext cx="2103120" cy="502920"/>
          </a:xfrm>
          <a:prstGeom prst="roundRect">
            <a:avLst>
              <a:gd name="adj" fmla="val 20000"/>
            </a:avLst>
          </a:prstGeom>
          <a:solidFill>
            <a:srgbClr val="B9C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700" b="1" i="0">
                <a:solidFill>
                  <a:srgbClr val="1B2F6B"/>
                </a:solidFill>
                <a:latin typeface="Courier New"/>
              </a:rPr>
              <a:t>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5943600"/>
            <a:ext cx="2103120" cy="914400"/>
          </a:xfrm>
          <a:prstGeom prst="roundRect">
            <a:avLst>
              <a:gd name="adj" fmla="val 6000"/>
            </a:avLst>
          </a:prstGeom>
          <a:solidFill>
            <a:srgbClr val="14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2400" b="1" i="0">
                <a:solidFill>
                  <a:srgbClr val="FFFFFF"/>
                </a:solidFill>
                <a:latin typeface="Courier New"/>
              </a:rPr>
              <a:t>"Q1"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5303520"/>
            <a:ext cx="2103120" cy="502920"/>
          </a:xfrm>
          <a:prstGeom prst="roundRect">
            <a:avLst>
              <a:gd name="adj" fmla="val 20000"/>
            </a:avLst>
          </a:prstGeom>
          <a:solidFill>
            <a:srgbClr val="B9C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700" b="1" i="0">
                <a:solidFill>
                  <a:srgbClr val="1B2F6B"/>
                </a:solidFill>
                <a:latin typeface="Courier New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5943600"/>
            <a:ext cx="2103120" cy="914400"/>
          </a:xfrm>
          <a:prstGeom prst="roundRect">
            <a:avLst>
              <a:gd name="adj" fmla="val 6000"/>
            </a:avLst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2400" b="1" i="0">
                <a:solidFill>
                  <a:srgbClr val="FFFFFF"/>
                </a:solidFill>
                <a:latin typeface="Courier New"/>
              </a:rPr>
              <a:t>"Q2"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5303520"/>
            <a:ext cx="2103120" cy="502920"/>
          </a:xfrm>
          <a:prstGeom prst="roundRect">
            <a:avLst>
              <a:gd name="adj" fmla="val 20000"/>
            </a:avLst>
          </a:prstGeom>
          <a:solidFill>
            <a:srgbClr val="B9C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700" b="1" i="0">
                <a:solidFill>
                  <a:srgbClr val="1B2F6B"/>
                </a:solidFill>
                <a:latin typeface="Courier New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5943600"/>
            <a:ext cx="2103120" cy="914400"/>
          </a:xfrm>
          <a:prstGeom prst="roundRect">
            <a:avLst>
              <a:gd name="adj" fmla="val 6000"/>
            </a:avLst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2400" b="1" i="0">
                <a:solidFill>
                  <a:srgbClr val="FFFFFF"/>
                </a:solidFill>
                <a:latin typeface="Courier New"/>
              </a:rPr>
              <a:t>"Q3"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567159" y="5303520"/>
            <a:ext cx="2103120" cy="502920"/>
          </a:xfrm>
          <a:prstGeom prst="roundRect">
            <a:avLst>
              <a:gd name="adj" fmla="val 20000"/>
            </a:avLst>
          </a:prstGeom>
          <a:solidFill>
            <a:srgbClr val="B9C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700" b="1" i="0">
                <a:solidFill>
                  <a:srgbClr val="1B2F6B"/>
                </a:solidFill>
                <a:latin typeface="Courier New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567159" y="5943600"/>
            <a:ext cx="2103120" cy="914400"/>
          </a:xfrm>
          <a:prstGeom prst="roundRect">
            <a:avLst>
              <a:gd name="adj" fmla="val 6000"/>
            </a:avLst>
          </a:prstGeom>
          <a:solidFill>
            <a:srgbClr val="14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2400" b="1" i="0">
                <a:solidFill>
                  <a:srgbClr val="FFFFFF"/>
                </a:solidFill>
                <a:latin typeface="Courier New"/>
              </a:rPr>
              <a:t>"Q4"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6949440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5821F"/>
                </a:solidFill>
                <a:latin typeface="Arial"/>
              </a:rPr>
              <a:t>από τον δείκτη 1 μέχρι (όχι μαζί με) τον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7589520"/>
            <a:ext cx="7589520" cy="1371600"/>
          </a:xfrm>
          <a:prstGeom prst="roundRect">
            <a:avLst>
              <a:gd name="adj" fmla="val 5000"/>
            </a:avLst>
          </a:prstGeom>
          <a:solidFill>
            <a:srgbClr val="14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7699248"/>
            <a:ext cx="70408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9C8FC"/>
                </a:solidFill>
                <a:latin typeface="Courier New"/>
              </a:rPr>
              <a:t>Console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8046720"/>
            <a:ext cx="7040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>
                <a:solidFill>
                  <a:srgbClr val="F4F6FF"/>
                </a:solidFill>
                <a:latin typeface="Courier New"/>
              </a:rPr>
              <a:t>q[1:3]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q[0:2]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55480" y="7589520"/>
            <a:ext cx="7589520" cy="1371600"/>
          </a:xfrm>
          <a:prstGeom prst="roundRect">
            <a:avLst>
              <a:gd name="adj" fmla="val 5000"/>
            </a:avLst>
          </a:prstGeom>
          <a:solidFill>
            <a:srgbClr val="14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9800" y="7699248"/>
            <a:ext cx="70408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9C8FC"/>
                </a:solidFill>
                <a:latin typeface="Courier New"/>
              </a:rPr>
              <a:t>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9800" y="8046720"/>
            <a:ext cx="7040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>
                <a:solidFill>
                  <a:srgbClr val="F4F6FF"/>
                </a:solidFill>
                <a:latin typeface="Courier New"/>
              </a:rPr>
              <a:t>['Q2', 'Q3']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['Q1', 'Q2']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Slicing χωρίς όρια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half"/>
          </p:nvPr>
        </p:nvSpPr>
        <p:spPr/>
        <p:txBody>
          <a:bodyPr/>
          <a:lstStyle/>
          <a:p>
            <a:pPr/>
            <a:r>
              <a:rPr sz="2200">
                <a:solidFill>
                  <a:srgbClr val="1B2F6B"/>
                </a:solidFill>
                <a:latin typeface="Courier New"/>
              </a:rPr>
              <a:t>q[:2]</a:t>
            </a:r>
            <a:r>
              <a:rPr sz="2200"/>
              <a:t>   από την αρχή μέχρι τον δείκτη 2 (όχι μαζί): το πρώτο εξάμηνο</a:t>
            </a:r>
          </a:p>
          <a:p>
            <a:pPr/>
            <a:r>
              <a:rPr sz="2200">
                <a:solidFill>
                  <a:srgbClr val="1B2F6B"/>
                </a:solidFill>
                <a:latin typeface="Courier New"/>
              </a:rPr>
              <a:t>q[2:]</a:t>
            </a:r>
            <a:r>
              <a:rPr sz="2200"/>
              <a:t>   από τον δείκτη 2 μέχρι το τέλος: το δεύτερο εξάμηνο</a:t>
            </a:r>
          </a:p>
          <a:p>
            <a:pPr/>
            <a:r>
              <a:rPr sz="2200">
                <a:solidFill>
                  <a:srgbClr val="1B2F6B"/>
                </a:solidFill>
                <a:latin typeface="Courier New"/>
              </a:rPr>
              <a:t>q[:]</a:t>
            </a:r>
            <a:r>
              <a:rPr sz="2200"/>
              <a:t>    όλη η λίστα (αντίγραφο)</a:t>
            </a:r>
          </a:p>
          <a:p>
            <a:pPr/>
            <a:r>
              <a:rPr sz="2200" b="1">
                <a:solidFill>
                  <a:srgbClr val="1B2F6B"/>
                </a:solidFill>
              </a:rPr>
              <a:t>Χρήσιμος κανόνας</a:t>
            </a:r>
          </a:p>
          <a:p>
            <a:pPr lvl="1"/>
            <a:r>
              <a:rPr sz="1900"/>
              <a:t>x[:n] δίνει τα πρώτα n στοιχεία</a:t>
            </a:r>
          </a:p>
          <a:p>
            <a:pPr lvl="1"/>
            <a:r>
              <a:rPr sz="1900"/>
              <a:t>x[-n:] δίνει τα τελευταία n στοιχεία</a:t>
            </a:r>
          </a:p>
          <a:p>
            <a:pPr lvl="1"/>
            <a:r>
              <a:rPr sz="1900"/>
              <a:t>x[:n] + x[n:] ξαναδίνει ολόκληρη τη λίστα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2743200"/>
            <a:ext cx="7452360" cy="3044952"/>
          </a:xfrm>
          <a:prstGeom prst="roundRect">
            <a:avLst>
              <a:gd name="adj" fmla="val 5000"/>
            </a:avLst>
          </a:prstGeom>
          <a:solidFill>
            <a:srgbClr val="14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2852928"/>
            <a:ext cx="6903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9C8FC"/>
                </a:solidFill>
                <a:latin typeface="Courier New"/>
              </a:rPr>
              <a:t>script.py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3200400"/>
            <a:ext cx="6903720" cy="2496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20">
                <a:solidFill>
                  <a:srgbClr val="F4F6FF"/>
                </a:solidFill>
                <a:latin typeface="Courier New"/>
              </a:rPr>
              <a:t>q = ["Q1", "Q2", "Q3", "Q4"]</a:t>
            </a:r>
          </a:p>
          <a:p>
            <a:r>
              <a:rPr sz="1920">
                <a:solidFill>
                  <a:srgbClr val="F4F6FF"/>
                </a:solidFill>
                <a:latin typeface="Courier New"/>
              </a:rPr>
              <a:t> </a:t>
            </a:r>
          </a:p>
          <a:p>
            <a:r>
              <a:rPr sz="1920">
                <a:solidFill>
                  <a:srgbClr val="F4F6FF"/>
                </a:solidFill>
                <a:latin typeface="Courier New"/>
              </a:rPr>
              <a:t>print(q[:2])</a:t>
            </a:r>
          </a:p>
          <a:p>
            <a:r>
              <a:rPr sz="1920">
                <a:solidFill>
                  <a:srgbClr val="F4F6FF"/>
                </a:solidFill>
                <a:latin typeface="Courier New"/>
              </a:rPr>
              <a:t>print(q[2:])</a:t>
            </a:r>
          </a:p>
          <a:p>
            <a:r>
              <a:rPr sz="1920">
                <a:solidFill>
                  <a:srgbClr val="F4F6FF"/>
                </a:solidFill>
                <a:latin typeface="Courier New"/>
              </a:rPr>
              <a:t>print(q[:])</a:t>
            </a:r>
          </a:p>
          <a:p>
            <a:r>
              <a:rPr sz="1920">
                <a:solidFill>
                  <a:srgbClr val="F4F6FF"/>
                </a:solidFill>
                <a:latin typeface="Courier New"/>
              </a:rPr>
              <a:t>print(q[-2:])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92640" y="5925312"/>
            <a:ext cx="7452360" cy="2197608"/>
          </a:xfrm>
          <a:prstGeom prst="roundRect">
            <a:avLst>
              <a:gd name="adj" fmla="val 5000"/>
            </a:avLst>
          </a:prstGeom>
          <a:solidFill>
            <a:srgbClr val="EEF1FE"/>
          </a:solidFill>
          <a:ln w="19050">
            <a:solidFill>
              <a:srgbClr val="B9C8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6016752"/>
            <a:ext cx="6903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5A6385"/>
                </a:solidFill>
                <a:latin typeface="Courier New"/>
              </a:rPr>
              <a:t>Έξοδος (output)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36792"/>
            <a:ext cx="6903720" cy="1740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20">
                <a:solidFill>
                  <a:srgbClr val="1B2F6B"/>
                </a:solidFill>
                <a:latin typeface="Courier New"/>
              </a:rPr>
              <a:t>['Q1', 'Q2']</a:t>
            </a:r>
          </a:p>
          <a:p>
            <a:r>
              <a:rPr sz="1920">
                <a:solidFill>
                  <a:srgbClr val="1B2F6B"/>
                </a:solidFill>
                <a:latin typeface="Courier New"/>
              </a:rPr>
              <a:t>['Q3', 'Q4']</a:t>
            </a:r>
          </a:p>
          <a:p>
            <a:r>
              <a:rPr sz="1920">
                <a:solidFill>
                  <a:srgbClr val="1B2F6B"/>
                </a:solidFill>
                <a:latin typeface="Courier New"/>
              </a:rPr>
              <a:t>['Q1', 'Q2', 'Q3', 'Q4']</a:t>
            </a:r>
          </a:p>
          <a:p>
            <a:r>
              <a:rPr sz="1920">
                <a:solidFill>
                  <a:srgbClr val="1B2F6B"/>
                </a:solidFill>
                <a:latin typeface="Courier New"/>
              </a:rPr>
              <a:t>['Q3', 'Q4']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Άσκηση: πρώτο και δεύτερο εξάμηνο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half"/>
          </p:nvPr>
        </p:nvSpPr>
        <p:spPr/>
        <p:txBody>
          <a:bodyPr/>
          <a:lstStyle/>
          <a:p>
            <a:pPr/>
            <a:r>
              <a:rPr sz="2300" b="1">
                <a:solidFill>
                  <a:srgbClr val="1B2F6B"/>
                </a:solidFill>
              </a:rPr>
              <a:t>Ζητούμενο</a:t>
            </a:r>
          </a:p>
          <a:p>
            <a:pPr lvl="1"/>
            <a:r>
              <a:rPr sz="1800"/>
              <a:t>h1: οι πωλήσεις των 6 πρώτων μηνών</a:t>
            </a:r>
          </a:p>
          <a:p>
            <a:pPr lvl="1"/>
            <a:r>
              <a:rPr sz="1800"/>
              <a:t>h2: οι πωλήσεις των 6 τελευταίων</a:t>
            </a:r>
          </a:p>
          <a:p>
            <a:pPr lvl="1"/>
            <a:r>
              <a:rPr sz="1800"/>
              <a:t>Τύπωσε και τις δύο λίστες και το σύνολο κάθε εξαμήνου</a:t>
            </a:r>
          </a:p>
          <a:p>
            <a:pPr/>
            <a:r>
              <a:rPr sz="2300" b="1">
                <a:solidFill>
                  <a:srgbClr val="1B2F6B"/>
                </a:solidFill>
              </a:rPr>
              <a:t>Δύο τρόποι</a:t>
            </a:r>
          </a:p>
          <a:p>
            <a:pPr lvl="1"/>
            <a:r>
              <a:rPr sz="1800">
                <a:solidFill>
                  <a:srgbClr val="1B2F6B"/>
                </a:solidFill>
                <a:latin typeface="Courier New"/>
              </a:rPr>
              <a:t>sales[0:6]</a:t>
            </a:r>
            <a:r>
              <a:rPr sz="1800"/>
              <a:t>  ή απλούστερα  </a:t>
            </a:r>
            <a:r>
              <a:rPr sz="1800">
                <a:solidFill>
                  <a:srgbClr val="1B2F6B"/>
                </a:solidFill>
                <a:latin typeface="Courier New"/>
              </a:rPr>
              <a:t>sales[:6]</a:t>
            </a:r>
          </a:p>
          <a:p>
            <a:pPr lvl="1"/>
            <a:r>
              <a:rPr sz="1800">
                <a:solidFill>
                  <a:srgbClr val="1B2F6B"/>
                </a:solidFill>
                <a:latin typeface="Courier New"/>
              </a:rPr>
              <a:t>sales[6:12]</a:t>
            </a:r>
            <a:r>
              <a:rPr sz="1800"/>
              <a:t>  ή απλούστερα  </a:t>
            </a:r>
            <a:r>
              <a:rPr sz="1800">
                <a:solidFill>
                  <a:srgbClr val="1B2F6B"/>
                </a:solidFill>
                <a:latin typeface="Courier New"/>
              </a:rPr>
              <a:t>sales[6:]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2743200"/>
            <a:ext cx="7452360" cy="3753612"/>
          </a:xfrm>
          <a:prstGeom prst="roundRect">
            <a:avLst>
              <a:gd name="adj" fmla="val 5000"/>
            </a:avLst>
          </a:prstGeom>
          <a:solidFill>
            <a:srgbClr val="14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2852928"/>
            <a:ext cx="6903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9C8FC"/>
                </a:solidFill>
                <a:latin typeface="Courier New"/>
              </a:rPr>
              <a:t>script.py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3200400"/>
            <a:ext cx="6903720" cy="32049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80">
                <a:solidFill>
                  <a:srgbClr val="F4F6FF"/>
                </a:solidFill>
                <a:latin typeface="Courier New"/>
              </a:rPr>
              <a:t>sales = [1200, 1550, 1000, 1800, 1650, 1400,</a:t>
            </a:r>
          </a:p>
          <a:p>
            <a:r>
              <a:rPr sz="1680">
                <a:solidFill>
                  <a:srgbClr val="F4F6FF"/>
                </a:solidFill>
                <a:latin typeface="Courier New"/>
              </a:rPr>
              <a:t>         1900, 2100, 1700, 1600, 2300, 2800]</a:t>
            </a:r>
          </a:p>
          <a:p>
            <a:r>
              <a:rPr sz="1680">
                <a:solidFill>
                  <a:srgbClr val="F4F6FF"/>
                </a:solidFill>
                <a:latin typeface="Courier New"/>
              </a:rPr>
              <a:t> </a:t>
            </a:r>
          </a:p>
          <a:p>
            <a:r>
              <a:rPr sz="1680">
                <a:solidFill>
                  <a:srgbClr val="F4F6FF"/>
                </a:solidFill>
                <a:latin typeface="Courier New"/>
              </a:rPr>
              <a:t>h1 = sales[:6]</a:t>
            </a:r>
          </a:p>
          <a:p>
            <a:r>
              <a:rPr sz="1680">
                <a:solidFill>
                  <a:srgbClr val="F4F6FF"/>
                </a:solidFill>
                <a:latin typeface="Courier New"/>
              </a:rPr>
              <a:t>h2 = sales[6:]</a:t>
            </a:r>
          </a:p>
          <a:p>
            <a:r>
              <a:rPr sz="1680">
                <a:solidFill>
                  <a:srgbClr val="F4F6FF"/>
                </a:solidFill>
                <a:latin typeface="Courier New"/>
              </a:rPr>
              <a:t> </a:t>
            </a:r>
          </a:p>
          <a:p>
            <a:r>
              <a:rPr sz="1680">
                <a:solidFill>
                  <a:srgbClr val="F4F6FF"/>
                </a:solidFill>
                <a:latin typeface="Courier New"/>
              </a:rPr>
              <a:t>print(h1)</a:t>
            </a:r>
          </a:p>
          <a:p>
            <a:r>
              <a:rPr sz="1680">
                <a:solidFill>
                  <a:srgbClr val="F4F6FF"/>
                </a:solidFill>
                <a:latin typeface="Courier New"/>
              </a:rPr>
              <a:t>print(h2)</a:t>
            </a:r>
          </a:p>
          <a:p>
            <a:r>
              <a:rPr sz="1680">
                <a:solidFill>
                  <a:srgbClr val="F4F6FF"/>
                </a:solidFill>
                <a:latin typeface="Courier New"/>
              </a:rPr>
              <a:t>print(sum(h1), sum(h2))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92640" y="6633972"/>
            <a:ext cx="7452360" cy="1677924"/>
          </a:xfrm>
          <a:prstGeom prst="roundRect">
            <a:avLst>
              <a:gd name="adj" fmla="val 5000"/>
            </a:avLst>
          </a:prstGeom>
          <a:solidFill>
            <a:srgbClr val="EEF1FE"/>
          </a:solidFill>
          <a:ln w="19050">
            <a:solidFill>
              <a:srgbClr val="B9C8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6725412"/>
            <a:ext cx="6903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5A6385"/>
                </a:solidFill>
                <a:latin typeface="Courier New"/>
              </a:rPr>
              <a:t>Έξοδος (output)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7045452"/>
            <a:ext cx="6903720" cy="12207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80">
                <a:solidFill>
                  <a:srgbClr val="1B2F6B"/>
                </a:solidFill>
                <a:latin typeface="Courier New"/>
              </a:rPr>
              <a:t>[1200, 1550, 1000, 1800, 1650, 1400]</a:t>
            </a:r>
          </a:p>
          <a:p>
            <a:r>
              <a:rPr sz="1680">
                <a:solidFill>
                  <a:srgbClr val="1B2F6B"/>
                </a:solidFill>
                <a:latin typeface="Courier New"/>
              </a:rPr>
              <a:t>[1900, 2100, 1700, 1600, 2300, 2800]</a:t>
            </a:r>
          </a:p>
          <a:p>
            <a:r>
              <a:rPr sz="1680">
                <a:solidFill>
                  <a:srgbClr val="1B2F6B"/>
                </a:solidFill>
                <a:latin typeface="Courier New"/>
              </a:rPr>
              <a:t>8600 12400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Επιλογή σε λίστες από λίστες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half"/>
          </p:nvPr>
        </p:nvSpPr>
        <p:spPr/>
        <p:txBody>
          <a:bodyPr/>
          <a:lstStyle/>
          <a:p>
            <a:pPr/>
            <a:r>
              <a:rPr sz="2300" b="1">
                <a:solidFill>
                  <a:srgbClr val="1B2F6B"/>
                </a:solidFill>
              </a:rPr>
              <a:t>Ίδια τεχνική, περισσότερες αγκύλες</a:t>
            </a:r>
          </a:p>
          <a:p>
            <a:pPr lvl="1"/>
            <a:r>
              <a:rPr sz="1900">
                <a:solidFill>
                  <a:srgbClr val="1B2F6B"/>
                </a:solidFill>
                <a:latin typeface="Courier New"/>
              </a:rPr>
              <a:t>sales[2]</a:t>
            </a:r>
            <a:r>
              <a:rPr sz="1900"/>
              <a:t>  →  η τρίτη εσωτερική λίστα (Q3)</a:t>
            </a:r>
          </a:p>
          <a:p>
            <a:pPr lvl="1"/>
            <a:r>
              <a:rPr sz="1900">
                <a:solidFill>
                  <a:srgbClr val="1B2F6B"/>
                </a:solidFill>
                <a:latin typeface="Courier New"/>
              </a:rPr>
              <a:t>sales[2][0]</a:t>
            </a:r>
            <a:r>
              <a:rPr sz="1900"/>
              <a:t>  →  το πρώτο στοιχείο της (ο πρώτος μήνας του Q3)</a:t>
            </a:r>
          </a:p>
          <a:p>
            <a:pPr lvl="1"/>
            <a:r>
              <a:rPr sz="1900">
                <a:solidFill>
                  <a:srgbClr val="1B2F6B"/>
                </a:solidFill>
                <a:latin typeface="Courier New"/>
              </a:rPr>
              <a:t>sales[2][:2]</a:t>
            </a:r>
            <a:r>
              <a:rPr sz="1900"/>
              <a:t>  →  τα δύο πρώτα στοιχεία της</a:t>
            </a:r>
          </a:p>
          <a:p>
            <a:pPr/>
            <a:r>
              <a:rPr sz="2300" b="1">
                <a:solidFill>
                  <a:srgbClr val="1B2F6B"/>
                </a:solidFill>
              </a:rPr>
              <a:t>Διαβάζεται βήμα-βήμα</a:t>
            </a:r>
          </a:p>
          <a:p>
            <a:pPr lvl="1"/>
            <a:r>
              <a:rPr sz="1900"/>
              <a:t>Πρώτα επιλέγουμε γραμμή, μετά μέσα στη γραμμή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2743200"/>
            <a:ext cx="7452360" cy="3800855"/>
          </a:xfrm>
          <a:prstGeom prst="roundRect">
            <a:avLst>
              <a:gd name="adj" fmla="val 5000"/>
            </a:avLst>
          </a:prstGeom>
          <a:solidFill>
            <a:srgbClr val="14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2852928"/>
            <a:ext cx="6903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9C8FC"/>
                </a:solidFill>
                <a:latin typeface="Courier New"/>
              </a:rPr>
              <a:t>script.py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3200400"/>
            <a:ext cx="6903720" cy="3252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20">
                <a:solidFill>
                  <a:srgbClr val="9FB3E8"/>
                </a:solidFill>
                <a:latin typeface="Courier New"/>
              </a:rPr>
              <a:t># Μία λίστα ανά τρίμηνο, τρεις μήνες η καθεμία</a:t>
            </a:r>
          </a:p>
          <a:p>
            <a:r>
              <a:rPr sz="1920">
                <a:solidFill>
                  <a:srgbClr val="F4F6FF"/>
                </a:solidFill>
                <a:latin typeface="Courier New"/>
              </a:rPr>
              <a:t>sales = [[1200, 1550, 1000],</a:t>
            </a:r>
          </a:p>
          <a:p>
            <a:r>
              <a:rPr sz="1920">
                <a:solidFill>
                  <a:srgbClr val="F4F6FF"/>
                </a:solidFill>
                <a:latin typeface="Courier New"/>
              </a:rPr>
              <a:t>         [1800, 1650, 1400],</a:t>
            </a:r>
          </a:p>
          <a:p>
            <a:r>
              <a:rPr sz="1920">
                <a:solidFill>
                  <a:srgbClr val="F4F6FF"/>
                </a:solidFill>
                <a:latin typeface="Courier New"/>
              </a:rPr>
              <a:t>         [1900, 2100, 1700]]</a:t>
            </a:r>
          </a:p>
          <a:p>
            <a:r>
              <a:rPr sz="1920">
                <a:solidFill>
                  <a:srgbClr val="F4F6FF"/>
                </a:solidFill>
                <a:latin typeface="Courier New"/>
              </a:rPr>
              <a:t> </a:t>
            </a:r>
          </a:p>
          <a:p>
            <a:r>
              <a:rPr sz="1920">
                <a:solidFill>
                  <a:srgbClr val="F4F6FF"/>
                </a:solidFill>
                <a:latin typeface="Courier New"/>
              </a:rPr>
              <a:t>print(sales[2])</a:t>
            </a:r>
          </a:p>
          <a:p>
            <a:r>
              <a:rPr sz="1920">
                <a:solidFill>
                  <a:srgbClr val="F4F6FF"/>
                </a:solidFill>
                <a:latin typeface="Courier New"/>
              </a:rPr>
              <a:t>print(sales[2][0])</a:t>
            </a:r>
          </a:p>
          <a:p>
            <a:r>
              <a:rPr sz="1920">
                <a:solidFill>
                  <a:srgbClr val="F4F6FF"/>
                </a:solidFill>
                <a:latin typeface="Courier New"/>
              </a:rPr>
              <a:t>print(sales[2][:2])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92640" y="6681216"/>
            <a:ext cx="7452360" cy="1819656"/>
          </a:xfrm>
          <a:prstGeom prst="roundRect">
            <a:avLst>
              <a:gd name="adj" fmla="val 5000"/>
            </a:avLst>
          </a:prstGeom>
          <a:solidFill>
            <a:srgbClr val="EEF1FE"/>
          </a:solidFill>
          <a:ln w="19050">
            <a:solidFill>
              <a:srgbClr val="B9C8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6772656"/>
            <a:ext cx="6903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5A6385"/>
                </a:solidFill>
                <a:latin typeface="Courier New"/>
              </a:rPr>
              <a:t>Έξοδος (output)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7092696"/>
            <a:ext cx="6903720" cy="1362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20">
                <a:solidFill>
                  <a:srgbClr val="1B2F6B"/>
                </a:solidFill>
                <a:latin typeface="Courier New"/>
              </a:rPr>
              <a:t>[1900, 2100, 1700]</a:t>
            </a:r>
          </a:p>
          <a:p>
            <a:r>
              <a:rPr sz="1920">
                <a:solidFill>
                  <a:srgbClr val="1B2F6B"/>
                </a:solidFill>
                <a:latin typeface="Courier New"/>
              </a:rPr>
              <a:t>1900</a:t>
            </a:r>
          </a:p>
          <a:p>
            <a:r>
              <a:rPr sz="1920">
                <a:solidFill>
                  <a:srgbClr val="1B2F6B"/>
                </a:solidFill>
                <a:latin typeface="Courier New"/>
              </a:rPr>
              <a:t>[1900, 2100]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Αλλαγή στοιχείων (changing elements)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half"/>
          </p:nvPr>
        </p:nvSpPr>
        <p:spPr/>
        <p:txBody>
          <a:bodyPr/>
          <a:lstStyle/>
          <a:p>
            <a:pPr/>
            <a:r>
              <a:rPr sz="2300" b="1">
                <a:solidFill>
                  <a:srgbClr val="1B2F6B"/>
                </a:solidFill>
              </a:rPr>
              <a:t>Επιλογή + ανάθεση</a:t>
            </a:r>
          </a:p>
          <a:p>
            <a:pPr lvl="1"/>
            <a:r>
              <a:rPr sz="1800">
                <a:solidFill>
                  <a:srgbClr val="1B2F6B"/>
                </a:solidFill>
                <a:latin typeface="Courier New"/>
              </a:rPr>
              <a:t>sales[1] = 1600</a:t>
            </a:r>
            <a:r>
              <a:rPr sz="1800"/>
              <a:t>  διορθώνει το δεύτερο στοιχείο</a:t>
            </a:r>
          </a:p>
          <a:p>
            <a:pPr/>
            <a:r>
              <a:rPr sz="2300" b="1">
                <a:solidFill>
                  <a:srgbClr val="1B2F6B"/>
                </a:solidFill>
              </a:rPr>
              <a:t>Και σε τμήμα</a:t>
            </a:r>
          </a:p>
          <a:p>
            <a:pPr lvl="1"/>
            <a:r>
              <a:rPr sz="1800">
                <a:solidFill>
                  <a:srgbClr val="1B2F6B"/>
                </a:solidFill>
                <a:latin typeface="Courier New"/>
              </a:rPr>
              <a:t>sales[2:] = [1100, 1900]</a:t>
            </a:r>
            <a:r>
              <a:rPr sz="1800"/>
              <a:t>  αντικαθιστά από τον δείκτη 2 ως το τέλος</a:t>
            </a:r>
          </a:p>
          <a:p>
            <a:pPr/>
            <a:r>
              <a:rPr sz="2300" b="1">
                <a:solidFill>
                  <a:srgbClr val="1B2F6B"/>
                </a:solidFill>
              </a:rPr>
              <a:t>Οι λίστες είναι μεταβλητές (mutable)</a:t>
            </a:r>
          </a:p>
          <a:p>
            <a:pPr lvl="1"/>
            <a:r>
              <a:rPr sz="1800"/>
              <a:t>Αλλάζουν «επί τόπου», χωρίς να φτιάξουμε νέα λίστα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2743200"/>
            <a:ext cx="7452360" cy="4178807"/>
          </a:xfrm>
          <a:prstGeom prst="roundRect">
            <a:avLst>
              <a:gd name="adj" fmla="val 5000"/>
            </a:avLst>
          </a:prstGeom>
          <a:solidFill>
            <a:srgbClr val="14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2852928"/>
            <a:ext cx="6903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9C8FC"/>
                </a:solidFill>
                <a:latin typeface="Courier New"/>
              </a:rPr>
              <a:t>script.py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3200400"/>
            <a:ext cx="6903720" cy="36301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20">
                <a:solidFill>
                  <a:srgbClr val="F4F6FF"/>
                </a:solidFill>
                <a:latin typeface="Courier New"/>
              </a:rPr>
              <a:t>sales = [1200, 1550, 1000, 1800]</a:t>
            </a:r>
          </a:p>
          <a:p>
            <a:r>
              <a:rPr sz="1920">
                <a:solidFill>
                  <a:srgbClr val="F4F6FF"/>
                </a:solidFill>
                <a:latin typeface="Courier New"/>
              </a:rPr>
              <a:t> </a:t>
            </a:r>
          </a:p>
          <a:p>
            <a:r>
              <a:rPr sz="1920">
                <a:solidFill>
                  <a:srgbClr val="9FB3E8"/>
                </a:solidFill>
                <a:latin typeface="Courier New"/>
              </a:rPr>
              <a:t># Διόρθωση του Φεβρουαρίου</a:t>
            </a:r>
          </a:p>
          <a:p>
            <a:r>
              <a:rPr sz="1920">
                <a:solidFill>
                  <a:srgbClr val="F4F6FF"/>
                </a:solidFill>
                <a:latin typeface="Courier New"/>
              </a:rPr>
              <a:t>sales[1] = 1600</a:t>
            </a:r>
          </a:p>
          <a:p>
            <a:r>
              <a:rPr sz="1920">
                <a:solidFill>
                  <a:srgbClr val="F4F6FF"/>
                </a:solidFill>
                <a:latin typeface="Courier New"/>
              </a:rPr>
              <a:t>print(sales)</a:t>
            </a:r>
          </a:p>
          <a:p>
            <a:r>
              <a:rPr sz="1920">
                <a:solidFill>
                  <a:srgbClr val="F4F6FF"/>
                </a:solidFill>
                <a:latin typeface="Courier New"/>
              </a:rPr>
              <a:t> </a:t>
            </a:r>
          </a:p>
          <a:p>
            <a:r>
              <a:rPr sz="1920">
                <a:solidFill>
                  <a:srgbClr val="9FB3E8"/>
                </a:solidFill>
                <a:latin typeface="Courier New"/>
              </a:rPr>
              <a:t># Διόρθωση Μαρτίου και Απριλίου μαζί</a:t>
            </a:r>
          </a:p>
          <a:p>
            <a:r>
              <a:rPr sz="1920">
                <a:solidFill>
                  <a:srgbClr val="F4F6FF"/>
                </a:solidFill>
                <a:latin typeface="Courier New"/>
              </a:rPr>
              <a:t>sales[2:] = [1100, 1900]</a:t>
            </a:r>
          </a:p>
          <a:p>
            <a:r>
              <a:rPr sz="1920">
                <a:solidFill>
                  <a:srgbClr val="F4F6FF"/>
                </a:solidFill>
                <a:latin typeface="Courier New"/>
              </a:rPr>
              <a:t>print(sales)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92640" y="7059168"/>
            <a:ext cx="7452360" cy="1441704"/>
          </a:xfrm>
          <a:prstGeom prst="roundRect">
            <a:avLst>
              <a:gd name="adj" fmla="val 5000"/>
            </a:avLst>
          </a:prstGeom>
          <a:solidFill>
            <a:srgbClr val="EEF1FE"/>
          </a:solidFill>
          <a:ln w="19050">
            <a:solidFill>
              <a:srgbClr val="B9C8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7150607"/>
            <a:ext cx="6903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5A6385"/>
                </a:solidFill>
                <a:latin typeface="Courier New"/>
              </a:rPr>
              <a:t>Έξοδος (output)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7470648"/>
            <a:ext cx="6903720" cy="984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20">
                <a:solidFill>
                  <a:srgbClr val="1B2F6B"/>
                </a:solidFill>
                <a:latin typeface="Courier New"/>
              </a:rPr>
              <a:t>[1200, 1600, 1000, 1800]</a:t>
            </a:r>
          </a:p>
          <a:p>
            <a:r>
              <a:rPr sz="1920">
                <a:solidFill>
                  <a:srgbClr val="1B2F6B"/>
                </a:solidFill>
                <a:latin typeface="Courier New"/>
              </a:rPr>
              <a:t>[1200, 1600, 1100, 1900]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Προσθήκη και αφαίρεση στοιχείων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half"/>
          </p:nvPr>
        </p:nvSpPr>
        <p:spPr/>
        <p:txBody>
          <a:bodyPr/>
          <a:lstStyle/>
          <a:p>
            <a:pPr/>
            <a:r>
              <a:rPr sz="2300" b="1">
                <a:solidFill>
                  <a:srgbClr val="1B2F6B"/>
                </a:solidFill>
              </a:rPr>
              <a:t>Προσθήκη με +</a:t>
            </a:r>
          </a:p>
          <a:p>
            <a:pPr lvl="1"/>
            <a:r>
              <a:rPr sz="1800">
                <a:solidFill>
                  <a:srgbClr val="1B2F6B"/>
                </a:solidFill>
                <a:latin typeface="Courier New"/>
              </a:rPr>
              <a:t>y = q + ["FY"]</a:t>
            </a:r>
            <a:r>
              <a:rPr sz="1800"/>
              <a:t>  νέα λίστα, η q δεν αλλάζει</a:t>
            </a:r>
          </a:p>
          <a:p>
            <a:pPr/>
            <a:r>
              <a:rPr sz="2300" b="1">
                <a:solidFill>
                  <a:srgbClr val="1B2F6B"/>
                </a:solidFill>
              </a:rPr>
              <a:t>Διαγραφή με del</a:t>
            </a:r>
          </a:p>
          <a:p>
            <a:pPr lvl="1"/>
            <a:r>
              <a:rPr sz="1800">
                <a:solidFill>
                  <a:srgbClr val="1B2F6B"/>
                </a:solidFill>
                <a:latin typeface="Courier New"/>
              </a:rPr>
              <a:t>del(q[1])</a:t>
            </a:r>
            <a:r>
              <a:rPr sz="1800"/>
              <a:t>  διαγράφει το στοιχείο στον δείκτη 1</a:t>
            </a:r>
          </a:p>
          <a:p>
            <a:pPr lvl="1"/>
            <a:r>
              <a:rPr sz="1800"/>
              <a:t>Προσοχή: μετά τη διαγραφή οι δείκτες «μετακινούνται»</a:t>
            </a:r>
          </a:p>
          <a:p>
            <a:pPr/>
            <a:r>
              <a:rPr sz="2300" b="1">
                <a:solidFill>
                  <a:srgbClr val="1B2F6B"/>
                </a:solidFill>
              </a:rPr>
              <a:t>Προσθήκη στο τέλος: append()</a:t>
            </a:r>
          </a:p>
          <a:p>
            <a:pPr lvl="1"/>
            <a:r>
              <a:rPr sz="1800">
                <a:solidFill>
                  <a:srgbClr val="1B2F6B"/>
                </a:solidFill>
                <a:latin typeface="Courier New"/>
              </a:rPr>
              <a:t>q.append("FY")</a:t>
            </a:r>
            <a:r>
              <a:rPr sz="1800"/>
              <a:t>  θα το δούμε στις μεθόδους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2743200"/>
            <a:ext cx="7452360" cy="4178807"/>
          </a:xfrm>
          <a:prstGeom prst="roundRect">
            <a:avLst>
              <a:gd name="adj" fmla="val 5000"/>
            </a:avLst>
          </a:prstGeom>
          <a:solidFill>
            <a:srgbClr val="14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2852928"/>
            <a:ext cx="6903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9C8FC"/>
                </a:solidFill>
                <a:latin typeface="Courier New"/>
              </a:rPr>
              <a:t>script.py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3200400"/>
            <a:ext cx="6903720" cy="36301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20">
                <a:solidFill>
                  <a:srgbClr val="F4F6FF"/>
                </a:solidFill>
                <a:latin typeface="Courier New"/>
              </a:rPr>
              <a:t>q = ["Q1", "Q2", "Q3", "Q4"]</a:t>
            </a:r>
          </a:p>
          <a:p>
            <a:r>
              <a:rPr sz="1920">
                <a:solidFill>
                  <a:srgbClr val="F4F6FF"/>
                </a:solidFill>
                <a:latin typeface="Courier New"/>
              </a:rPr>
              <a:t>y = q + ["FY"]   </a:t>
            </a:r>
            <a:r>
              <a:rPr sz="1920">
                <a:solidFill>
                  <a:srgbClr val="9FB3E8"/>
                </a:solidFill>
                <a:latin typeface="Courier New"/>
              </a:rPr>
              <a:t># FY = όλο το έτος</a:t>
            </a:r>
          </a:p>
          <a:p>
            <a:r>
              <a:rPr sz="1920">
                <a:solidFill>
                  <a:srgbClr val="F4F6FF"/>
                </a:solidFill>
                <a:latin typeface="Courier New"/>
              </a:rPr>
              <a:t>print(y)</a:t>
            </a:r>
          </a:p>
          <a:p>
            <a:r>
              <a:rPr sz="1920">
                <a:solidFill>
                  <a:srgbClr val="F4F6FF"/>
                </a:solidFill>
                <a:latin typeface="Courier New"/>
              </a:rPr>
              <a:t> </a:t>
            </a:r>
          </a:p>
          <a:p>
            <a:r>
              <a:rPr sz="1920">
                <a:solidFill>
                  <a:srgbClr val="F4F6FF"/>
                </a:solidFill>
                <a:latin typeface="Courier New"/>
              </a:rPr>
              <a:t>del(q[1])</a:t>
            </a:r>
          </a:p>
          <a:p>
            <a:r>
              <a:rPr sz="1920">
                <a:solidFill>
                  <a:srgbClr val="F4F6FF"/>
                </a:solidFill>
                <a:latin typeface="Courier New"/>
              </a:rPr>
              <a:t>print(q)</a:t>
            </a:r>
          </a:p>
          <a:p>
            <a:r>
              <a:rPr sz="1920">
                <a:solidFill>
                  <a:srgbClr val="F4F6FF"/>
                </a:solidFill>
                <a:latin typeface="Courier New"/>
              </a:rPr>
              <a:t> </a:t>
            </a:r>
          </a:p>
          <a:p>
            <a:r>
              <a:rPr sz="1920">
                <a:solidFill>
                  <a:srgbClr val="F4F6FF"/>
                </a:solidFill>
                <a:latin typeface="Courier New"/>
              </a:rPr>
              <a:t>del(q[1:3])</a:t>
            </a:r>
          </a:p>
          <a:p>
            <a:r>
              <a:rPr sz="1920">
                <a:solidFill>
                  <a:srgbClr val="F4F6FF"/>
                </a:solidFill>
                <a:latin typeface="Courier New"/>
              </a:rPr>
              <a:t>print(q)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92640" y="7059168"/>
            <a:ext cx="7452360" cy="1819656"/>
          </a:xfrm>
          <a:prstGeom prst="roundRect">
            <a:avLst>
              <a:gd name="adj" fmla="val 5000"/>
            </a:avLst>
          </a:prstGeom>
          <a:solidFill>
            <a:srgbClr val="EEF1FE"/>
          </a:solidFill>
          <a:ln w="19050">
            <a:solidFill>
              <a:srgbClr val="B9C8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7150607"/>
            <a:ext cx="6903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5A6385"/>
                </a:solidFill>
                <a:latin typeface="Courier New"/>
              </a:rPr>
              <a:t>Έξοδος (output)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7470648"/>
            <a:ext cx="6903720" cy="1362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20">
                <a:solidFill>
                  <a:srgbClr val="1B2F6B"/>
                </a:solidFill>
                <a:latin typeface="Courier New"/>
              </a:rPr>
              <a:t>['Q1', 'Q2', 'Q3', 'Q4', 'FY']</a:t>
            </a:r>
          </a:p>
          <a:p>
            <a:r>
              <a:rPr sz="1920">
                <a:solidFill>
                  <a:srgbClr val="1B2F6B"/>
                </a:solidFill>
                <a:latin typeface="Courier New"/>
              </a:rPr>
              <a:t>['Q1', 'Q3', 'Q4']</a:t>
            </a:r>
          </a:p>
          <a:p>
            <a:r>
              <a:rPr sz="1920">
                <a:solidFill>
                  <a:srgbClr val="1B2F6B"/>
                </a:solidFill>
                <a:latin typeface="Courier New"/>
              </a:rPr>
              <a:t>['Q1']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Προσοχή: αντίγραφο ή το ίδιο αντικείμενο;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half"/>
          </p:nvPr>
        </p:nvSpPr>
        <p:spPr/>
        <p:txBody>
          <a:bodyPr/>
          <a:lstStyle/>
          <a:p>
            <a:pPr/>
            <a:r>
              <a:rPr sz="2200">
                <a:solidFill>
                  <a:srgbClr val="1B2F6B"/>
                </a:solidFill>
                <a:latin typeface="Courier New"/>
              </a:rPr>
              <a:t>backup = sales</a:t>
            </a:r>
            <a:r>
              <a:rPr sz="2200"/>
              <a:t>  δεν φτιάχνει νέα λίστα</a:t>
            </a:r>
          </a:p>
          <a:p>
            <a:pPr lvl="1"/>
            <a:r>
              <a:rPr sz="1800"/>
              <a:t>Τα sales και backup δείχνουν στην ίδια λίστα στη μνήμη</a:t>
            </a:r>
          </a:p>
          <a:p>
            <a:pPr lvl="1"/>
            <a:r>
              <a:rPr sz="1800"/>
              <a:t>Αλλαγή μέσω του backup φαίνεται και στο sales</a:t>
            </a:r>
          </a:p>
          <a:p>
            <a:pPr/>
            <a:r>
              <a:rPr sz="2200" b="1">
                <a:solidFill>
                  <a:srgbClr val="1B2F6B"/>
                </a:solidFill>
              </a:rPr>
              <a:t>Πραγματικό αντίγραφο</a:t>
            </a:r>
          </a:p>
          <a:p>
            <a:pPr lvl="1"/>
            <a:r>
              <a:rPr sz="1800">
                <a:solidFill>
                  <a:srgbClr val="1B2F6B"/>
                </a:solidFill>
                <a:latin typeface="Courier New"/>
              </a:rPr>
              <a:t>backup = list(sales)</a:t>
            </a:r>
            <a:r>
              <a:rPr sz="1800"/>
              <a:t>   ή   </a:t>
            </a:r>
            <a:r>
              <a:rPr sz="1800">
                <a:solidFill>
                  <a:srgbClr val="1B2F6B"/>
                </a:solidFill>
                <a:latin typeface="Courier New"/>
              </a:rPr>
              <a:t>backup = sales[:]</a:t>
            </a:r>
          </a:p>
          <a:p>
            <a:pPr lvl="1"/>
            <a:r>
              <a:rPr sz="1800"/>
              <a:t>Τώρα είναι δύο ανεξάρτητες λίστες</a:t>
            </a:r>
          </a:p>
          <a:p>
            <a:pPr/>
            <a:r>
              <a:rPr sz="2200" b="1">
                <a:solidFill>
                  <a:srgbClr val="1B2F6B"/>
                </a:solidFill>
              </a:rPr>
              <a:t>Γιατί έχει σημασία;</a:t>
            </a:r>
          </a:p>
          <a:p>
            <a:pPr lvl="1"/>
            <a:r>
              <a:rPr sz="1800"/>
              <a:t>Συχνή πηγή «μυστήριων» σφαλμάτων όταν δουλεύουμε με δεδομένα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2743200"/>
            <a:ext cx="7452360" cy="4178807"/>
          </a:xfrm>
          <a:prstGeom prst="roundRect">
            <a:avLst>
              <a:gd name="adj" fmla="val 5000"/>
            </a:avLst>
          </a:prstGeom>
          <a:solidFill>
            <a:srgbClr val="14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2852928"/>
            <a:ext cx="6903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9C8FC"/>
                </a:solidFill>
                <a:latin typeface="Courier New"/>
              </a:rPr>
              <a:t>script.py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3200400"/>
            <a:ext cx="6903720" cy="36301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20">
                <a:solidFill>
                  <a:srgbClr val="F4F6FF"/>
                </a:solidFill>
                <a:latin typeface="Courier New"/>
              </a:rPr>
              <a:t>sales = [1200, 1550, 1000]</a:t>
            </a:r>
          </a:p>
          <a:p>
            <a:r>
              <a:rPr sz="1920">
                <a:solidFill>
                  <a:srgbClr val="F4F6FF"/>
                </a:solidFill>
                <a:latin typeface="Courier New"/>
              </a:rPr>
              <a:t>backup = sales          </a:t>
            </a:r>
            <a:r>
              <a:rPr sz="1920">
                <a:solidFill>
                  <a:srgbClr val="9FB3E8"/>
                </a:solidFill>
                <a:latin typeface="Courier New"/>
              </a:rPr>
              <a:t># ίδια λίστα</a:t>
            </a:r>
          </a:p>
          <a:p>
            <a:r>
              <a:rPr sz="1920">
                <a:solidFill>
                  <a:srgbClr val="F4F6FF"/>
                </a:solidFill>
                <a:latin typeface="Courier New"/>
              </a:rPr>
              <a:t>backup[0] = 0</a:t>
            </a:r>
          </a:p>
          <a:p>
            <a:r>
              <a:rPr sz="1920">
                <a:solidFill>
                  <a:srgbClr val="F4F6FF"/>
                </a:solidFill>
                <a:latin typeface="Courier New"/>
              </a:rPr>
              <a:t>print(sales)</a:t>
            </a:r>
          </a:p>
          <a:p>
            <a:r>
              <a:rPr sz="1920">
                <a:solidFill>
                  <a:srgbClr val="F4F6FF"/>
                </a:solidFill>
                <a:latin typeface="Courier New"/>
              </a:rPr>
              <a:t> </a:t>
            </a:r>
          </a:p>
          <a:p>
            <a:r>
              <a:rPr sz="1920">
                <a:solidFill>
                  <a:srgbClr val="F4F6FF"/>
                </a:solidFill>
                <a:latin typeface="Courier New"/>
              </a:rPr>
              <a:t>sales = [1200, 1550, 1000]</a:t>
            </a:r>
          </a:p>
          <a:p>
            <a:r>
              <a:rPr sz="1920">
                <a:solidFill>
                  <a:srgbClr val="F4F6FF"/>
                </a:solidFill>
                <a:latin typeface="Courier New"/>
              </a:rPr>
              <a:t>backup = list(sales)    </a:t>
            </a:r>
            <a:r>
              <a:rPr sz="1920">
                <a:solidFill>
                  <a:srgbClr val="9FB3E8"/>
                </a:solidFill>
                <a:latin typeface="Courier New"/>
              </a:rPr>
              <a:t># αντίγραφο</a:t>
            </a:r>
          </a:p>
          <a:p>
            <a:r>
              <a:rPr sz="1920">
                <a:solidFill>
                  <a:srgbClr val="F4F6FF"/>
                </a:solidFill>
                <a:latin typeface="Courier New"/>
              </a:rPr>
              <a:t>backup[0] = 0</a:t>
            </a:r>
          </a:p>
          <a:p>
            <a:r>
              <a:rPr sz="1920">
                <a:solidFill>
                  <a:srgbClr val="F4F6FF"/>
                </a:solidFill>
                <a:latin typeface="Courier New"/>
              </a:rPr>
              <a:t>print(sales)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92640" y="7059168"/>
            <a:ext cx="7452360" cy="1441704"/>
          </a:xfrm>
          <a:prstGeom prst="roundRect">
            <a:avLst>
              <a:gd name="adj" fmla="val 5000"/>
            </a:avLst>
          </a:prstGeom>
          <a:solidFill>
            <a:srgbClr val="EEF1FE"/>
          </a:solidFill>
          <a:ln w="19050">
            <a:solidFill>
              <a:srgbClr val="B9C8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7150607"/>
            <a:ext cx="6903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5A6385"/>
                </a:solidFill>
                <a:latin typeface="Courier New"/>
              </a:rPr>
              <a:t>Έξοδος (output)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7470648"/>
            <a:ext cx="6903720" cy="984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20">
                <a:solidFill>
                  <a:srgbClr val="1B2F6B"/>
                </a:solidFill>
                <a:latin typeface="Courier New"/>
              </a:rPr>
              <a:t>[0, 1550, 1000]</a:t>
            </a:r>
          </a:p>
          <a:p>
            <a:r>
              <a:rPr sz="1920">
                <a:solidFill>
                  <a:srgbClr val="1B2F6B"/>
                </a:solidFill>
                <a:latin typeface="Courier New"/>
              </a:rPr>
              <a:t>[1200, 1550, 1000]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001000" y="6903720"/>
            <a:ext cx="9528048" cy="1737360"/>
          </a:xfrm>
        </p:spPr>
        <p:txBody>
          <a:bodyPr/>
          <a:lstStyle/>
          <a:p>
            <a:r>
              <a:rPr sz="4400"/>
              <a:t>Συναρτήσεις, μέθοδοι, πακέτα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8001000" y="8915400"/>
            <a:ext cx="9217152" cy="914400"/>
          </a:xfrm>
        </p:spPr>
        <p:txBody>
          <a:bodyPr/>
          <a:lstStyle/>
          <a:p>
            <a:r>
              <a:t>Χρησιμοποιούμε έτοιμο κώδικα αντί να τον γράφουμε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Συναρτήσεις (functions): επαναχρησιμοποιήσιμος κώδικας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half"/>
          </p:nvPr>
        </p:nvSpPr>
        <p:spPr/>
        <p:txBody>
          <a:bodyPr/>
          <a:lstStyle/>
          <a:p>
            <a:pPr/>
            <a:r>
              <a:rPr sz="2300" b="1">
                <a:solidFill>
                  <a:srgbClr val="1B2F6B"/>
                </a:solidFill>
              </a:rPr>
              <a:t>Τι είναι</a:t>
            </a:r>
          </a:p>
          <a:p>
            <a:pPr lvl="1"/>
            <a:r>
              <a:rPr sz="1800"/>
              <a:t>Κομμάτι κώδικα με όνομα, που κάνει μια συγκεκριμένη δουλειά</a:t>
            </a:r>
          </a:p>
          <a:p>
            <a:pPr lvl="1"/>
            <a:r>
              <a:rPr sz="1800"/>
              <a:t>Το «καλούμε» αντί να γράφουμε τον κώδικα εμείς</a:t>
            </a:r>
          </a:p>
          <a:p>
            <a:pPr/>
            <a:r>
              <a:rPr sz="2300" b="1">
                <a:solidFill>
                  <a:srgbClr val="1B2F6B"/>
                </a:solidFill>
              </a:rPr>
              <a:t>Ενσωματωμένες (built-in) συναρτήσεις</a:t>
            </a:r>
          </a:p>
          <a:p>
            <a:pPr lvl="1"/>
            <a:r>
              <a:rPr sz="1800"/>
              <a:t>Υπάρχουν έτοιμες: print(), type(), len(), max()…</a:t>
            </a:r>
          </a:p>
          <a:p>
            <a:pPr/>
            <a:r>
              <a:rPr sz="2300" b="1">
                <a:solidFill>
                  <a:srgbClr val="1B2F6B"/>
                </a:solidFill>
              </a:rPr>
              <a:t>Η γενική συνταγή</a:t>
            </a:r>
          </a:p>
          <a:p>
            <a:pPr lvl="1"/>
            <a:r>
              <a:rPr sz="1800">
                <a:solidFill>
                  <a:srgbClr val="1B2F6B"/>
                </a:solidFill>
                <a:latin typeface="Courier New"/>
              </a:rPr>
              <a:t>output = function_name(input)</a:t>
            </a:r>
          </a:p>
          <a:p>
            <a:pPr lvl="1"/>
            <a:r>
              <a:rPr sz="1800"/>
              <a:t>Είσοδος = όρισμα (argument), έξοδος = επιστρεφόμενη τιμή (return value)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2834640"/>
            <a:ext cx="2103120" cy="1005840"/>
          </a:xfrm>
          <a:prstGeom prst="roundRect">
            <a:avLst>
              <a:gd name="adj" fmla="val 10000"/>
            </a:avLst>
          </a:prstGeom>
          <a:solidFill>
            <a:srgbClr val="FDE8D4"/>
          </a:solidFill>
          <a:ln w="19050">
            <a:solidFill>
              <a:srgbClr val="F58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600" b="1" i="0">
                <a:solidFill>
                  <a:srgbClr val="1B2F6B"/>
                </a:solidFill>
                <a:latin typeface="Arial"/>
              </a:rPr>
              <a:t>Είσοδος</a:t>
            </a:r>
          </a:p>
          <a:p>
            <a:pPr algn="ctr"/>
            <a:r>
              <a:rPr sz="1200" b="1" i="0">
                <a:solidFill>
                  <a:srgbClr val="5A6385"/>
                </a:solidFill>
                <a:latin typeface="Arial"/>
              </a:rPr>
              <a:t>argument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1887200" y="3337560"/>
            <a:ext cx="548640" cy="0"/>
          </a:xfrm>
          <a:prstGeom prst="line">
            <a:avLst/>
          </a:prstGeom>
          <a:ln w="38100">
            <a:solidFill>
              <a:srgbClr val="F582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2527280" y="2834640"/>
            <a:ext cx="2103120" cy="1005840"/>
          </a:xfrm>
          <a:prstGeom prst="roundRect">
            <a:avLst>
              <a:gd name="adj" fmla="val 10000"/>
            </a:avLst>
          </a:prstGeom>
          <a:solidFill>
            <a:srgbClr val="1B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Συνάρτηση</a:t>
            </a:r>
          </a:p>
          <a:p>
            <a:pPr algn="ctr"/>
            <a:r>
              <a:rPr sz="1200" b="1" i="0">
                <a:solidFill>
                  <a:srgbClr val="B9C8FC"/>
                </a:solidFill>
                <a:latin typeface="Arial"/>
              </a:rPr>
              <a:t>function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721840" y="3337560"/>
            <a:ext cx="548640" cy="0"/>
          </a:xfrm>
          <a:prstGeom prst="line">
            <a:avLst/>
          </a:prstGeom>
          <a:ln w="38100">
            <a:solidFill>
              <a:srgbClr val="F582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5361920" y="2834640"/>
            <a:ext cx="1783080" cy="1005840"/>
          </a:xfrm>
          <a:prstGeom prst="roundRect">
            <a:avLst>
              <a:gd name="adj" fmla="val 10000"/>
            </a:avLst>
          </a:prstGeom>
          <a:solidFill>
            <a:srgbClr val="FDE8D4"/>
          </a:solidFill>
          <a:ln w="19050">
            <a:solidFill>
              <a:srgbClr val="F58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600" b="1" i="0">
                <a:solidFill>
                  <a:srgbClr val="1B2F6B"/>
                </a:solidFill>
                <a:latin typeface="Arial"/>
              </a:rPr>
              <a:t>Έξοδος</a:t>
            </a:r>
          </a:p>
          <a:p>
            <a:pPr algn="ctr"/>
            <a:r>
              <a:rPr sz="1200" b="1" i="0">
                <a:solidFill>
                  <a:srgbClr val="5A6385"/>
                </a:solidFill>
                <a:latin typeface="Arial"/>
              </a:rPr>
              <a:t>return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92640" y="4206240"/>
            <a:ext cx="7452360" cy="3044952"/>
          </a:xfrm>
          <a:prstGeom prst="roundRect">
            <a:avLst>
              <a:gd name="adj" fmla="val 5000"/>
            </a:avLst>
          </a:prstGeom>
          <a:solidFill>
            <a:srgbClr val="14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4315968"/>
            <a:ext cx="6903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9C8FC"/>
                </a:solidFill>
                <a:latin typeface="Courier New"/>
              </a:rPr>
              <a:t>script.py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4663440"/>
            <a:ext cx="6903720" cy="2496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20">
                <a:solidFill>
                  <a:srgbClr val="9FB3E8"/>
                </a:solidFill>
                <a:latin typeface="Courier New"/>
              </a:rPr>
              <a:t># Συνταγή</a:t>
            </a:r>
          </a:p>
          <a:p>
            <a:r>
              <a:rPr sz="1920">
                <a:solidFill>
                  <a:srgbClr val="F4F6FF"/>
                </a:solidFill>
                <a:latin typeface="Courier New"/>
              </a:rPr>
              <a:t>result = type(3.0)</a:t>
            </a:r>
          </a:p>
          <a:p>
            <a:r>
              <a:rPr sz="1920">
                <a:solidFill>
                  <a:srgbClr val="F4F6FF"/>
                </a:solidFill>
                <a:latin typeface="Courier New"/>
              </a:rPr>
              <a:t>print(result)</a:t>
            </a:r>
          </a:p>
          <a:p>
            <a:r>
              <a:rPr sz="1920">
                <a:solidFill>
                  <a:srgbClr val="F4F6FF"/>
                </a:solidFill>
                <a:latin typeface="Courier New"/>
              </a:rPr>
              <a:t> </a:t>
            </a:r>
          </a:p>
          <a:p>
            <a:r>
              <a:rPr sz="1920">
                <a:solidFill>
                  <a:srgbClr val="9FB3E8"/>
                </a:solidFill>
                <a:latin typeface="Courier New"/>
              </a:rPr>
              <a:t># Η έξοδος μπορεί να γίνει είσοδος</a:t>
            </a:r>
          </a:p>
          <a:p>
            <a:r>
              <a:rPr sz="1920">
                <a:solidFill>
                  <a:srgbClr val="F4F6FF"/>
                </a:solidFill>
                <a:latin typeface="Courier New"/>
              </a:rPr>
              <a:t>print(type(3.0))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92640" y="7388352"/>
            <a:ext cx="7452360" cy="1441704"/>
          </a:xfrm>
          <a:prstGeom prst="roundRect">
            <a:avLst>
              <a:gd name="adj" fmla="val 5000"/>
            </a:avLst>
          </a:prstGeom>
          <a:solidFill>
            <a:srgbClr val="EEF1FE"/>
          </a:solidFill>
          <a:ln w="19050">
            <a:solidFill>
              <a:srgbClr val="B9C8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7479792"/>
            <a:ext cx="6903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5A6385"/>
                </a:solidFill>
                <a:latin typeface="Courier New"/>
              </a:rPr>
              <a:t>Έξοδος (output)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7799831"/>
            <a:ext cx="6903720" cy="984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20">
                <a:solidFill>
                  <a:srgbClr val="1B2F6B"/>
                </a:solidFill>
                <a:latin typeface="Courier New"/>
              </a:rPr>
              <a:t>&lt;class 'float'&gt;</a:t>
            </a:r>
          </a:p>
          <a:p>
            <a:r>
              <a:rPr sz="1920">
                <a:solidFill>
                  <a:srgbClr val="1B2F6B"/>
                </a:solidFill>
                <a:latin typeface="Courier New"/>
              </a:rPr>
              <a:t>&lt;class 'float'&gt;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Συναρτήσεις που θα χρησιμοποιείς συνέχεια</a:t>
            </a:r>
          </a:p>
        </p:txBody>
      </p:sp>
      <p:graphicFrame>
        <p:nvGraphicFramePr>
          <p:cNvPr id="3" name="Table Placeholder 2"/>
          <p:cNvGraphicFramePr>
            <a:graphicFrameLocks noGrp="1"/>
          </p:cNvGraphicFramePr>
          <p:nvPr>
            <p:ph type="tbl" idx="1"/>
          </p:nvPr>
        </p:nvGraphicFramePr>
        <p:xfrm>
          <a:off x="1143000" y="2762250"/>
          <a:ext cx="16002000" cy="5266944"/>
        </p:xfrm>
        <a:graphic>
          <a:graphicData uri="http://schemas.openxmlformats.org/drawingml/2006/table">
            <a:tbl>
              <a:tblPr firstRow="1" bandRow="1">
                <a:tableStyleId>{3F2A1C5E-7B4D-4E8A-9C61-2D5B8E0F7A13}</a:tableStyleId>
              </a:tblPr>
              <a:tblGrid>
                <a:gridCol w="3291840"/>
                <a:gridCol w="5669280"/>
                <a:gridCol w="3931920"/>
                <a:gridCol w="3108960"/>
              </a:tblGrid>
              <a:tr h="658368">
                <a:tc>
                  <a:txBody>
                    <a:bodyPr/>
                    <a:lstStyle/>
                    <a:p>
                      <a:r>
                        <a:rPr sz="1600"/>
                        <a:t>Συνάρτηση</a:t>
                      </a:r>
                    </a:p>
                  </a:txBody>
                  <a:tcPr marL="155448" marR="155448" marT="73152" marB="73152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Τι κάνει</a:t>
                      </a:r>
                    </a:p>
                  </a:txBody>
                  <a:tcPr marL="155448" marR="155448" marT="73152" marB="73152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Παράδειγμα</a:t>
                      </a:r>
                    </a:p>
                  </a:txBody>
                  <a:tcPr marL="155448" marR="155448" marT="73152" marB="73152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Αποτέλεσμα</a:t>
                      </a:r>
                    </a:p>
                  </a:txBody>
                  <a:tcPr marL="155448" marR="155448" marT="73152" marB="73152" anchor="ctr"/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B2F6B"/>
                          </a:solidFill>
                          <a:latin typeface="Courier New"/>
                        </a:rPr>
                        <a:t>print()</a:t>
                      </a:r>
                    </a:p>
                  </a:txBody>
                  <a:tcPr marL="155448" marR="155448" marT="73152" marB="73152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Εμφανίζει τιμές στην οθόνη</a:t>
                      </a:r>
                    </a:p>
                  </a:txBody>
                  <a:tcPr marL="155448" marR="155448" marT="73152" marB="73152" anchor="ctr"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B2F6B"/>
                          </a:solidFill>
                          <a:latin typeface="Courier New"/>
                        </a:rPr>
                        <a:t>print("hi", 5)</a:t>
                      </a:r>
                    </a:p>
                  </a:txBody>
                  <a:tcPr marL="155448" marR="155448" marT="73152" marB="73152" anchor="ctr"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B2F6B"/>
                          </a:solidFill>
                          <a:latin typeface="Courier New"/>
                        </a:rPr>
                        <a:t>hi 5</a:t>
                      </a:r>
                    </a:p>
                  </a:txBody>
                  <a:tcPr marL="155448" marR="155448" marT="73152" marB="73152" anchor="ctr"/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B2F6B"/>
                          </a:solidFill>
                          <a:latin typeface="Courier New"/>
                        </a:rPr>
                        <a:t>type()</a:t>
                      </a:r>
                    </a:p>
                  </a:txBody>
                  <a:tcPr marL="155448" marR="155448" marT="73152" marB="73152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Επιστρέφει τον τύπο</a:t>
                      </a:r>
                    </a:p>
                  </a:txBody>
                  <a:tcPr marL="155448" marR="155448" marT="73152" marB="73152" anchor="ctr"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B2F6B"/>
                          </a:solidFill>
                          <a:latin typeface="Courier New"/>
                        </a:rPr>
                        <a:t>type(3.5)</a:t>
                      </a:r>
                    </a:p>
                  </a:txBody>
                  <a:tcPr marL="155448" marR="155448" marT="73152" marB="73152" anchor="ctr"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B2F6B"/>
                          </a:solidFill>
                          <a:latin typeface="Courier New"/>
                        </a:rPr>
                        <a:t>&lt;class 'float'&gt;</a:t>
                      </a:r>
                    </a:p>
                  </a:txBody>
                  <a:tcPr marL="155448" marR="155448" marT="73152" marB="73152" anchor="ctr"/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B2F6B"/>
                          </a:solidFill>
                          <a:latin typeface="Courier New"/>
                        </a:rPr>
                        <a:t>len()</a:t>
                      </a:r>
                    </a:p>
                  </a:txBody>
                  <a:tcPr marL="155448" marR="155448" marT="73152" marB="73152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Πλήθος στοιχείων λίστας ή χαρακτήρων string</a:t>
                      </a:r>
                    </a:p>
                  </a:txBody>
                  <a:tcPr marL="155448" marR="155448" marT="73152" marB="73152" anchor="ctr"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B2F6B"/>
                          </a:solidFill>
                          <a:latin typeface="Courier New"/>
                        </a:rPr>
                        <a:t>len([1, 2, 3])</a:t>
                      </a:r>
                    </a:p>
                  </a:txBody>
                  <a:tcPr marL="155448" marR="155448" marT="73152" marB="73152" anchor="ctr"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B2F6B"/>
                          </a:solidFill>
                          <a:latin typeface="Courier New"/>
                        </a:rPr>
                        <a:t>3</a:t>
                      </a:r>
                    </a:p>
                  </a:txBody>
                  <a:tcPr marL="155448" marR="155448" marT="73152" marB="73152" anchor="ctr"/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B2F6B"/>
                          </a:solidFill>
                          <a:latin typeface="Courier New"/>
                        </a:rPr>
                        <a:t>max() / min()</a:t>
                      </a:r>
                    </a:p>
                  </a:txBody>
                  <a:tcPr marL="155448" marR="155448" marT="73152" marB="73152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Μέγιστο / ελάχιστο στοιχείο</a:t>
                      </a:r>
                    </a:p>
                  </a:txBody>
                  <a:tcPr marL="155448" marR="155448" marT="73152" marB="73152" anchor="ctr"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B2F6B"/>
                          </a:solidFill>
                          <a:latin typeface="Courier New"/>
                        </a:rPr>
                        <a:t>max([4, 9, 2])</a:t>
                      </a:r>
                    </a:p>
                  </a:txBody>
                  <a:tcPr marL="155448" marR="155448" marT="73152" marB="73152" anchor="ctr"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B2F6B"/>
                          </a:solidFill>
                          <a:latin typeface="Courier New"/>
                        </a:rPr>
                        <a:t>9</a:t>
                      </a:r>
                    </a:p>
                  </a:txBody>
                  <a:tcPr marL="155448" marR="155448" marT="73152" marB="73152" anchor="ctr"/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B2F6B"/>
                          </a:solidFill>
                          <a:latin typeface="Courier New"/>
                        </a:rPr>
                        <a:t>round()</a:t>
                      </a:r>
                    </a:p>
                  </a:txBody>
                  <a:tcPr marL="155448" marR="155448" marT="73152" marB="73152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Στρογγυλοποίηση, προαιρετικά σε n δεκαδικά</a:t>
                      </a:r>
                    </a:p>
                  </a:txBody>
                  <a:tcPr marL="155448" marR="155448" marT="73152" marB="73152" anchor="ctr"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B2F6B"/>
                          </a:solidFill>
                          <a:latin typeface="Courier New"/>
                        </a:rPr>
                        <a:t>round(1.68, 1)</a:t>
                      </a:r>
                    </a:p>
                  </a:txBody>
                  <a:tcPr marL="155448" marR="155448" marT="73152" marB="73152" anchor="ctr"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B2F6B"/>
                          </a:solidFill>
                          <a:latin typeface="Courier New"/>
                        </a:rPr>
                        <a:t>1.7</a:t>
                      </a:r>
                    </a:p>
                  </a:txBody>
                  <a:tcPr marL="155448" marR="155448" marT="73152" marB="73152" anchor="ctr"/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B2F6B"/>
                          </a:solidFill>
                          <a:latin typeface="Courier New"/>
                        </a:rPr>
                        <a:t>int() / float() / str()</a:t>
                      </a:r>
                    </a:p>
                  </a:txBody>
                  <a:tcPr marL="155448" marR="155448" marT="73152" marB="73152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Μετατροπή τύπου</a:t>
                      </a:r>
                    </a:p>
                  </a:txBody>
                  <a:tcPr marL="155448" marR="155448" marT="73152" marB="73152" anchor="ctr"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B2F6B"/>
                          </a:solidFill>
                          <a:latin typeface="Courier New"/>
                        </a:rPr>
                        <a:t>int("7") + 1</a:t>
                      </a:r>
                    </a:p>
                  </a:txBody>
                  <a:tcPr marL="155448" marR="155448" marT="73152" marB="73152" anchor="ctr"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B2F6B"/>
                          </a:solidFill>
                          <a:latin typeface="Courier New"/>
                        </a:rPr>
                        <a:t>8</a:t>
                      </a:r>
                    </a:p>
                  </a:txBody>
                  <a:tcPr marL="155448" marR="155448" marT="73152" marB="73152" anchor="ctr"/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B2F6B"/>
                          </a:solidFill>
                          <a:latin typeface="Courier New"/>
                        </a:rPr>
                        <a:t>help()</a:t>
                      </a:r>
                    </a:p>
                  </a:txBody>
                  <a:tcPr marL="155448" marR="155448" marT="73152" marB="73152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Τεκμηρίωση μιας συνάρτησης</a:t>
                      </a:r>
                    </a:p>
                  </a:txBody>
                  <a:tcPr marL="155448" marR="155448" marT="73152" marB="73152" anchor="ctr"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B2F6B"/>
                          </a:solidFill>
                          <a:latin typeface="Courier New"/>
                        </a:rPr>
                        <a:t>help(round)</a:t>
                      </a:r>
                    </a:p>
                  </a:txBody>
                  <a:tcPr marL="155448" marR="155448" marT="73152" marB="73152" anchor="ctr"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B2F6B"/>
                          </a:solidFill>
                          <a:latin typeface="Courier New"/>
                        </a:rPr>
                        <a:t>…</a:t>
                      </a:r>
                    </a:p>
                  </a:txBody>
                  <a:tcPr marL="155448" marR="155448" marT="73152" marB="73152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Άσκηση: γνωστές συναρτήσεις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half"/>
          </p:nvPr>
        </p:nvSpPr>
        <p:spPr/>
        <p:txBody>
          <a:bodyPr/>
          <a:lstStyle/>
          <a:p>
            <a:pPr/>
            <a:r>
              <a:rPr sz="2300" b="1">
                <a:solidFill>
                  <a:srgbClr val="1B2F6B"/>
                </a:solidFill>
              </a:rPr>
              <a:t>Ζητούμενο</a:t>
            </a:r>
          </a:p>
          <a:p>
            <a:pPr lvl="1"/>
            <a:r>
              <a:rPr sz="1800"/>
              <a:t>Τύπωσε τον τύπο της orders με print() και type() μαζί</a:t>
            </a:r>
          </a:p>
          <a:p>
            <a:pPr lvl="1"/>
            <a:r>
              <a:rPr sz="1800"/>
              <a:t>Τύπωσε πόσες παραγγελίες έχει η orders με len()</a:t>
            </a:r>
          </a:p>
          <a:p>
            <a:pPr lvl="1"/>
            <a:r>
              <a:rPr sz="1800"/>
              <a:t>Μετέτρεψε το is_vip σε ακέραιο με int() και αποθήκευσέ το ως vip_flag</a:t>
            </a:r>
          </a:p>
          <a:p>
            <a:pPr/>
            <a:r>
              <a:rPr sz="2300" b="1">
                <a:solidFill>
                  <a:srgbClr val="1B2F6B"/>
                </a:solidFill>
              </a:rPr>
              <a:t>Παρατήρησε</a:t>
            </a:r>
          </a:p>
          <a:p>
            <a:pPr lvl="1"/>
            <a:r>
              <a:rPr sz="1800"/>
              <a:t>Οι συναρτήσεις «φωλιάζουν»: η εσωτερική εκτελείται πρώτη</a:t>
            </a:r>
          </a:p>
          <a:p>
            <a:pPr lvl="1"/>
            <a:r>
              <a:rPr sz="1800"/>
              <a:t>int(True) δίνει 1: τα booleans είναι «κρυφοί» ακέραιοι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2743200"/>
            <a:ext cx="7452360" cy="4745736"/>
          </a:xfrm>
          <a:prstGeom prst="roundRect">
            <a:avLst>
              <a:gd name="adj" fmla="val 5000"/>
            </a:avLst>
          </a:prstGeom>
          <a:solidFill>
            <a:srgbClr val="14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2852928"/>
            <a:ext cx="6903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9C8FC"/>
                </a:solidFill>
                <a:latin typeface="Courier New"/>
              </a:rPr>
              <a:t>script.py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3200400"/>
            <a:ext cx="6903720" cy="4197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80">
                <a:solidFill>
                  <a:srgbClr val="F4F6FF"/>
                </a:solidFill>
                <a:latin typeface="Courier New"/>
              </a:rPr>
              <a:t>orders = [12, 7, 30, 5]</a:t>
            </a:r>
          </a:p>
          <a:p>
            <a:r>
              <a:rPr sz="1680">
                <a:solidFill>
                  <a:srgbClr val="F4F6FF"/>
                </a:solidFill>
                <a:latin typeface="Courier New"/>
              </a:rPr>
              <a:t>is_vip = True</a:t>
            </a:r>
          </a:p>
          <a:p>
            <a:r>
              <a:rPr sz="1680">
                <a:solidFill>
                  <a:srgbClr val="F4F6FF"/>
                </a:solidFill>
                <a:latin typeface="Courier New"/>
              </a:rPr>
              <a:t> </a:t>
            </a:r>
          </a:p>
          <a:p>
            <a:r>
              <a:rPr sz="1680">
                <a:solidFill>
                  <a:srgbClr val="9FB3E8"/>
                </a:solidFill>
                <a:latin typeface="Courier New"/>
              </a:rPr>
              <a:t># Τύπος της orders</a:t>
            </a:r>
          </a:p>
          <a:p>
            <a:r>
              <a:rPr sz="1680">
                <a:solidFill>
                  <a:srgbClr val="F4F6FF"/>
                </a:solidFill>
                <a:latin typeface="Courier New"/>
              </a:rPr>
              <a:t>print(type(orders))</a:t>
            </a:r>
          </a:p>
          <a:p>
            <a:r>
              <a:rPr sz="1680">
                <a:solidFill>
                  <a:srgbClr val="F4F6FF"/>
                </a:solidFill>
                <a:latin typeface="Courier New"/>
              </a:rPr>
              <a:t> </a:t>
            </a:r>
          </a:p>
          <a:p>
            <a:r>
              <a:rPr sz="1680">
                <a:solidFill>
                  <a:srgbClr val="9FB3E8"/>
                </a:solidFill>
                <a:latin typeface="Courier New"/>
              </a:rPr>
              <a:t># Πλήθος παραγγελιών</a:t>
            </a:r>
          </a:p>
          <a:p>
            <a:r>
              <a:rPr sz="1680">
                <a:solidFill>
                  <a:srgbClr val="F4F6FF"/>
                </a:solidFill>
                <a:latin typeface="Courier New"/>
              </a:rPr>
              <a:t>print(len(orders))</a:t>
            </a:r>
          </a:p>
          <a:p>
            <a:r>
              <a:rPr sz="1680">
                <a:solidFill>
                  <a:srgbClr val="F4F6FF"/>
                </a:solidFill>
                <a:latin typeface="Courier New"/>
              </a:rPr>
              <a:t> </a:t>
            </a:r>
          </a:p>
          <a:p>
            <a:r>
              <a:rPr sz="1680">
                <a:solidFill>
                  <a:srgbClr val="9FB3E8"/>
                </a:solidFill>
                <a:latin typeface="Courier New"/>
              </a:rPr>
              <a:t># Μετατροπή του is_vip σε int</a:t>
            </a:r>
          </a:p>
          <a:p>
            <a:r>
              <a:rPr sz="1680">
                <a:solidFill>
                  <a:srgbClr val="F4F6FF"/>
                </a:solidFill>
                <a:latin typeface="Courier New"/>
              </a:rPr>
              <a:t>vip_flag = int(is_vip)</a:t>
            </a:r>
          </a:p>
          <a:p>
            <a:r>
              <a:rPr sz="1680">
                <a:solidFill>
                  <a:srgbClr val="F4F6FF"/>
                </a:solidFill>
                <a:latin typeface="Courier New"/>
              </a:rPr>
              <a:t>print(vip_flag)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92640" y="7626096"/>
            <a:ext cx="7452360" cy="1677924"/>
          </a:xfrm>
          <a:prstGeom prst="roundRect">
            <a:avLst>
              <a:gd name="adj" fmla="val 5000"/>
            </a:avLst>
          </a:prstGeom>
          <a:solidFill>
            <a:srgbClr val="EEF1FE"/>
          </a:solidFill>
          <a:ln w="19050">
            <a:solidFill>
              <a:srgbClr val="B9C8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7717536"/>
            <a:ext cx="6903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5A6385"/>
                </a:solidFill>
                <a:latin typeface="Courier New"/>
              </a:rPr>
              <a:t>Έξοδος (output)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8037575"/>
            <a:ext cx="6903720" cy="12207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80">
                <a:solidFill>
                  <a:srgbClr val="1B2F6B"/>
                </a:solidFill>
                <a:latin typeface="Courier New"/>
              </a:rPr>
              <a:t>&lt;class 'list'&gt;</a:t>
            </a:r>
          </a:p>
          <a:p>
            <a:r>
              <a:rPr sz="1680">
                <a:solidFill>
                  <a:srgbClr val="1B2F6B"/>
                </a:solidFill>
                <a:latin typeface="Courier New"/>
              </a:rPr>
              <a:t>4</a:t>
            </a:r>
          </a:p>
          <a:p>
            <a:r>
              <a:rPr sz="1680">
                <a:solidFill>
                  <a:srgbClr val="1B2F6B"/>
                </a:solidFill>
                <a:latin typeface="Courier New"/>
              </a:rPr>
              <a:t>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Πολλαπλά ορίσματα (arguments)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half"/>
          </p:nvPr>
        </p:nvSpPr>
        <p:spPr/>
        <p:txBody>
          <a:bodyPr/>
          <a:lstStyle/>
          <a:p>
            <a:pPr/>
            <a:r>
              <a:rPr sz="2100" b="1">
                <a:solidFill>
                  <a:srgbClr val="1B2F6B"/>
                </a:solidFill>
              </a:rPr>
              <a:t>Μια συνάρτηση μπορεί να παίρνει πολλά ορίσματα</a:t>
            </a:r>
          </a:p>
          <a:p>
            <a:pPr lvl="1"/>
            <a:r>
              <a:rPr sz="1700">
                <a:solidFill>
                  <a:srgbClr val="1B2F6B"/>
                </a:solidFill>
                <a:latin typeface="Courier New"/>
              </a:rPr>
              <a:t>sorted(iterable, key=None, reverse=False)</a:t>
            </a:r>
          </a:p>
          <a:p>
            <a:pPr/>
            <a:r>
              <a:rPr sz="2100" b="1">
                <a:solidFill>
                  <a:srgbClr val="1B2F6B"/>
                </a:solidFill>
              </a:rPr>
              <a:t>Υποχρεωτικά και προαιρετικά</a:t>
            </a:r>
          </a:p>
          <a:p>
            <a:pPr lvl="1"/>
            <a:r>
              <a:rPr sz="1700"/>
              <a:t>Το iterable είναι υποχρεωτικό</a:t>
            </a:r>
          </a:p>
          <a:p>
            <a:pPr lvl="1"/>
            <a:r>
              <a:rPr sz="1700"/>
              <a:t>Τα key και reverse έχουν προεπιλογή (default), άρα μπορούν να παραλειφθούν</a:t>
            </a:r>
          </a:p>
          <a:p>
            <a:pPr/>
            <a:r>
              <a:rPr sz="2100" b="1">
                <a:solidFill>
                  <a:srgbClr val="1B2F6B"/>
                </a:solidFill>
              </a:rPr>
              <a:t>Ορίσματα με όνομα (keyword arguments)</a:t>
            </a:r>
          </a:p>
          <a:p>
            <a:pPr lvl="1"/>
            <a:r>
              <a:rPr sz="1700">
                <a:solidFill>
                  <a:srgbClr val="1B2F6B"/>
                </a:solidFill>
                <a:latin typeface="Courier New"/>
              </a:rPr>
              <a:t>sorted(total_sales, reverse=True)</a:t>
            </a:r>
            <a:r>
              <a:rPr sz="1700"/>
              <a:t>  ξεκάθαρο τι σημαίνει το True</a:t>
            </a:r>
          </a:p>
          <a:p>
            <a:pPr/>
            <a:r>
              <a:rPr sz="2100">
                <a:solidFill>
                  <a:srgbClr val="1B2F6B"/>
                </a:solidFill>
                <a:latin typeface="Courier New"/>
              </a:rPr>
              <a:t>help(sorted)</a:t>
            </a:r>
            <a:r>
              <a:rPr sz="2100"/>
              <a:t>  δείχνει όλα τα ορίσματα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2743200"/>
            <a:ext cx="7452360" cy="3966210"/>
          </a:xfrm>
          <a:prstGeom prst="roundRect">
            <a:avLst>
              <a:gd name="adj" fmla="val 5000"/>
            </a:avLst>
          </a:prstGeom>
          <a:solidFill>
            <a:srgbClr val="14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2852928"/>
            <a:ext cx="6903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9C8FC"/>
                </a:solidFill>
                <a:latin typeface="Courier New"/>
              </a:rPr>
              <a:t>script.py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3200400"/>
            <a:ext cx="6903720" cy="3417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>
                <a:solidFill>
                  <a:srgbClr val="F4F6FF"/>
                </a:solidFill>
                <a:latin typeface="Courier New"/>
              </a:rPr>
              <a:t>online = [1200, 1550, 1000]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store = [980, 1310]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 </a:t>
            </a:r>
          </a:p>
          <a:p>
            <a:r>
              <a:rPr sz="1800">
                <a:solidFill>
                  <a:srgbClr val="9FB3E8"/>
                </a:solidFill>
                <a:latin typeface="Courier New"/>
              </a:rPr>
              <a:t># Ένωση σε μία λίστα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total_sales = online + store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 </a:t>
            </a:r>
          </a:p>
          <a:p>
            <a:r>
              <a:rPr sz="1800">
                <a:solidFill>
                  <a:srgbClr val="9FB3E8"/>
                </a:solidFill>
                <a:latin typeface="Courier New"/>
              </a:rPr>
              <a:t># Ταξινόμηση σε φθίνουσα σειρά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ranked = sorted(total_sales, reverse=True)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print(ranked)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92640" y="6846570"/>
            <a:ext cx="7452360" cy="1040130"/>
          </a:xfrm>
          <a:prstGeom prst="roundRect">
            <a:avLst>
              <a:gd name="adj" fmla="val 5000"/>
            </a:avLst>
          </a:prstGeom>
          <a:solidFill>
            <a:srgbClr val="EEF1FE"/>
          </a:solidFill>
          <a:ln w="19050">
            <a:solidFill>
              <a:srgbClr val="B9C8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6938010"/>
            <a:ext cx="6903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5A6385"/>
                </a:solidFill>
                <a:latin typeface="Courier New"/>
              </a:rPr>
              <a:t>Έξοδος (output)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7258050"/>
            <a:ext cx="6903720" cy="5829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>
                <a:solidFill>
                  <a:srgbClr val="1B2F6B"/>
                </a:solidFill>
                <a:latin typeface="Courier New"/>
              </a:rPr>
              <a:t>[1550, 1310, 1200, 1000, 980]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Μέθοδοι (methods): συναρτήσεις που «ανήκουν» σε αντικείμενα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half"/>
          </p:nvPr>
        </p:nvSpPr>
        <p:spPr/>
        <p:txBody>
          <a:bodyPr/>
          <a:lstStyle/>
          <a:p>
            <a:pPr/>
            <a:r>
              <a:rPr sz="2100" b="1">
                <a:solidFill>
                  <a:srgbClr val="1B2F6B"/>
                </a:solidFill>
              </a:rPr>
              <a:t>Όλα είναι αντικείμενα (objects)</a:t>
            </a:r>
          </a:p>
          <a:p>
            <a:pPr lvl="1"/>
            <a:r>
              <a:rPr sz="1700"/>
              <a:t>Strings, floats, λίστες… καθένα κουβαλά τις δικές του μεθόδους</a:t>
            </a:r>
          </a:p>
          <a:p>
            <a:pPr/>
            <a:r>
              <a:rPr sz="2100" b="1">
                <a:solidFill>
                  <a:srgbClr val="1B2F6B"/>
                </a:solidFill>
              </a:rPr>
              <a:t>Σύνταξη με τελεία</a:t>
            </a:r>
          </a:p>
          <a:p>
            <a:pPr lvl="1"/>
            <a:r>
              <a:rPr sz="1700">
                <a:solidFill>
                  <a:srgbClr val="1B2F6B"/>
                </a:solidFill>
                <a:latin typeface="Courier New"/>
              </a:rPr>
              <a:t>αντικείμενο.μέθοδος(ορίσματα)</a:t>
            </a:r>
          </a:p>
          <a:p>
            <a:pPr/>
            <a:r>
              <a:rPr sz="2100" b="1">
                <a:solidFill>
                  <a:srgbClr val="1B2F6B"/>
                </a:solidFill>
              </a:rPr>
              <a:t>Μέθοδοι string</a:t>
            </a:r>
          </a:p>
          <a:p>
            <a:pPr lvl="1"/>
            <a:r>
              <a:rPr sz="1700">
                <a:solidFill>
                  <a:srgbClr val="1B2F6B"/>
                </a:solidFill>
                <a:latin typeface="Courier New"/>
              </a:rPr>
              <a:t>upper()</a:t>
            </a:r>
            <a:r>
              <a:rPr sz="1700"/>
              <a:t> κεφαλαία, </a:t>
            </a:r>
            <a:r>
              <a:rPr sz="1700">
                <a:solidFill>
                  <a:srgbClr val="1B2F6B"/>
                </a:solidFill>
                <a:latin typeface="Courier New"/>
              </a:rPr>
              <a:t>count("a")</a:t>
            </a:r>
            <a:r>
              <a:rPr sz="1700"/>
              <a:t> πλήθος εμφανίσεων, </a:t>
            </a:r>
            <a:r>
              <a:rPr sz="1700">
                <a:solidFill>
                  <a:srgbClr val="1B2F6B"/>
                </a:solidFill>
                <a:latin typeface="Courier New"/>
              </a:rPr>
              <a:t>replace()</a:t>
            </a:r>
          </a:p>
          <a:p>
            <a:pPr/>
            <a:r>
              <a:rPr sz="2100" b="1">
                <a:solidFill>
                  <a:srgbClr val="1B2F6B"/>
                </a:solidFill>
              </a:rPr>
              <a:t>Μέθοδοι λίστας</a:t>
            </a:r>
          </a:p>
          <a:p>
            <a:pPr lvl="1"/>
            <a:r>
              <a:rPr sz="1700">
                <a:solidFill>
                  <a:srgbClr val="1B2F6B"/>
                </a:solidFill>
                <a:latin typeface="Courier New"/>
              </a:rPr>
              <a:t>index()</a:t>
            </a:r>
            <a:r>
              <a:rPr sz="1700"/>
              <a:t> θέση στοιχείου, </a:t>
            </a:r>
            <a:r>
              <a:rPr sz="1700">
                <a:solidFill>
                  <a:srgbClr val="1B2F6B"/>
                </a:solidFill>
                <a:latin typeface="Courier New"/>
              </a:rPr>
              <a:t>count()</a:t>
            </a:r>
            <a:r>
              <a:rPr sz="1700"/>
              <a:t>, </a:t>
            </a:r>
            <a:r>
              <a:rPr sz="1700">
                <a:solidFill>
                  <a:srgbClr val="1B2F6B"/>
                </a:solidFill>
                <a:latin typeface="Courier New"/>
              </a:rPr>
              <a:t>append()</a:t>
            </a:r>
            <a:r>
              <a:rPr sz="1700"/>
              <a:t>, </a:t>
            </a:r>
            <a:r>
              <a:rPr sz="1700">
                <a:solidFill>
                  <a:srgbClr val="1B2F6B"/>
                </a:solidFill>
                <a:latin typeface="Courier New"/>
              </a:rPr>
              <a:t>remove()</a:t>
            </a:r>
            <a:r>
              <a:rPr sz="1700"/>
              <a:t>, </a:t>
            </a:r>
            <a:r>
              <a:rPr sz="1700">
                <a:solidFill>
                  <a:srgbClr val="1B2F6B"/>
                </a:solidFill>
                <a:latin typeface="Courier New"/>
              </a:rPr>
              <a:t>reverse()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2743200"/>
            <a:ext cx="7452360" cy="4084320"/>
          </a:xfrm>
          <a:prstGeom prst="roundRect">
            <a:avLst>
              <a:gd name="adj" fmla="val 5000"/>
            </a:avLst>
          </a:prstGeom>
          <a:solidFill>
            <a:srgbClr val="14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2852928"/>
            <a:ext cx="6903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9C8FC"/>
                </a:solidFill>
                <a:latin typeface="Courier New"/>
              </a:rPr>
              <a:t>script.py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3200400"/>
            <a:ext cx="6903720" cy="3535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80">
                <a:solidFill>
                  <a:srgbClr val="F4F6FF"/>
                </a:solidFill>
                <a:latin typeface="Courier New"/>
              </a:rPr>
              <a:t>city = "thessaloniki"</a:t>
            </a:r>
          </a:p>
          <a:p>
            <a:r>
              <a:rPr sz="1680">
                <a:solidFill>
                  <a:srgbClr val="F4F6FF"/>
                </a:solidFill>
                <a:latin typeface="Courier New"/>
              </a:rPr>
              <a:t>print(city.upper())</a:t>
            </a:r>
          </a:p>
          <a:p>
            <a:r>
              <a:rPr sz="1680">
                <a:solidFill>
                  <a:srgbClr val="F4F6FF"/>
                </a:solidFill>
                <a:latin typeface="Courier New"/>
              </a:rPr>
              <a:t>print(city.count("s"))</a:t>
            </a:r>
          </a:p>
          <a:p>
            <a:r>
              <a:rPr sz="1680">
                <a:solidFill>
                  <a:srgbClr val="F4F6FF"/>
                </a:solidFill>
                <a:latin typeface="Courier New"/>
              </a:rPr>
              <a:t> </a:t>
            </a:r>
          </a:p>
          <a:p>
            <a:r>
              <a:rPr sz="1680">
                <a:solidFill>
                  <a:srgbClr val="F4F6FF"/>
                </a:solidFill>
                <a:latin typeface="Courier New"/>
              </a:rPr>
              <a:t>customers = ["anna", 1200.0, "nikos", 1550.0]</a:t>
            </a:r>
          </a:p>
          <a:p>
            <a:r>
              <a:rPr sz="1680">
                <a:solidFill>
                  <a:srgbClr val="F4F6FF"/>
                </a:solidFill>
                <a:latin typeface="Courier New"/>
              </a:rPr>
              <a:t>print(customers.index("nikos"))</a:t>
            </a:r>
          </a:p>
          <a:p>
            <a:r>
              <a:rPr sz="1680">
                <a:solidFill>
                  <a:srgbClr val="F4F6FF"/>
                </a:solidFill>
                <a:latin typeface="Courier New"/>
              </a:rPr>
              <a:t>print(customers.count(1200.0))</a:t>
            </a:r>
          </a:p>
          <a:p>
            <a:r>
              <a:rPr sz="1680">
                <a:solidFill>
                  <a:srgbClr val="F4F6FF"/>
                </a:solidFill>
                <a:latin typeface="Courier New"/>
              </a:rPr>
              <a:t> </a:t>
            </a:r>
          </a:p>
          <a:p>
            <a:r>
              <a:rPr sz="1680">
                <a:solidFill>
                  <a:srgbClr val="F4F6FF"/>
                </a:solidFill>
                <a:latin typeface="Courier New"/>
              </a:rPr>
              <a:t>customers.append("maria")</a:t>
            </a:r>
          </a:p>
          <a:p>
            <a:r>
              <a:rPr sz="1680">
                <a:solidFill>
                  <a:srgbClr val="F4F6FF"/>
                </a:solidFill>
                <a:latin typeface="Courier New"/>
              </a:rPr>
              <a:t>print(customers)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92640" y="6964680"/>
            <a:ext cx="7452360" cy="2339340"/>
          </a:xfrm>
          <a:prstGeom prst="roundRect">
            <a:avLst>
              <a:gd name="adj" fmla="val 5000"/>
            </a:avLst>
          </a:prstGeom>
          <a:solidFill>
            <a:srgbClr val="EEF1FE"/>
          </a:solidFill>
          <a:ln w="19050">
            <a:solidFill>
              <a:srgbClr val="B9C8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7056120"/>
            <a:ext cx="6903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5A6385"/>
                </a:solidFill>
                <a:latin typeface="Courier New"/>
              </a:rPr>
              <a:t>Έξοδος (output)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7376160"/>
            <a:ext cx="6903720" cy="18821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80">
                <a:solidFill>
                  <a:srgbClr val="1B2F6B"/>
                </a:solidFill>
                <a:latin typeface="Courier New"/>
              </a:rPr>
              <a:t>THESSALONIKI</a:t>
            </a:r>
          </a:p>
          <a:p>
            <a:r>
              <a:rPr sz="1680">
                <a:solidFill>
                  <a:srgbClr val="1B2F6B"/>
                </a:solidFill>
                <a:latin typeface="Courier New"/>
              </a:rPr>
              <a:t>2</a:t>
            </a:r>
          </a:p>
          <a:p>
            <a:r>
              <a:rPr sz="1680">
                <a:solidFill>
                  <a:srgbClr val="1B2F6B"/>
                </a:solidFill>
                <a:latin typeface="Courier New"/>
              </a:rPr>
              <a:t>2</a:t>
            </a:r>
          </a:p>
          <a:p>
            <a:r>
              <a:rPr sz="1680">
                <a:solidFill>
                  <a:srgbClr val="1B2F6B"/>
                </a:solidFill>
                <a:latin typeface="Courier New"/>
              </a:rPr>
              <a:t>1</a:t>
            </a:r>
          </a:p>
          <a:p>
            <a:r>
              <a:rPr sz="1680">
                <a:solidFill>
                  <a:srgbClr val="1B2F6B"/>
                </a:solidFill>
                <a:latin typeface="Courier New"/>
              </a:rPr>
              <a:t>['anna', 1200.0, 'nikos', 1550.0, 'maria']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Συνάρτηση ή μέθοδος;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Συνάρτηση (function)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pPr/>
            <a:r>
              <a:rPr sz="2000">
                <a:solidFill>
                  <a:srgbClr val="1B2F6B"/>
                </a:solidFill>
                <a:latin typeface="Courier New"/>
              </a:rPr>
              <a:t>len(customers)</a:t>
            </a:r>
          </a:p>
          <a:p>
            <a:pPr/>
            <a:r>
              <a:rPr sz="2000"/>
              <a:t>Το αντικείμενο μπαίνει μέσα στις παρενθέσεις</a:t>
            </a:r>
          </a:p>
          <a:p>
            <a:pPr/>
            <a:r>
              <a:rPr sz="2000"/>
              <a:t>Γενικές: δουλεύουν για πολλούς τύπους</a:t>
            </a:r>
          </a:p>
          <a:p>
            <a:pPr/>
            <a:r>
              <a:rPr sz="2000"/>
              <a:t>Επιστρέφουν αποτέλεσμα, δεν αλλάζουν το όρισμα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Μέθοδος (method)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" sz="half"/>
          </p:nvPr>
        </p:nvSpPr>
        <p:spPr/>
        <p:txBody>
          <a:bodyPr/>
          <a:lstStyle/>
          <a:p>
            <a:pPr/>
            <a:r>
              <a:rPr sz="2000">
                <a:solidFill>
                  <a:srgbClr val="1B2F6B"/>
                </a:solidFill>
                <a:latin typeface="Courier New"/>
              </a:rPr>
              <a:t>customers.index("nikos")</a:t>
            </a:r>
          </a:p>
          <a:p>
            <a:pPr/>
            <a:r>
              <a:rPr sz="2000"/>
              <a:t>Το αντικείμενο μπαίνει πριν την τελεία</a:t>
            </a:r>
          </a:p>
          <a:p>
            <a:pPr/>
            <a:r>
              <a:rPr sz="2000"/>
              <a:t>Ειδικές για τον τύπο: οι λίστες έχουν append(), τα strings όχι</a:t>
            </a:r>
          </a:p>
          <a:p>
            <a:pPr/>
            <a:r>
              <a:rPr sz="2000"/>
              <a:t>Κάποιες αλλάζουν το αντικείμενο: </a:t>
            </a:r>
            <a:r>
              <a:rPr sz="2000">
                <a:solidFill>
                  <a:srgbClr val="1B2F6B"/>
                </a:solidFill>
                <a:latin typeface="Courier New"/>
              </a:rPr>
              <a:t>append(), remove(), reverse()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7498079"/>
            <a:ext cx="16002000" cy="1371600"/>
          </a:xfrm>
          <a:prstGeom prst="roundRect">
            <a:avLst>
              <a:gd name="adj" fmla="val 6000"/>
            </a:avLst>
          </a:prstGeom>
          <a:solidFill>
            <a:srgbClr val="FD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7680959"/>
            <a:ext cx="1545335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5821F"/>
                </a:solidFill>
                <a:latin typeface="Arial"/>
              </a:rPr>
              <a:t>ΣΥΧΝΟ ΛΑΘΟΣ</a:t>
            </a:r>
          </a:p>
          <a:p>
            <a:pPr algn="l">
              <a:spcBef>
                <a:spcPts val="400"/>
              </a:spcBef>
            </a:pPr>
            <a:r>
              <a:rPr sz="1600" b="0" i="0">
                <a:solidFill>
                  <a:srgbClr val="26314F"/>
                </a:solidFill>
                <a:latin typeface="Arial"/>
              </a:rPr>
              <a:t>customers = customers.append("maria")  κάνει τη customers ίση με None, γιατί η append() δεν επιστρέφει τίποτα. Γράψε απλώς customers.append("maria").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Πακέτα (packages): ο κώδικας των άλλων στη δική σου δουλειά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43000" y="2743200"/>
            <a:ext cx="3726180" cy="3931920"/>
          </a:xfrm>
          <a:prstGeom prst="roundRect">
            <a:avLst>
              <a:gd name="adj" fmla="val 6000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017520"/>
            <a:ext cx="31318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>
                <a:solidFill>
                  <a:srgbClr val="1B2F6B"/>
                </a:solidFill>
                <a:latin typeface="Georgia"/>
              </a:rPr>
              <a:t>NumPy</a:t>
            </a:r>
          </a:p>
          <a:p>
            <a:pPr algn="l"/>
            <a:r>
              <a:rPr sz="1400" b="0" i="1">
                <a:solidFill>
                  <a:srgbClr val="5A6385"/>
                </a:solidFill>
                <a:latin typeface="Arial"/>
              </a:rPr>
              <a:t>αριθμητικοί πίνακες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069080"/>
            <a:ext cx="3086100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6314F"/>
                </a:solidFill>
                <a:latin typeface="Arial"/>
              </a:rPr>
              <a:t>Γρήγοροι υπολογισμοί σε ολόκληρους πίνακες (arrays) αριθμών. Η βάση σχεδόν όλων των υπολοίπων.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34940" y="2743200"/>
            <a:ext cx="3726180" cy="3931920"/>
          </a:xfrm>
          <a:prstGeom prst="roundRect">
            <a:avLst>
              <a:gd name="adj" fmla="val 6000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54980" y="3017520"/>
            <a:ext cx="31318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>
                <a:solidFill>
                  <a:srgbClr val="1B2F6B"/>
                </a:solidFill>
                <a:latin typeface="Georgia"/>
              </a:rPr>
              <a:t>pandas</a:t>
            </a:r>
          </a:p>
          <a:p>
            <a:pPr algn="l"/>
            <a:r>
              <a:rPr sz="1400" b="0" i="1">
                <a:solidFill>
                  <a:srgbClr val="5A6385"/>
                </a:solidFill>
                <a:latin typeface="Arial"/>
              </a:rPr>
              <a:t>πίνακες δεδομένων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54980" y="4069080"/>
            <a:ext cx="3086100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6314F"/>
                </a:solidFill>
                <a:latin typeface="Arial"/>
              </a:rPr>
              <a:t>DataFrames: δεδομένα σε γραμμές και στήλες, όπως στο Excel, με φίλτρα, ομαδοποιήσεις και συνενώσεις.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0" y="2743200"/>
            <a:ext cx="3726180" cy="3931920"/>
          </a:xfrm>
          <a:prstGeom prst="roundRect">
            <a:avLst>
              <a:gd name="adj" fmla="val 6000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3017520"/>
            <a:ext cx="31318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>
                <a:solidFill>
                  <a:srgbClr val="1B2F6B"/>
                </a:solidFill>
                <a:latin typeface="Georgia"/>
              </a:rPr>
              <a:t>Matplotlib</a:t>
            </a:r>
          </a:p>
          <a:p>
            <a:pPr algn="l"/>
            <a:r>
              <a:rPr sz="1400" b="0" i="1">
                <a:solidFill>
                  <a:srgbClr val="5A6385"/>
                </a:solidFill>
                <a:latin typeface="Arial"/>
              </a:rPr>
              <a:t>οπτικοποίηση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46920" y="4069080"/>
            <a:ext cx="3086100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6314F"/>
                </a:solidFill>
                <a:latin typeface="Arial"/>
              </a:rPr>
              <a:t>Γραφήματα: γραμμές, ράβδοι, διασπορές, ιστογράμματα.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418820" y="2743200"/>
            <a:ext cx="3726180" cy="3931920"/>
          </a:xfrm>
          <a:prstGeom prst="roundRect">
            <a:avLst>
              <a:gd name="adj" fmla="val 6000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38860" y="3017520"/>
            <a:ext cx="3131819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>
                <a:solidFill>
                  <a:srgbClr val="1B2F6B"/>
                </a:solidFill>
                <a:latin typeface="Georgia"/>
              </a:rPr>
              <a:t>scikit-learn</a:t>
            </a:r>
          </a:p>
          <a:p>
            <a:pPr algn="l"/>
            <a:r>
              <a:rPr sz="1400" b="0" i="1">
                <a:solidFill>
                  <a:srgbClr val="5A6385"/>
                </a:solidFill>
                <a:latin typeface="Arial"/>
              </a:rPr>
              <a:t>μηχανική μάθηση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38860" y="4069080"/>
            <a:ext cx="3086100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6314F"/>
                </a:solidFill>
                <a:latin typeface="Arial"/>
              </a:rPr>
              <a:t>Έτοιμοι αλγόριθμοι: παλινδρόμηση, ταξινόμηση, ομαδοποίηση.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6995160"/>
            <a:ext cx="7818120" cy="2011679"/>
          </a:xfrm>
          <a:prstGeom prst="roundRect">
            <a:avLst>
              <a:gd name="adj" fmla="val 6000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7269480"/>
            <a:ext cx="72237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1B2F6B"/>
                </a:solidFill>
                <a:latin typeface="Georgia"/>
              </a:rPr>
              <a:t>1. Εγκατάσταση</a:t>
            </a:r>
          </a:p>
          <a:p>
            <a:pPr algn="l"/>
            <a:r>
              <a:rPr sz="1400" b="0" i="1">
                <a:solidFill>
                  <a:srgbClr val="5A6385"/>
                </a:solidFill>
                <a:latin typeface="Arial"/>
              </a:rPr>
              <a:t>μία φορά στον υπολογιστή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8321040"/>
            <a:ext cx="7178040" cy="457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6314F"/>
                </a:solidFill>
                <a:latin typeface="Arial"/>
              </a:rPr>
              <a:t>pip install numpy  στο τερματικό. Με Anaconda ή Google Colab τα βασικά πακέτα είναι ήδη εγκατεστημένα.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0" y="6995160"/>
            <a:ext cx="7818120" cy="2011679"/>
          </a:xfrm>
          <a:prstGeom prst="roundRect">
            <a:avLst>
              <a:gd name="adj" fmla="val 6000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46920" y="7269480"/>
            <a:ext cx="7223759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1B2F6B"/>
                </a:solidFill>
                <a:latin typeface="Georgia"/>
              </a:rPr>
              <a:t>2. Εισαγωγή</a:t>
            </a:r>
          </a:p>
          <a:p>
            <a:pPr algn="l"/>
            <a:r>
              <a:rPr sz="1400" b="0" i="1">
                <a:solidFill>
                  <a:srgbClr val="5A6385"/>
                </a:solidFill>
                <a:latin typeface="Arial"/>
              </a:rPr>
              <a:t>σε κάθε script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8321040"/>
            <a:ext cx="7178040" cy="457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6314F"/>
                </a:solidFill>
                <a:latin typeface="Arial"/>
              </a:rPr>
              <a:t>import numpy as np  λέει στην Python ότι θα χρησιμοποιήσεις το πακέτο σε αυτό το script.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Τρεις τρόποι εισαγωγής (import)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half"/>
          </p:nvPr>
        </p:nvSpPr>
        <p:spPr/>
        <p:txBody>
          <a:bodyPr/>
          <a:lstStyle/>
          <a:p>
            <a:pPr/>
            <a:r>
              <a:rPr sz="2100">
                <a:solidFill>
                  <a:srgbClr val="1B2F6B"/>
                </a:solidFill>
                <a:latin typeface="Courier New"/>
              </a:rPr>
              <a:t>import numpy</a:t>
            </a:r>
          </a:p>
          <a:p>
            <a:pPr lvl="1"/>
            <a:r>
              <a:rPr sz="1700"/>
              <a:t>Κάθε φορά γράφεις numpy.array(…)</a:t>
            </a:r>
          </a:p>
          <a:p>
            <a:pPr/>
            <a:r>
              <a:rPr sz="2100">
                <a:solidFill>
                  <a:srgbClr val="1B2F6B"/>
                </a:solidFill>
                <a:latin typeface="Courier New"/>
              </a:rPr>
              <a:t>import numpy as np</a:t>
            </a:r>
            <a:r>
              <a:rPr sz="2100" b="1">
                <a:solidFill>
                  <a:srgbClr val="1B2F6B"/>
                </a:solidFill>
              </a:rPr>
              <a:t>   ← η συνήθης πρακτική</a:t>
            </a:r>
          </a:p>
          <a:p>
            <a:pPr lvl="1"/>
            <a:r>
              <a:rPr sz="1700"/>
              <a:t>Ψευδώνυμο (alias): γράφεις np.array(…)</a:t>
            </a:r>
          </a:p>
          <a:p>
            <a:pPr/>
            <a:r>
              <a:rPr sz="2100">
                <a:solidFill>
                  <a:srgbClr val="1B2F6B"/>
                </a:solidFill>
                <a:latin typeface="Courier New"/>
              </a:rPr>
              <a:t>from numpy import array</a:t>
            </a:r>
          </a:p>
          <a:p>
            <a:pPr lvl="1"/>
            <a:r>
              <a:rPr sz="1700"/>
              <a:t>Φέρνεις μόνο την array(): γράφεις array(…)</a:t>
            </a:r>
          </a:p>
          <a:p>
            <a:pPr lvl="1"/>
            <a:r>
              <a:rPr sz="1700"/>
              <a:t>Σύντομο, αλλά μετά από λίγο δεν θυμάσαι από πού ήρθε</a:t>
            </a:r>
          </a:p>
          <a:p>
            <a:pPr/>
            <a:r>
              <a:rPr sz="2100" b="1">
                <a:solidFill>
                  <a:srgbClr val="1B2F6B"/>
                </a:solidFill>
              </a:rPr>
              <a:t>Η εισαγωγή γίνεται μία φορά, στην αρχή του script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2743200"/>
            <a:ext cx="7452360" cy="3966210"/>
          </a:xfrm>
          <a:prstGeom prst="roundRect">
            <a:avLst>
              <a:gd name="adj" fmla="val 5000"/>
            </a:avLst>
          </a:prstGeom>
          <a:solidFill>
            <a:srgbClr val="14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2852928"/>
            <a:ext cx="6903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9C8FC"/>
                </a:solidFill>
                <a:latin typeface="Courier New"/>
              </a:rPr>
              <a:t>script.py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3200400"/>
            <a:ext cx="6903720" cy="3417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>
                <a:solidFill>
                  <a:srgbClr val="F4F6FF"/>
                </a:solidFill>
                <a:latin typeface="Courier New"/>
              </a:rPr>
              <a:t>import numpy as np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 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prices = [19.9, 249.0, 45.0, 59.0]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np_prices = np.array(prices)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 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print(np_prices * 1.24)   </a:t>
            </a:r>
            <a:r>
              <a:rPr sz="1800">
                <a:solidFill>
                  <a:srgbClr val="9FB3E8"/>
                </a:solidFill>
                <a:latin typeface="Courier New"/>
              </a:rPr>
              <a:t># με ΦΠΑ 24%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 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from math import ceil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print(ceil(1250 / 48))   </a:t>
            </a:r>
            <a:r>
              <a:rPr sz="1800">
                <a:solidFill>
                  <a:srgbClr val="9FB3E8"/>
                </a:solidFill>
                <a:latin typeface="Courier New"/>
              </a:rPr>
              <a:t># κουτιά των 48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92640" y="6846570"/>
            <a:ext cx="7452360" cy="1394460"/>
          </a:xfrm>
          <a:prstGeom prst="roundRect">
            <a:avLst>
              <a:gd name="adj" fmla="val 5000"/>
            </a:avLst>
          </a:prstGeom>
          <a:solidFill>
            <a:srgbClr val="EEF1FE"/>
          </a:solidFill>
          <a:ln w="19050">
            <a:solidFill>
              <a:srgbClr val="B9C8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6938010"/>
            <a:ext cx="6903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5A6385"/>
                </a:solidFill>
                <a:latin typeface="Courier New"/>
              </a:rPr>
              <a:t>Έξοδος (output)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7258050"/>
            <a:ext cx="6903720" cy="9372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>
                <a:solidFill>
                  <a:srgbClr val="1B2F6B"/>
                </a:solidFill>
                <a:latin typeface="Courier New"/>
              </a:rPr>
              <a:t>[ 24.676 308.76   55.8    73.16 ]</a:t>
            </a:r>
          </a:p>
          <a:p>
            <a:r>
              <a:rPr sz="1800">
                <a:solidFill>
                  <a:srgbClr val="1B2F6B"/>
                </a:solidFill>
                <a:latin typeface="Courier New"/>
              </a:rPr>
              <a:t>27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001000" y="6903720"/>
            <a:ext cx="9528048" cy="1737360"/>
          </a:xfrm>
        </p:spPr>
        <p:txBody>
          <a:bodyPr/>
          <a:lstStyle/>
          <a:p>
            <a:r>
              <a:rPr sz="4400"/>
              <a:t>Όταν κάτι πάει στραβά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8001000" y="8915400"/>
            <a:ext cx="9217152" cy="914400"/>
          </a:xfrm>
        </p:spPr>
        <p:txBody>
          <a:bodyPr/>
          <a:lstStyle/>
          <a:p>
            <a:r>
              <a:t>Πώς διαβάζουμε ένα μήνυμα σφάλματος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Τα τέσσερα σφάλματα που θα δεις πρώτα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43000" y="2743200"/>
            <a:ext cx="7818120" cy="2948939"/>
          </a:xfrm>
          <a:prstGeom prst="roundRect">
            <a:avLst>
              <a:gd name="adj" fmla="val 6000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017520"/>
            <a:ext cx="72237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>
                <a:solidFill>
                  <a:srgbClr val="1B2F6B"/>
                </a:solidFill>
                <a:latin typeface="Georgia"/>
              </a:rPr>
              <a:t>NameError</a:t>
            </a:r>
          </a:p>
          <a:p>
            <a:pPr algn="l"/>
            <a:r>
              <a:rPr sz="1300" b="0" i="1">
                <a:solidFill>
                  <a:srgbClr val="5A6385"/>
                </a:solidFill>
                <a:latin typeface="Arial"/>
              </a:rPr>
              <a:t>name 'x' is not defined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069080"/>
            <a:ext cx="7178040" cy="13944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26314F"/>
                </a:solidFill>
                <a:latin typeface="Arial"/>
              </a:rPr>
              <a:t>Χρησιμοποιείς όνομα που δεν έχει οριστεί (ή το έγραψες αλλιώς: revenue vs Revenue).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1B2F6B"/>
                </a:solidFill>
                <a:latin typeface="Courier New"/>
              </a:rPr>
              <a:t>print(revenu)  # λείπει το 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0" y="2743200"/>
            <a:ext cx="7818120" cy="2948939"/>
          </a:xfrm>
          <a:prstGeom prst="roundRect">
            <a:avLst>
              <a:gd name="adj" fmla="val 6000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46920" y="3017520"/>
            <a:ext cx="7223759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>
                <a:solidFill>
                  <a:srgbClr val="1B2F6B"/>
                </a:solidFill>
                <a:latin typeface="Georgia"/>
              </a:rPr>
              <a:t>TypeError</a:t>
            </a:r>
          </a:p>
          <a:p>
            <a:pPr algn="l"/>
            <a:r>
              <a:rPr sz="1300" b="0" i="1">
                <a:solidFill>
                  <a:srgbClr val="5A6385"/>
                </a:solidFill>
                <a:latin typeface="Arial"/>
              </a:rPr>
              <a:t>unsupported operand / can only concatenate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4069080"/>
            <a:ext cx="7178040" cy="13944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26314F"/>
                </a:solidFill>
                <a:latin typeface="Arial"/>
              </a:rPr>
              <a:t>Πράξη ανάμεσα σε ασύμβατους τύπους. Ρώτα type() και μετέτρεψε.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1B2F6B"/>
                </a:solidFill>
                <a:latin typeface="Courier New"/>
              </a:rPr>
              <a:t>"total: " + 3   # str + int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6057900"/>
            <a:ext cx="7818120" cy="2948939"/>
          </a:xfrm>
          <a:prstGeom prst="roundRect">
            <a:avLst>
              <a:gd name="adj" fmla="val 6000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6332220"/>
            <a:ext cx="72237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>
                <a:solidFill>
                  <a:srgbClr val="1B2F6B"/>
                </a:solidFill>
                <a:latin typeface="Georgia"/>
              </a:rPr>
              <a:t>IndexError</a:t>
            </a:r>
          </a:p>
          <a:p>
            <a:pPr algn="l"/>
            <a:r>
              <a:rPr sz="1300" b="0" i="1">
                <a:solidFill>
                  <a:srgbClr val="5A6385"/>
                </a:solidFill>
                <a:latin typeface="Arial"/>
              </a:rPr>
              <a:t>list index out of range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7383779"/>
            <a:ext cx="7178040" cy="13944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26314F"/>
                </a:solidFill>
                <a:latin typeface="Arial"/>
              </a:rPr>
              <a:t>Ζητάς δείκτη που δεν υπάρχει. Θυμήσου: 5 στοιχεία = δείκτες 0 έως 4.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1B2F6B"/>
                </a:solidFill>
                <a:latin typeface="Courier New"/>
              </a:rPr>
              <a:t>x = [1, 2, 3]; x[3]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0" y="6057900"/>
            <a:ext cx="7818120" cy="2948939"/>
          </a:xfrm>
          <a:prstGeom prst="roundRect">
            <a:avLst>
              <a:gd name="adj" fmla="val 6000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46920" y="6332220"/>
            <a:ext cx="7223759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>
                <a:solidFill>
                  <a:srgbClr val="1B2F6B"/>
                </a:solidFill>
                <a:latin typeface="Georgia"/>
              </a:rPr>
              <a:t>SyntaxError</a:t>
            </a:r>
          </a:p>
          <a:p>
            <a:pPr algn="l"/>
            <a:r>
              <a:rPr sz="1300" b="0" i="1">
                <a:solidFill>
                  <a:srgbClr val="5A6385"/>
                </a:solidFill>
                <a:latin typeface="Arial"/>
              </a:rPr>
              <a:t>invalid syntax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46920" y="7383779"/>
            <a:ext cx="7178040" cy="13944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26314F"/>
                </a:solidFill>
                <a:latin typeface="Arial"/>
              </a:rPr>
              <a:t>Η Python δεν μπορεί καν να διαβάσει τη γραμμή: ξεχασμένη παρένθεση, εισαγωγικό ή άνω-κάτω τελεία.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1B2F6B"/>
                </a:solidFill>
                <a:latin typeface="Courier New"/>
              </a:rPr>
              <a:t>print("hello"   # λείπει η 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Πώς διαβάζεται ένα traceback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half"/>
          </p:nvPr>
        </p:nvSpPr>
        <p:spPr/>
        <p:txBody>
          <a:bodyPr/>
          <a:lstStyle/>
          <a:p>
            <a:pPr/>
            <a:r>
              <a:rPr sz="2100" b="1">
                <a:solidFill>
                  <a:srgbClr val="1B2F6B"/>
                </a:solidFill>
              </a:rPr>
              <a:t>1. Κοίτα την τελευταία γραμμή</a:t>
            </a:r>
          </a:p>
          <a:p>
            <a:pPr lvl="1"/>
            <a:r>
              <a:rPr sz="1700"/>
              <a:t>Τύπος σφάλματος και αιτία, π.χ. TypeError: can only concatenate str (not "int") to str</a:t>
            </a:r>
          </a:p>
          <a:p>
            <a:pPr/>
            <a:r>
              <a:rPr sz="2100" b="1">
                <a:solidFill>
                  <a:srgbClr val="1B2F6B"/>
                </a:solidFill>
              </a:rPr>
              <a:t>2. Βρες τη γραμμή κώδικα</a:t>
            </a:r>
          </a:p>
          <a:p>
            <a:pPr lvl="1"/>
            <a:r>
              <a:rPr sz="1700"/>
              <a:t>line 3: εκεί συνέβη. Οι άλλες γραμμές έτρεξαν κανονικά</a:t>
            </a:r>
          </a:p>
          <a:p>
            <a:pPr/>
            <a:r>
              <a:rPr sz="2100" b="1">
                <a:solidFill>
                  <a:srgbClr val="1B2F6B"/>
                </a:solidFill>
              </a:rPr>
              <a:t>3. Ρώτα: τι τύπου είναι τα πράγματα εδώ;</a:t>
            </a:r>
          </a:p>
          <a:p>
            <a:pPr lvl="1"/>
            <a:r>
              <a:rPr sz="1700"/>
              <a:t>Τύπωσε type() για κάθε μεταβλητή της γραμμής</a:t>
            </a:r>
          </a:p>
          <a:p>
            <a:pPr/>
            <a:r>
              <a:rPr sz="2100" b="1">
                <a:solidFill>
                  <a:srgbClr val="1B2F6B"/>
                </a:solidFill>
              </a:rPr>
              <a:t>4. Διόρθωσε, ξανατρέξε</a:t>
            </a:r>
          </a:p>
          <a:p>
            <a:pPr lvl="1"/>
            <a:r>
              <a:rPr sz="1700"/>
              <a:t>Ένα σφάλμα τη φορά. Το Google και η τεκμηρίωση είναι φίλοι σου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2743200"/>
            <a:ext cx="7452360" cy="1840230"/>
          </a:xfrm>
          <a:prstGeom prst="roundRect">
            <a:avLst>
              <a:gd name="adj" fmla="val 5000"/>
            </a:avLst>
          </a:prstGeom>
          <a:solidFill>
            <a:srgbClr val="14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2852928"/>
            <a:ext cx="6903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9C8FC"/>
                </a:solidFill>
                <a:latin typeface="Courier New"/>
              </a:rPr>
              <a:t>script.py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3200400"/>
            <a:ext cx="6903720" cy="12915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>
                <a:solidFill>
                  <a:srgbClr val="F4F6FF"/>
                </a:solidFill>
                <a:latin typeface="Courier New"/>
              </a:rPr>
              <a:t>revenue = 1250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label = "Revenue: "</a:t>
            </a:r>
          </a:p>
          <a:p>
            <a:r>
              <a:rPr sz="1800">
                <a:solidFill>
                  <a:srgbClr val="F4F6FF"/>
                </a:solidFill>
                <a:latin typeface="Courier New"/>
              </a:rPr>
              <a:t>print(label + revenue)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92640" y="4720590"/>
            <a:ext cx="7452360" cy="2457450"/>
          </a:xfrm>
          <a:prstGeom prst="roundRect">
            <a:avLst>
              <a:gd name="adj" fmla="val 5000"/>
            </a:avLst>
          </a:prstGeom>
          <a:solidFill>
            <a:srgbClr val="EEF1FE"/>
          </a:solidFill>
          <a:ln w="19050">
            <a:solidFill>
              <a:srgbClr val="B9C8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800" b="0" i="0">
                <a:solidFill>
                  <a:srgbClr val="26314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4812030"/>
            <a:ext cx="6903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5A6385"/>
                </a:solidFill>
                <a:latin typeface="Courier New"/>
              </a:rPr>
              <a:t>Μήνυμα σφάλματος (traceback)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5132070"/>
            <a:ext cx="6903720" cy="2000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>
                <a:solidFill>
                  <a:srgbClr val="1B2F6B"/>
                </a:solidFill>
                <a:latin typeface="Courier New"/>
              </a:rPr>
              <a:t>Traceback (most recent call last):</a:t>
            </a:r>
          </a:p>
          <a:p>
            <a:r>
              <a:rPr sz="1800">
                <a:solidFill>
                  <a:srgbClr val="1B2F6B"/>
                </a:solidFill>
                <a:latin typeface="Courier New"/>
              </a:rPr>
              <a:t>  File "script.py", line 3, in &lt;module&gt;</a:t>
            </a:r>
          </a:p>
          <a:p>
            <a:r>
              <a:rPr sz="1800">
                <a:solidFill>
                  <a:srgbClr val="1B2F6B"/>
                </a:solidFill>
                <a:latin typeface="Courier New"/>
              </a:rPr>
              <a:t>    print(label + revenue)</a:t>
            </a:r>
          </a:p>
          <a:p>
            <a:r>
              <a:rPr sz="1800">
                <a:solidFill>
                  <a:srgbClr val="1B2F6B"/>
                </a:solidFill>
                <a:latin typeface="Courier New"/>
              </a:rPr>
              <a:t>TypeError: can only concatenate str</a:t>
            </a:r>
          </a:p>
          <a:p>
            <a:r>
              <a:rPr sz="1800">
                <a:solidFill>
                  <a:srgbClr val="1B2F6B"/>
                </a:solidFill>
                <a:latin typeface="Courier New"/>
              </a:rPr>
              <a:t>(not "int") to str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Συμπεράσματα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200" b="1">
                <a:solidFill>
                  <a:srgbClr val="1B2F6B"/>
                </a:solidFill>
              </a:rPr>
              <a:t>Script για κώδικα, κονσόλα για πειράματα, σχόλια για ανθρώπους</a:t>
            </a:r>
          </a:p>
          <a:p>
            <a:pPr lvl="1"/>
            <a:r>
              <a:rPr sz="1800"/>
              <a:t>Ό,τι ακολουθεί το # δεν εκτελείται</a:t>
            </a:r>
          </a:p>
          <a:p>
            <a:pPr/>
            <a:r>
              <a:rPr sz="2200" b="1">
                <a:solidFill>
                  <a:srgbClr val="1B2F6B"/>
                </a:solidFill>
              </a:rPr>
              <a:t>Μεταβλητές κρατούν τιμές, οι τύποι καθορίζουν τη συμπεριφορά</a:t>
            </a:r>
          </a:p>
          <a:p>
            <a:pPr lvl="1"/>
            <a:r>
              <a:rPr sz="1800"/>
              <a:t>int, float, str, bool · type() για να ρωτήσεις · str(), int(), float() για να μετατρέψεις</a:t>
            </a:r>
          </a:p>
          <a:p>
            <a:pPr/>
            <a:r>
              <a:rPr sz="2200" b="1">
                <a:solidFill>
                  <a:srgbClr val="1B2F6B"/>
                </a:solidFill>
              </a:rPr>
              <a:t>Λίστες: πολλές τιμές, ένα όνομα</a:t>
            </a:r>
          </a:p>
          <a:p>
            <a:pPr lvl="1"/>
            <a:r>
              <a:rPr sz="1800"/>
              <a:t>Δείκτες από το 0 (και αρνητικοί από το τέλος) · [start:end] με το end εκτός · αλλαγή, προσθήκη, διαγραφή</a:t>
            </a:r>
          </a:p>
          <a:p>
            <a:pPr/>
            <a:r>
              <a:rPr sz="2200" b="1">
                <a:solidFill>
                  <a:srgbClr val="1B2F6B"/>
                </a:solidFill>
              </a:rPr>
              <a:t>Συναρτήσεις, μέθοδοι, πακέτα: έτοιμος κώδικας</a:t>
            </a:r>
          </a:p>
          <a:p>
            <a:pPr lvl="1"/>
            <a:r>
              <a:rPr sz="1800"/>
              <a:t>len(x) ή x.append() · import numpy as np για να φέρεις τη δουλειά των άλλων</a:t>
            </a:r>
          </a:p>
          <a:p>
            <a:pPr/>
            <a:r>
              <a:rPr sz="2200" b="1">
                <a:solidFill>
                  <a:srgbClr val="1B2F6B"/>
                </a:solidFill>
              </a:rPr>
              <a:t>Τα σφάλματα είναι πληροφορία, όχι τιμωρία</a:t>
            </a:r>
          </a:p>
          <a:p>
            <a:pPr lvl="1"/>
            <a:r>
              <a:rPr sz="1800"/>
              <a:t>Τελευταία γραμμή του traceback: τι · γραμμή κώδικα: πού · type(): γιατί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Για την επόμενη εβδομάδα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743200"/>
            <a:ext cx="16002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>
                <a:solidFill>
                  <a:srgbClr val="1B2F6B"/>
                </a:solidFill>
                <a:latin typeface="Georgia"/>
              </a:rPr>
              <a:t>Εργασία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337560"/>
            <a:ext cx="16002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26314F"/>
                </a:solidFill>
                <a:latin typeface="Arial"/>
              </a:rPr>
              <a:t>Ολοκλήρωσε και τα 7 βήματα της διαδραστικής σελίδας: κουίζ «τι θα τυπώσει;», ασκήσεις με αυτόματο έλεγχο, τελικό κουίζ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794760"/>
            <a:ext cx="16002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7895F9"/>
                </a:solidFill>
                <a:latin typeface="Arial"/>
              </a:rPr>
              <a:t>https://kalampokis.github.io/bap/Week3/PythonBasics.html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48056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5821F"/>
                </a:solidFill>
                <a:latin typeface="Arial"/>
              </a:rPr>
              <a:t>ΠΡΟΘΕΣΜΙΑ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43891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1B2F6B"/>
                </a:solidFill>
                <a:latin typeface="Georgia"/>
              </a:rPr>
              <a:t>Πριν το επόμενο μάθημα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5303520"/>
            <a:ext cx="16002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>
                <a:solidFill>
                  <a:srgbClr val="1B2F6B"/>
                </a:solidFill>
                <a:latin typeface="Georgia"/>
              </a:rPr>
              <a:t>Συμπληρωματική εξάσκηση (προαιρετική)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5897880"/>
            <a:ext cx="16002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26314F"/>
                </a:solidFill>
                <a:latin typeface="Arial"/>
              </a:rPr>
              <a:t>DataCamp · Introduction to Python, κεφάλαια 1–3 (Python Basics, Python Lists, Functions and Packages): περισσότερες ασκήσεις στην ίδια ύλη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6355080"/>
            <a:ext cx="16002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7895F9"/>
                </a:solidFill>
                <a:latin typeface="Arial"/>
              </a:rPr>
              <a:t>https://app.datacamp.com/learn/courses/intro-to-python-for-data-science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7086600"/>
            <a:ext cx="16002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>
                <a:solidFill>
                  <a:srgbClr val="1B2F6B"/>
                </a:solidFill>
                <a:latin typeface="Georgia"/>
              </a:rPr>
              <a:t>Επόμενη εβδομάδα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7680960"/>
            <a:ext cx="16002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26314F"/>
                </a:solidFill>
                <a:latin typeface="Arial"/>
              </a:rPr>
              <a:t>NumPy: πίνακες αριθμών και υπολογισμοί σε ολόκληρες στήλες με μία γραμμή κώδικα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ΠΡΟΓΡΑΜΜΑΤΙΣΜΟΣ ΓΙΑ ΕΠΙΧΕΙΡΗΜΑΤΙΚΗ ΑΝΑΛΥΤΙΚΗ · ΕΒΔΟΜΑΔΑ 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Ερωτήσεις;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Ευάγγελος Καλαμπόκης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kalampokis.github.io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alampokis">
  <a:themeElements>
    <a:clrScheme name="Kalampokis">
      <a:dk1>
        <a:srgbClr val="26314F"/>
      </a:dk1>
      <a:lt1>
        <a:srgbClr val="FFFFFF"/>
      </a:lt1>
      <a:dk2>
        <a:srgbClr val="1B2F6B"/>
      </a:dk2>
      <a:lt2>
        <a:srgbClr val="EEF1FE"/>
      </a:lt2>
      <a:accent1>
        <a:srgbClr val="7895F9"/>
      </a:accent1>
      <a:accent2>
        <a:srgbClr val="F5821F"/>
      </a:accent2>
      <a:accent3>
        <a:srgbClr val="1B2F6B"/>
      </a:accent3>
      <a:accent4>
        <a:srgbClr val="5A6385"/>
      </a:accent4>
      <a:accent5>
        <a:srgbClr val="B9C8FC"/>
      </a:accent5>
      <a:accent6>
        <a:srgbClr val="FBC08C"/>
      </a:accent6>
      <a:hlink>
        <a:srgbClr val="1B2F6B"/>
      </a:hlink>
      <a:folHlink>
        <a:srgbClr val="5A6385"/>
      </a:folHlink>
    </a:clrScheme>
    <a:fontScheme name="Office">
      <a:maj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421</Words>
  <Application>Microsoft Office PowerPoint</Application>
  <PresentationFormat>Custom</PresentationFormat>
  <Paragraphs>133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Georgia</vt:lpstr>
      <vt:lpstr>Kalampokis</vt:lpstr>
      <vt:lpstr>Presentation Title</vt:lpstr>
      <vt:lpstr>Research Presentation Title</vt:lpstr>
      <vt:lpstr>Agenda</vt:lpstr>
      <vt:lpstr>After today you will be able to…</vt:lpstr>
      <vt:lpstr>Section Title</vt:lpstr>
      <vt:lpstr>Slide title</vt:lpstr>
      <vt:lpstr>Slide title</vt:lpstr>
      <vt:lpstr>Two columns</vt:lpstr>
      <vt:lpstr>Comparison</vt:lpstr>
      <vt:lpstr>Table title</vt:lpstr>
      <vt:lpstr>Figure title</vt:lpstr>
      <vt:lpstr>Text and image</vt:lpstr>
      <vt:lpstr>Key message</vt:lpstr>
      <vt:lpstr>Conclusions</vt:lpstr>
      <vt:lpstr>Next week</vt:lpstr>
      <vt:lpstr>Assignments</vt:lpstr>
      <vt:lpstr>Questions?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Template</dc:title>
  <cp:lastModifiedBy>Microsoft account</cp:lastModifiedBy>
  <cp:revision>26</cp:revision>
  <dcterms:modified xsi:type="dcterms:W3CDTF">2026-10-09T08:12:02Z</dcterms:modified>
</cp:coreProperties>
</file>