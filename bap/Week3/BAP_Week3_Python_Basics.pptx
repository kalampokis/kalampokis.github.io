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F2A1C5E-7B4D-4E8A-9C61-2D5B8E0F7A13}">
  <a:tblStyle styleId="{3F2A1C5E-7B4D-4E8A-9C61-2D5B8E0F7A13}" styleName="Kalampokis Table">
    <a:wholeTbl>
      <a:tcTxStyle>
        <a:fontRef idx="minor">
          <a:prstClr val="black"/>
        </a:fontRef>
        <a:srgbClr val="26314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DDE2F5"/>
              </a:solidFill>
            </a:ln>
          </a:top>
          <a:bottom>
            <a:ln w="9525" cmpd="sng">
              <a:solidFill>
                <a:srgbClr val="DDE2F5"/>
              </a:solidFill>
            </a:ln>
          </a:bottom>
          <a:insideH>
            <a:ln w="9525" cmpd="sng">
              <a:solidFill>
                <a:srgbClr val="DDE2F5"/>
              </a:solidFill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EF1FE"/>
          </a:solidFill>
        </a:fill>
      </a:tcStyle>
    </a:band1H>
    <a:band2H>
      <a:tcStyle>
        <a:tcBdr/>
      </a:tcStyle>
    </a:band2H>
    <a:firstCol>
      <a:tcTxStyle b="on">
        <a:fontRef idx="minor">
          <a:prstClr val="black"/>
        </a:fontRef>
        <a:srgbClr val="1B2F6B"/>
      </a:tcTxStyle>
      <a:tcStyle>
        <a:tcBdr/>
      </a:tcStyle>
    </a:firstCol>
    <a:lastRow>
      <a:tcTxStyle b="on">
        <a:fontRef idx="minor">
          <a:prstClr val="black"/>
        </a:fontRef>
        <a:srgbClr val="1B2F6B"/>
      </a:tcTxStyle>
      <a:tcStyle>
        <a:tcBdr>
          <a:top>
            <a:ln w="19050">
              <a:solidFill>
                <a:srgbClr val="7895F9"/>
              </a:solidFill>
            </a:ln>
          </a:top>
        </a:tcBdr>
      </a:tcStyle>
    </a:lastRow>
    <a:firstRow>
      <a:tcTxStyle b="on">
        <a:fontRef idx="minor">
          <a:prstClr val="black"/>
        </a:fontRef>
        <a:srgbClr val="FFFFFF"/>
      </a:tcTxStyle>
      <a:tcStyle>
        <a:tcBdr>
          <a:bottom>
            <a:ln w="38100">
              <a:solidFill>
                <a:srgbClr val="F5821F"/>
              </a:solidFill>
            </a:ln>
          </a:bottom>
        </a:tcBdr>
        <a:fill>
          <a:solidFill>
            <a:srgbClr val="1B2F6B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Πηγή: DataCamp, Introduction to Python (κεφάλαια 1–3), προσαρμογή στα ελληνικά.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μάθημα ακολουθεί το δωρεάν πρώτο κεφάλαιο και τα επόμενα του DataCamp «Introduction to Python». Οι φοιτητές κάνουν τις ασκήσεις στην πλατφόρμα. Link: https://app.datacamp.com/learn/courses/intro-to-python-for-data-science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Στο DataCamp: αριστερά το script.py, δεξιά το IPython Shell. Run Code εκτελεί το script και δείχνει το αποτέλεσμα στο shell. Submit Answer ελέγχει αν η λύση είναι σωστή. Στο shell μπορείς να πληκτρολογείς εντολές απευθείας, αλλά εκεί δεν ελέγχεται η ορθότητα.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Ό,τι ακολουθεί το # στην ίδια γραμμή αγνοείται από την Python. Τα σχόλια είναι για τους ανθρώπους.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βασικοί αριθμητικοί τελεστές. Προσθήκη σε σχέση με το DataCamp: ** (δύναμη), % (υπόλοιπο), // (ακέραια διαίρεση).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μεταβλητή είναι ένα όνομα που δείχνει σε μια τιμή. Case-sensitive: savings και Savings είναι διαφορετικές.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θέλουμε να ξανατρέξουμε τον υπολογισμό για άλλον αριθμό μηνών, αλλάζουμε μόνο τη δήλωση της μεταβλητής και ξανατρέχουμε το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int, float, str, bool. Η Python «καταλαβαίνει» τον τύπο από τον τρόπο που γράφουμε την τιμή: εισαγωγικά για κείμενο, τελεία για δεκαδικό.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type() επιστρέφει τον τύπο μιας τιμής ή μεταβλητής. Είναι η δεύτερη συνάρτηση που μαθαίνουμε, μετά την print().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στους αριθμούς προσθέτει, στα strings ενώνει (concatenation), στα booleans τα μετρά ως 1 και 0. Το * σε string επαναλαμβάνει. Αριθμός + string δίνει σφάλμα (TypeError).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Για να ενώσουμε αριθμό με κείμενο, μετατρέπουμε τον αριθμό σε string με str(). Αντίστοιχα int(), float(), bool().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μεταβλητή κρατά μία τιμή. Για πολλές τιμές (π.χ. τα εμβαδά των δωματίων ενός σπιτιού) χρειαζόμαστε μια δομή που τις κρατά όλες μαζί: τη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λίστα μπορεί να περιέχει οποιονδήποτε τύπο, ακόμη και μείγμα τύπων, αν και δεν είναι συνηθισμένο. Εδώ: ονόματα (str) και εμβαδά (float) εναλλάξ. Ο τύπος της ίδιας της λίστας είναι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Αφού η λίστα είναι τύπος, μπορεί να μπει μέσα σε άλλη λίστα. Έτσι φτιάχνουμε «πίνακες»: κάθε εσωτερική λίστα είναι μια γραμμή.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αρίθμηση ξεκινά από το 0. Αρνητικοί δείκτες μετρούν από το τέλος: -1 είναι το τελευταίο στοιχείο.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Λύση: areas[1] → 11.25 (το δεύτερο στοιχείο), areas[-1] → 9.5 (το τελευταίο), areas[5] → 20.0 (το έκτο, το εμβαδό του living room).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my_list[start:end]. Ο δείκτης start περιλαμβάνεται, ο end όχι. Το αποτέλεσμα είναι νέα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παραλείψουμε το start, ξεκινά από την αρχή. Αν παραλείψουμε το end, πάει μέχρι το τέλος. Το x[:] είναι αντίγραφο όλης της λίστας.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Από τη λίστα areas (10 στοιχεία) φτιάξε downstairs με τα 6 πρώτα και upstairs με τα 4 τελευταία. Δύο γραφές: με όρια και χωρίς.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x[2] επιστρέφει λίστα, οπότε μπορούμε να βάλουμε κι άλλες αγκύλες: x[2][0]. Διαβάζεται από αριστερά προς τα δεξιά: πρώτα η γραμμή, μετά η στήλη.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Με τις ίδιες αγκύλες που επιλέγουμε, αναθέτουμε νέες τιμές. Μπορούμε να αλλάξουμε και ολόκληρο τμήμα με slicing.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με λίστες τις ενώνει σε νέα λίστα. Το del διαγράφει ένα στοιχείο ή τμήμα· τα επόμενα στοιχεία μετακινούνται μία θέση. Προσθήκη: append() προστίθεται στην επόμενη ενότητα (μέθοδοι).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Εμπλουτισμός (DataCamp, Inner workings of lists). y = x δεν αντιγράφει τη λίστα, δίνει δεύτερο όνομα στην ίδια λίστα. Για πραγματικό αντίγραφο: list(x) ή x[:].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συνάρτηση είναι κομμάτι κώδικα με όνομα που λύνει συγκεκριμένη εργασία. Η Python προσφέρει πολλές ενσωματωμένες (built-in). Η γενική «συνταγή»: έξοδος = όνομα_συνάρτησης(είσοδος).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βασικές ενσωματωμένες συναρτήσεις. Το help(max) ή το ?max στην κονσόλα δείχνει την τεκμηρίωση.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Συνδυασμός συναρτήσεων: η έξοδος της μίας γίνεται είσοδος της άλλης (print(type(var1))).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sorted() παίρνει iterable, key και reverse. Τα ορίσματα με προεπιλεγμένη τιμή (key=None, reverse=False) είναι προαιρετικά. Τα δίνουμε με το όνομά τους (keyword arguments): reverse=True.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τιμή στην Python είναι αντικείμενο (object) και κάθε τύπος έχει τις δικές του μεθόδους. Καλούνται με τελεία: αντικείμενο.μέθοδος().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Προσοχή: κάποιες μέθοδοι αλλάζουν το αντικείμενο (append, remove, reverse), ενώ άλλες επιστρέφουν νέα τιμή (upper). Το fam.append("x") δεν επιστρέφει τίποτα· η αλλαγή έγινε μέσα στη fam.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Πακέτο = κατάλογος με scripts (modules) που ορίζουν συναρτήσεις, μεθόδους και τύπους. Για ανάλυση δεδομένων τα βασικά είναι NumPy, Matplotlib, scikit-learn, pandas.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numpy (πλήρες όνομα), import numpy as np (ψευδώνυμο, η συνήθης πρακτική), from numpy import array (μόνο ένα στοιχείο). Προτίμησε τον δεύτερο: σύντομος και ξεκάθαρος για το από πού έρχεται κάθε συνάρτηση.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820525" y="561975"/>
            <a:ext cx="6467475" cy="8562975"/>
          </a:xfrm>
          <a:prstGeom prst="rect">
            <a:avLst/>
          </a:prstGeom>
          <a:solidFill>
            <a:srgbClr val="EEF1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5"/>
          <p:cNvPicPr>
            <a:picLocks noChangeAspect="1"/>
          </p:cNvPicPr>
          <p:nvPr userDrawn="1"/>
        </p:nvPicPr>
        <p:blipFill rotWithShape="1">
          <a:blip r:embed="rId2"/>
          <a:srcRect l="12520"/>
          <a:stretch>
            <a:fillRect/>
          </a:stretch>
        </p:blipFill>
        <p:spPr>
          <a:xfrm>
            <a:off x="11839575" y="457200"/>
            <a:ext cx="6429375" cy="8667750"/>
          </a:xfrm>
          <a:prstGeom prst="rect">
            <a:avLst/>
          </a:prstGeom>
        </p:spPr>
      </p:pic>
      <p:sp>
        <p:nvSpPr>
          <p:cNvPr id="6" name="Shape 6"/>
          <p:cNvSpPr/>
          <p:nvPr userDrawn="1"/>
        </p:nvSpPr>
        <p:spPr>
          <a:xfrm>
            <a:off x="11725275" y="485775"/>
            <a:ext cx="95250" cy="8639175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9153525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908685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0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11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3" name="Shape 13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4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5" name="Shape 15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6"/>
          <p:cNvPicPr>
            <a:picLocks noChangeAspect="1"/>
          </p:cNvPicPr>
          <p:nvPr userDrawn="1"/>
        </p:nvPicPr>
        <p:blipFill rotWithShape="1">
          <a:blip r:embed="rId5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7" name="Shape 17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8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14287500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14220825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7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9" name="Picture 9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0" name="Shape 10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2" name="Shape 12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4" name="Shape 14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5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6858000" cy="102870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 userDrawn="1"/>
        </p:nvSpPr>
        <p:spPr>
          <a:xfrm>
            <a:off x="952500" y="1047750"/>
            <a:ext cx="4762500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2250" b="1" spc="450">
                <a:solidFill>
                  <a:srgbClr val="14224F"/>
                </a:solidFill>
                <a:latin typeface="Arial"/>
                <a:cs typeface="Arial"/>
              </a:rPr>
              <a:t>PART</a:t>
            </a:r>
          </a:p>
        </p:txBody>
      </p:sp>
      <p:sp>
        <p:nvSpPr>
          <p:cNvPr id="4" name="Section number"/>
          <p:cNvSpPr>
            <a:spLocks noGrp="1"/>
          </p:cNvSpPr>
          <p:nvPr>
            <p:ph type="body" idx="13"/>
          </p:nvPr>
        </p:nvSpPr>
        <p:spPr>
          <a:xfrm>
            <a:off x="952500" y="5715000"/>
            <a:ext cx="5334000" cy="38100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27000" b="1">
                <a:solidFill>
                  <a:srgbClr val="FFFFFF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I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8001000" y="6753225"/>
            <a:ext cx="914400" cy="5715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8001000" y="7048500"/>
            <a:ext cx="9525000" cy="1428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5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7" name="Description"/>
          <p:cNvSpPr>
            <a:spLocks noGrp="1"/>
          </p:cNvSpPr>
          <p:nvPr>
            <p:ph type="body" idx="1"/>
          </p:nvPr>
        </p:nvSpPr>
        <p:spPr>
          <a:xfrm>
            <a:off x="8001000" y="8572500"/>
            <a:ext cx="922020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7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One-line description of this part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8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Agenda item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666750" indent="-666750">
              <a:lnSpc>
                <a:spcPct val="110000"/>
              </a:lnSpc>
              <a:spcBef>
                <a:spcPts val="2400"/>
              </a:spcBef>
              <a:spcAft>
                <a:spcPts val="0"/>
              </a:spcAft>
              <a:buClr>
                <a:srgbClr val="F5821F"/>
              </a:buClr>
              <a:buSzPct val="100000"/>
              <a:buFont typeface="+mj-lt"/>
              <a:buAutoNum type="arabicPeriod"/>
              <a:defRPr sz="3200" b="0">
                <a:solidFill>
                  <a:srgbClr val="1B2F6B"/>
                </a:solidFill>
                <a:latin typeface="Arial"/>
                <a:cs typeface="Arial"/>
              </a:defRPr>
            </a:lvl1pPr>
            <a:lvl2pPr marL="66675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2400" b="0">
                <a:solidFill>
                  <a:srgbClr val="5A6385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Agenda item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arning obj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Objective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Learning objective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"/>
          <p:cNvSpPr>
            <a:spLocks noGrp="1"/>
          </p:cNvSpPr>
          <p:nvPr>
            <p:ph type="body" sz="half" idx="1"/>
          </p:nvPr>
        </p:nvSpPr>
        <p:spPr>
          <a:xfrm>
            <a:off x="114300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Right"/>
          <p:cNvSpPr>
            <a:spLocks noGrp="1"/>
          </p:cNvSpPr>
          <p:nvPr>
            <p:ph type="body" sz="half" idx="2"/>
          </p:nvPr>
        </p:nvSpPr>
        <p:spPr>
          <a:xfrm>
            <a:off x="942975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A</a:t>
            </a:r>
          </a:p>
        </p:txBody>
      </p:sp>
      <p:sp>
        <p:nvSpPr>
          <p:cNvPr id="6" name="Shape 6"/>
          <p:cNvSpPr/>
          <p:nvPr userDrawn="1"/>
        </p:nvSpPr>
        <p:spPr>
          <a:xfrm>
            <a:off x="1143000" y="3333750"/>
            <a:ext cx="7715250" cy="381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Left content"/>
          <p:cNvSpPr>
            <a:spLocks noGrp="1"/>
          </p:cNvSpPr>
          <p:nvPr>
            <p:ph type="body" sz="half" idx="2"/>
          </p:nvPr>
        </p:nvSpPr>
        <p:spPr>
          <a:xfrm>
            <a:off x="114300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8" name="Right heading"/>
          <p:cNvSpPr>
            <a:spLocks noGrp="1"/>
          </p:cNvSpPr>
          <p:nvPr>
            <p:ph type="body" idx="3"/>
          </p:nvPr>
        </p:nvSpPr>
        <p:spPr>
          <a:xfrm>
            <a:off x="942975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B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9429750" y="3333750"/>
            <a:ext cx="7715250" cy="381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ight content"/>
          <p:cNvSpPr>
            <a:spLocks noGrp="1"/>
          </p:cNvSpPr>
          <p:nvPr>
            <p:ph type="body" sz="half" idx="4"/>
          </p:nvPr>
        </p:nvSpPr>
        <p:spPr>
          <a:xfrm>
            <a:off x="942975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idx="1"/>
          </p:nvPr>
        </p:nvSpPr>
        <p:spPr>
          <a:xfrm>
            <a:off x="1143000" y="2762250"/>
            <a:ext cx="16002000" cy="6096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icon to add table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or char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Picture"/>
          <p:cNvSpPr>
            <a:spLocks noGrp="1"/>
          </p:cNvSpPr>
          <p:nvPr>
            <p:ph type="pic" idx="1"/>
          </p:nvPr>
        </p:nvSpPr>
        <p:spPr>
          <a:xfrm>
            <a:off x="1143000" y="2571750"/>
            <a:ext cx="16002000" cy="581025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idx="2"/>
          </p:nvPr>
        </p:nvSpPr>
        <p:spPr>
          <a:xfrm>
            <a:off x="1143000" y="8572500"/>
            <a:ext cx="16002000" cy="5334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i="1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Figure 1. Caption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78105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Picture"/>
          <p:cNvSpPr>
            <a:spLocks noGrp="1"/>
          </p:cNvSpPr>
          <p:nvPr>
            <p:ph type="pic" idx="2"/>
          </p:nvPr>
        </p:nvSpPr>
        <p:spPr>
          <a:xfrm>
            <a:off x="9715500" y="2571750"/>
            <a:ext cx="7429500" cy="647700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857500"/>
            <a:ext cx="95250" cy="36195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Message"/>
          <p:cNvSpPr>
            <a:spLocks noGrp="1"/>
          </p:cNvSpPr>
          <p:nvPr>
            <p:ph type="body" idx="1"/>
          </p:nvPr>
        </p:nvSpPr>
        <p:spPr>
          <a:xfrm>
            <a:off x="1714500" y="2857500"/>
            <a:ext cx="14859000" cy="361950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One sentence the audience should remember.</a:t>
            </a:r>
          </a:p>
        </p:txBody>
      </p:sp>
      <p:sp>
        <p:nvSpPr>
          <p:cNvPr id="7" name="Attribution"/>
          <p:cNvSpPr>
            <a:spLocks noGrp="1"/>
          </p:cNvSpPr>
          <p:nvPr>
            <p:ph type="body" idx="2"/>
          </p:nvPr>
        </p:nvSpPr>
        <p:spPr>
          <a:xfrm>
            <a:off x="1714500" y="6953250"/>
            <a:ext cx="14859000" cy="4762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— Source or author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clusion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476250" indent="-476250">
              <a:lnSpc>
                <a:spcPct val="110000"/>
              </a:lnSpc>
              <a:spcBef>
                <a:spcPts val="2600"/>
              </a:spcBef>
              <a:spcAft>
                <a:spcPts val="0"/>
              </a:spcAft>
              <a:buClr>
                <a:srgbClr val="F5821F"/>
              </a:buClr>
              <a:buSzPct val="60000"/>
              <a:buFont typeface="Arial"/>
              <a:buChar char="■"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47625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Conclusion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estions /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1905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>
            <a:spLocks noGrp="1"/>
          </p:cNvSpPr>
          <p:nvPr>
            <p:ph type="body" idx="13"/>
          </p:nvPr>
        </p:nvSpPr>
        <p:spPr>
          <a:xfrm>
            <a:off x="1143000" y="1428750"/>
            <a:ext cx="114300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spc="30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343150"/>
            <a:ext cx="95250" cy="1676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1657350" y="2381250"/>
            <a:ext cx="14287500" cy="161925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Questions?</a:t>
            </a:r>
          </a:p>
        </p:txBody>
      </p:sp>
      <p:sp>
        <p:nvSpPr>
          <p:cNvPr id="7" name="Name"/>
          <p:cNvSpPr>
            <a:spLocks noGrp="1"/>
          </p:cNvSpPr>
          <p:nvPr>
            <p:ph type="body" idx="1"/>
          </p:nvPr>
        </p:nvSpPr>
        <p:spPr>
          <a:xfrm>
            <a:off x="1657350" y="4448175"/>
            <a:ext cx="95250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Contact"/>
          <p:cNvSpPr>
            <a:spLocks noGrp="1"/>
          </p:cNvSpPr>
          <p:nvPr>
            <p:ph type="body" idx="14"/>
          </p:nvPr>
        </p:nvSpPr>
        <p:spPr>
          <a:xfrm>
            <a:off x="1657350" y="5324475"/>
            <a:ext cx="9525000" cy="7620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0" y="8467725"/>
            <a:ext cx="18288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/>
          <p:cNvSpPr txBox="1"/>
          <p:nvPr userDrawn="1"/>
        </p:nvSpPr>
        <p:spPr>
          <a:xfrm>
            <a:off x="1657350" y="92297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5A6385"/>
                </a:solidFill>
                <a:latin typeface="Arial"/>
                <a:cs typeface="Arial"/>
              </a:rPr>
              <a:t>© Information Systems Lab</a:t>
            </a:r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1563350" y="8924925"/>
            <a:ext cx="971550" cy="914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3068300" y="9039225"/>
            <a:ext cx="2171700" cy="685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5773400" y="8924925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571500" y="2038350"/>
            <a:ext cx="419100" cy="1524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1143000" y="2038350"/>
            <a:ext cx="17145000" cy="152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9363075"/>
            <a:ext cx="16002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6" name="Body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7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hdr="0" dt="0"/>
  <p:txStyles>
    <p:titleStyle>
      <a:lvl1pPr marL="0" indent="0">
        <a:lnSpc>
          <a:spcPct val="97000"/>
        </a:lnSpc>
        <a:spcBef>
          <a:spcPts val="0"/>
        </a:spcBef>
        <a:spcAft>
          <a:spcPts val="0"/>
        </a:spcAft>
        <a:buNone/>
        <a:defRPr sz="5100" b="1">
          <a:solidFill>
            <a:srgbClr val="1B2F6B"/>
          </a:solidFill>
          <a:latin typeface="Georgia"/>
          <a:cs typeface="Georgia"/>
        </a:defRPr>
      </a:lvl1pPr>
    </p:titleStyle>
    <p:bodyStyle>
      <a:lvl1pPr marL="419100" indent="-419100">
        <a:lnSpc>
          <a:spcPct val="115000"/>
        </a:lnSpc>
        <a:spcBef>
          <a:spcPts val="2000"/>
        </a:spcBef>
        <a:spcAft>
          <a:spcPts val="0"/>
        </a:spcAft>
        <a:buClr>
          <a:srgbClr val="F5821F"/>
        </a:buClr>
        <a:buSzPct val="65000"/>
        <a:buFont typeface="Arial"/>
        <a:buChar char="●"/>
        <a:defRPr sz="2800" b="0">
          <a:solidFill>
            <a:srgbClr val="26314F"/>
          </a:solidFill>
          <a:latin typeface="Arial"/>
          <a:cs typeface="Arial"/>
        </a:defRPr>
      </a:lvl1pPr>
      <a:lvl2pPr marL="952500" indent="-381000">
        <a:lnSpc>
          <a:spcPct val="115000"/>
        </a:lnSpc>
        <a:spcBef>
          <a:spcPts val="800"/>
        </a:spcBef>
        <a:spcAft>
          <a:spcPts val="0"/>
        </a:spcAft>
        <a:buClr>
          <a:srgbClr val="7895F9"/>
        </a:buClr>
        <a:buSzPct val="55000"/>
        <a:buFont typeface="Arial"/>
        <a:buChar char="●"/>
        <a:defRPr sz="2400" b="0">
          <a:solidFill>
            <a:srgbClr val="5A6385"/>
          </a:solidFill>
          <a:latin typeface="Arial"/>
          <a:cs typeface="Arial"/>
        </a:defRPr>
      </a:lvl2pPr>
      <a:lvl3pPr marL="1428750" indent="-342900">
        <a:lnSpc>
          <a:spcPct val="115000"/>
        </a:lnSpc>
        <a:spcBef>
          <a:spcPts val="6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2000" b="0">
          <a:solidFill>
            <a:srgbClr val="5A6385"/>
          </a:solidFill>
          <a:latin typeface="Arial"/>
          <a:cs typeface="Arial"/>
        </a:defRPr>
      </a:lvl3pPr>
      <a:lvl4pPr marL="1809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4pPr>
      <a:lvl5pPr marL="2190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5pPr>
    </p:bodyStyle>
    <p:otherStyle>
      <a:lvl1pPr marL="0" indent="0">
        <a:lnSpc>
          <a:spcPct val="100000"/>
        </a:lnSpc>
        <a:spcBef>
          <a:spcPts val="0"/>
        </a:spcBef>
        <a:spcAft>
          <a:spcPts val="0"/>
        </a:spcAft>
        <a:buNone/>
        <a:defRPr sz="1800" b="0">
          <a:solidFill>
            <a:srgbClr val="26314F"/>
          </a:solidFill>
          <a:latin typeface="Arial"/>
          <a:cs typeface="Arial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Εισαγωγή στην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Προγραμματισμός για Επιχειρηματική Αναλυτική · Εβδομάδα 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Ατζέντα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Το περιβάλλον της Python: script, κονσόλα, σχόλια</a:t>
            </a:r>
          </a:p>
          <a:p>
            <a:pPr/>
            <a:r>
              <a:t>Μεταβλητές (variables) και τύποι δεδομένων (data types)</a:t>
            </a:r>
          </a:p>
          <a:p>
            <a:pPr/>
            <a:r>
              <a:t>Λίστες (lists): δημιουργία, δείκτες, τμήματα, αλλαγές</a:t>
            </a:r>
          </a:p>
          <a:p>
            <a:pPr/>
            <a:r>
              <a:t>Συναρτήσεις (functions), μέθοδοι (methods), πακέτα (packages)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Μετά το μάθημα θα μπορείς να…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Γράφεις και εκτελείς απλό κώδικα Python</a:t>
            </a:r>
          </a:p>
          <a:p>
            <a:pPr lvl="1"/>
            <a:r>
              <a:t>Στο script και στην κονσόλα, με σχόλια που εξηγούν τι κάνει</a:t>
            </a:r>
          </a:p>
          <a:p>
            <a:pPr/>
            <a:r>
              <a:t>Αποθηκεύεις τιμές σε μεταβλητές και ξεχωρίζεις τους βασικούς τύπους</a:t>
            </a:r>
          </a:p>
          <a:p>
            <a:pPr lvl="1"/>
            <a:r>
              <a:t>int, float, str, bool, και γιατί ο τύπος αλλάζει τη συμπεριφορά του κώδικα</a:t>
            </a:r>
          </a:p>
          <a:p>
            <a:pPr/>
            <a:r>
              <a:t>Οργανώνεις πολλές τιμές σε λίστες και τις επεξεργάζεσαι</a:t>
            </a:r>
          </a:p>
          <a:p>
            <a:pPr lvl="1"/>
            <a:r>
              <a:t>Επιλογή στοιχείων με δείκτες, τμήματα με slicing, προσθήκη και διαγραφή</a:t>
            </a:r>
          </a:p>
          <a:p>
            <a:pPr/>
            <a:r>
              <a:t>Χρησιμοποιείς έτοιμο κώδικα αντί να τον γράφεις από την αρχή</a:t>
            </a:r>
          </a:p>
          <a:p>
            <a:pPr lvl="1"/>
            <a:r>
              <a:t>Ενσωματωμένες συναρτήσεις, μέθοδοι αντικειμένων και πακέτα όπως το NumPy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Το περιβάλλον της Python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Πού γράφουμε κώδικα, πού βλέπουμε το αποτέλεσμα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Το υλικό της εβδομάδας: Introduction to Python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Διαδραστικό μάθημα στο DataCamp</a:t>
            </a:r>
          </a:p>
          <a:p>
            <a:pPr lvl="1"/>
            <a:r>
              <a:rPr sz="2000"/>
              <a:t>4 ώρες · 11 βίντεο · 57 ασκήσεις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Τι καλύπτουμε σήμερα</a:t>
            </a:r>
          </a:p>
          <a:p>
            <a:pPr lvl="1"/>
            <a:r>
              <a:rPr sz="2000"/>
              <a:t>Κεφ. 1 Python Basics</a:t>
            </a:r>
          </a:p>
          <a:p>
            <a:pPr lvl="1"/>
            <a:r>
              <a:rPr sz="2000"/>
              <a:t>Κεφ. 2 Python Lists</a:t>
            </a:r>
          </a:p>
          <a:p>
            <a:pPr lvl="1"/>
            <a:r>
              <a:rPr sz="2000"/>
              <a:t>Κεφ. 3 Functions and Packages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Τι έρχεται μετά</a:t>
            </a:r>
          </a:p>
          <a:p>
            <a:pPr lvl="1"/>
            <a:r>
              <a:rPr sz="2000"/>
              <a:t>Κεφ. 4 NumPy: πίνακες και γρήγοροι υπολογισμοί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0175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INTERACTIVE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34290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Introduction to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443484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9C8FC"/>
                </a:solidFill>
                <a:latin typeface="Arial"/>
              </a:rPr>
              <a:t>Μάθε τα βασικά της Python για ανάλυση δεδομένων: μεταβλητές, λίστες, συναρτήσεις, πακέτα και NumPy.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5669280"/>
            <a:ext cx="2194560" cy="640080"/>
          </a:xfrm>
          <a:prstGeom prst="roundRect">
            <a:avLst>
              <a:gd name="adj" fmla="val 15000"/>
            </a:avLst>
          </a:prstGeom>
          <a:solidFill>
            <a:srgbClr val="2F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Practice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0" y="566928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9C8FC"/>
                </a:solidFill>
                <a:latin typeface="Arial"/>
              </a:rPr>
              <a:t>app.datacamp.com/learn/courses/intro-to-python-for-data-science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6949440"/>
            <a:ext cx="7452360" cy="201168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7132320"/>
            <a:ext cx="6903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ΠΩΣ ΔΟΥΛΕΥΟΥΜΕ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Στην τάξη βλέπουμε τις έννοιες και λύνουμε μαζί τις βασικές ασκήσεις. Στο σπίτι ολοκληρώνεις τα κεφάλαια 1–3 στο DataCamp και εξασκείσαι στη διαδραστική σελίδα του μαθήματος.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Το περιβάλλον: script και κονσόλα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Script (script.py)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Παράδειγμα, μην το αλλάξεις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/ 3)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Βάλε εδώ τον κώδικά σου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**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5989320"/>
            <a:ext cx="1645920" cy="502920"/>
          </a:xfrm>
          <a:prstGeom prst="roundRect">
            <a:avLst>
              <a:gd name="adj" fmla="val 20000"/>
            </a:avLst>
          </a:prstGeom>
          <a:solidFill>
            <a:srgbClr val="2F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Run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59893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Submit Answer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Κονσόλα (IPython Shell)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In [1]: print('hello')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hello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In [2]: 7 / 3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Out[2]: 2.3333333333333335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598932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Πληκτρολογείς μια εντολή, πατάς Enter, βλέπεις αμέσως το αποτέλεσμα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23960" y="4572000"/>
            <a:ext cx="64008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Script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αρχείο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Γράφεις πολλές γραμμές, τις τρέχεις όλες μαζί. Το Submit Answer ελέγχει αν η λύση είναι σωστή.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Κονσόλα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shell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Δοκιμάζεις μία εντολή τη φορά. Ιδανική για πειράματα. Εδώ ο κώδικας δεν ελέγχεται.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Σχόλια (comments): σημειώσεις μέσα στον κώδικα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/>
              <a:t>Ξεκινούν με </a:t>
            </a:r>
            <a:r>
              <a:rPr sz="2400">
                <a:solidFill>
                  <a:srgbClr val="1B2F6B"/>
                </a:solidFill>
                <a:latin typeface="Courier New"/>
              </a:rPr>
              <a:t>#</a:t>
            </a:r>
          </a:p>
          <a:p>
            <a:pPr lvl="1"/>
            <a:r>
              <a:rPr sz="2000"/>
              <a:t>Ό,τι ακολουθεί στη γραμμή δεν εκτελείται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Δεν επηρεάζουν το αποτέλεσμα</a:t>
            </a:r>
          </a:p>
          <a:p>
            <a:pPr lvl="1"/>
            <a:r>
              <a:rPr sz="2000"/>
              <a:t>Η Python τα προσπερνά εντελώς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Γιατί τα γράφουμε;</a:t>
            </a:r>
          </a:p>
          <a:p>
            <a:pPr lvl="1"/>
            <a:r>
              <a:rPr sz="2000"/>
              <a:t>Για να θυμάσαι εσύ (και να καταλαβαίνουν οι άλλοι) τι κάνει κάθε κομμάτι</a:t>
            </a:r>
          </a:p>
          <a:p>
            <a:pPr lvl="1"/>
            <a:r>
              <a:rPr sz="2000"/>
              <a:t>Για να «σβήσεις» προσωρινά μια γραμμή χωρίς να τη διαγράψεις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Διαίρεση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print(5 / 8)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Πρόσθεση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print(7 + 10)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7452360" cy="148894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6903720" cy="1031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0.625</a:t>
            </a:r>
          </a:p>
          <a:p>
            <a:r>
              <a:rPr sz="2039">
                <a:solidFill>
                  <a:srgbClr val="1B2F6B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Η Python ως αριθμομηχανή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Αριθμητικοί τελεστές (operators)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+  -  *  /</a:t>
            </a:r>
            <a:r>
              <a:rPr sz="1900"/>
              <a:t>   πρόσθεση, αφαίρεση, πολλαπλασιασμός, διαίρεση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**</a:t>
            </a:r>
            <a:r>
              <a:rPr sz="1900"/>
              <a:t>   δύναμη (exponentiation): 4 ** 2 = 16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%</a:t>
            </a:r>
            <a:r>
              <a:rPr sz="1900"/>
              <a:t>   υπόλοιπο διαίρεσης (modulo): 18 % 7 = 4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//</a:t>
            </a:r>
            <a:r>
              <a:rPr sz="1900"/>
              <a:t>   ακέραια διαίρεση: 18 // 7 = 2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900"/>
              <a:t>Η διαίρεση / δίνει πάντα δεκαδικό: 10 / 2 = 5.0</a:t>
            </a:r>
          </a:p>
          <a:p>
            <a:pPr lvl="1"/>
            <a:r>
              <a:rPr sz="1900"/>
              <a:t>Η προτεραιότητα είναι η μαθηματική: 2 + 3 * 4 =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50292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Πρόσθεση, αφαίρεση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+ 5)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print(5 - 5)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Πολλαπλασιασμός,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print(3 *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print(10 /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5.0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Δύναμη, υπόλοιπο, ακέραια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print(4 **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16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print(18 % 7)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4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// 7)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Μεταβλητές και τύποι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Πώς «κρατάμε» τιμές και γιατί ο τύπος τους έχει σημασία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Μεταβλητές (variables): δίνουμε όνομα σε μια τιμή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Γιατί;</a:t>
            </a:r>
          </a:p>
          <a:p>
            <a:pPr lvl="1"/>
            <a:r>
              <a:rPr sz="2000"/>
              <a:t>Για να «αποθηκεύσουμε» μια τιμή και να την ξαναχρησιμοποιήσουμε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Πώς;</a:t>
            </a:r>
          </a:p>
          <a:p>
            <a:pPr lvl="1"/>
            <a:r>
              <a:rPr sz="2000">
                <a:solidFill>
                  <a:srgbClr val="1B2F6B"/>
                </a:solidFill>
                <a:latin typeface="Courier New"/>
              </a:rPr>
              <a:t>όνομα = τιμή</a:t>
            </a:r>
            <a:r>
              <a:rPr sz="2000"/>
              <a:t>   (το = σημαίνει ανάθεση, όχι ισότητα)</a:t>
            </a:r>
          </a:p>
          <a:p>
            <a:pPr lvl="1"/>
            <a:r>
              <a:rPr sz="2000"/>
              <a:t>Το όνομα ξεχωρίζει πεζά/κεφαλαία (case-sensitive)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Μετά;</a:t>
            </a:r>
          </a:p>
          <a:p>
            <a:pPr lvl="1"/>
            <a:r>
              <a:rPr sz="2000"/>
              <a:t>Γράφοντας το όνομα, παίρνουμε πίσω την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512064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457200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Δημιουργία μεταβλητής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Εμφάνιση της τιμής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5120640" cy="108737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4572000" cy="6301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41880" y="32461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Δημιουργία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(declare)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41880" y="448056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Κλήση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(call up)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027164"/>
            <a:ext cx="7452360" cy="146304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210044"/>
            <a:ext cx="6903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ΚΑΛΑ ΟΝΟΜΑΤΑ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monthly_savings αντί για x. Μικρά γράμματα, λέξεις χωρισμένες με κάτω παύλα, χωρίς κενά ή ελληνικά.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Υπολογισμοί με μεταβλητές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Αντί για αριθμούς, χρησιμοποιούμε ονόματα</a:t>
            </a:r>
          </a:p>
          <a:p>
            <a:pPr lvl="1"/>
            <a:r>
              <a:rPr sz="1900"/>
              <a:t>Ο κώδικας διαβάζεται σαν πρόταση: «οι συνολικές αποταμιεύσεις είναι οι μηνιαίες επί τους μήνες»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Αλλαγή σε ένα σημείο</a:t>
            </a:r>
          </a:p>
          <a:p>
            <a:pPr lvl="1"/>
            <a:r>
              <a:rPr sz="1900"/>
              <a:t>Θέλεις 24 μήνες; Αλλάζεις μόνο το num_months και ξανατρέχεις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Μια μεταβλητή μπορεί να ξαναοριστεί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savings = savings + 50</a:t>
            </a:r>
            <a:r>
              <a:rPr sz="1900"/>
              <a:t>  προσθέτει 50 στην τρέχουσα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Δημιουργία μεταβλητών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monthly_savings = 10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num_months = 12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Πολλαπλασιασμός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new_savings = monthly_savings * num_months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Εμφάνιση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print(new_savings)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06375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606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120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Οι τέσσερις βασικοί τύποι δεδομένων (data types)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146304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30175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Ακέραιος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int (integer)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Αριθμός χωρίς δεκαδικό μέρος.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x =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964692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0175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Δεκαδικός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float (floating point)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Πραγματικός αριθμός, με ακέραιο και δεκαδικό μέρος. Η υποδιαστολή είναι τελεία.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y = 1.75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63322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Συμβολοσειρά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str (string)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Κείμενο, μέσα σε μονά ή διπλά εισαγωγικά.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name = "Maria"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964692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322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Λογική τιμή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bool (boolean)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Μόνο δύο τιμές: True ή False. Με κεφαλαίο πρώτο γράμμα.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ok = True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Ποιος είναι ο τύπος; Η συνάρτηση type()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>
                <a:solidFill>
                  <a:srgbClr val="1B2F6B"/>
                </a:solidFill>
                <a:latin typeface="Courier New"/>
              </a:rPr>
              <a:t>type(τιμή)</a:t>
            </a:r>
            <a:r>
              <a:rPr sz="2400"/>
              <a:t> λέει τι τύπου είναι</a:t>
            </a:r>
          </a:p>
          <a:p>
            <a:pPr lvl="1"/>
            <a:r>
              <a:rPr sz="1900"/>
              <a:t>Δουλεύει και με μεταβλητές: type(savings)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Τι είναι μια συνάρτηση (function);</a:t>
            </a:r>
          </a:p>
          <a:p>
            <a:pPr lvl="1"/>
            <a:r>
              <a:rPr sz="1900"/>
              <a:t>Ένα έτοιμο κομμάτι κώδικα με όνομα, που το «καλούμε» με παρενθέσεις</a:t>
            </a:r>
          </a:p>
          <a:p>
            <a:pPr lvl="1"/>
            <a:r>
              <a:rPr sz="1900"/>
              <a:t>Δίνουμε κάτι μέσα στις παρενθέσεις (όρισμα) και παίρνουμε πίσω ένα αποτέλεσμα</a:t>
            </a:r>
          </a:p>
          <a:p>
            <a:pPr lvl="1"/>
            <a:r>
              <a:rPr sz="1900"/>
              <a:t>Θα τις δούμε αναλυτικά στην ενότητα IV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height = 1.79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name = "Maria"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ok = True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print(type(savings))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print(type(height))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print(type(name))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print(type(ok))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'int'&gt;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'str'&gt;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'bool'&gt;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ίδιος τελεστής, διαφορετική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Το πώς συμπεριφέρεται ο κώδικας εξαρτάται από τους τύπους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αριθμούς: πρόσθεση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strings: ένωση κειμένων (concatenation)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booleans: True μετρά ως 1, False ως 0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*</a:t>
            </a:r>
            <a:r>
              <a:rPr sz="2100"/>
              <a:t> σε string και αριθμό: επανάληψη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Αριθμός + string = σφάλμα</a:t>
            </a:r>
          </a:p>
          <a:p>
            <a:pPr lvl="1"/>
            <a:r>
              <a:rPr sz="1800"/>
              <a:t>TypeError: η Python δεν ξέρει αν θέλεις πρόσθεση ή ένωση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666999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118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print(2 + 3)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print("ab" + "cd")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print(True + False)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print("I said " * 2)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print("total: " + 3)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547360"/>
            <a:ext cx="7452360" cy="295351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638799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59588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5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abcd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I said I said 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TypeError: can only concatenate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str (not "int") to str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Μετατροπή τύπων (type conversion)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Συναρτήσεις μετατροπής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str(100)</a:t>
            </a:r>
            <a:r>
              <a:rPr sz="1800"/>
              <a:t>  →  "100"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int("42")</a:t>
            </a:r>
            <a:r>
              <a:rPr sz="1800"/>
              <a:t>  →  42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float("1.5")</a:t>
            </a:r>
            <a:r>
              <a:rPr sz="1800"/>
              <a:t>  →  1.5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int(3.9)</a:t>
            </a:r>
            <a:r>
              <a:rPr sz="1800"/>
              <a:t>  →  3  (κόβει, δεν στρογγυλοποιεί)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bool(0)</a:t>
            </a:r>
            <a:r>
              <a:rPr sz="1800"/>
              <a:t>  →  False,   </a:t>
            </a:r>
            <a:r>
              <a:rPr sz="1800">
                <a:solidFill>
                  <a:srgbClr val="1B2F6B"/>
                </a:solidFill>
                <a:latin typeface="Courier New"/>
              </a:rPr>
              <a:t>bool("hi")</a:t>
            </a:r>
            <a:r>
              <a:rPr sz="1800"/>
              <a:t>  →  True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Τυπική χρήση</a:t>
            </a:r>
          </a:p>
          <a:p>
            <a:pPr lvl="1"/>
            <a:r>
              <a:rPr sz="1800"/>
              <a:t>Τα δεδομένα από αρχεία και φόρμες έρχονται συχνά ως κείμενο. Πριν κάνεις πράξεις, τα μετατρέπεις σε αριθμούς.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67487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26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result = savings * 1.1 ** 7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κειμένου και αριθμού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print("I started with $" + str(savings))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print("Now I have $" + str(round(result)))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Κείμενο σε αριθμό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pi_string = "3.1415926"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pi_float = float(pi_string)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print(pi_float *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555230"/>
            <a:ext cx="7452360" cy="174879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64667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966710"/>
            <a:ext cx="6903720" cy="12915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I started with $100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Now I have $195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6.2831852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τύπος καθορίζει τη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Πριν ρωτήσεις «γιατί δεν δουλεύει;», ρώτα «τι τύπου είναι αυτό;». Το type() είναι ο πρώτος σου φίλος στο debugging.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— Οι περισσότερες πρώτες «περίεργες» συμπεριφορές της Python είναι θέμα τύπων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Λίστες (lists)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Πολλές τιμές, ένα όνομα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Γιατί χρειαζόμαστε λίστες;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Μία μεταβλητή = μία τιμή</a:t>
            </a:r>
          </a:p>
          <a:p>
            <a:pPr lvl="1"/>
            <a:r>
              <a:rPr sz="1900"/>
              <a:t>Για 5 δωμάτια θέλουμε 5 μεταβλητές, για 100 μετρήσεις 100 μεταβλητές…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Λίστα = ένα όνομα για μια συλλογή τιμών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[</a:t>
            </a:r>
            <a:r>
              <a:rPr sz="1900"/>
              <a:t> τιμές χωρισμένες με κόμμα </a:t>
            </a:r>
            <a:r>
              <a:rPr sz="1900">
                <a:solidFill>
                  <a:srgbClr val="1B2F6B"/>
                </a:solidFill>
                <a:latin typeface="Courier New"/>
              </a:rPr>
              <a:t>]</a:t>
            </a:r>
          </a:p>
          <a:p>
            <a:pPr lvl="1"/>
            <a:r>
              <a:rPr sz="1900"/>
              <a:t>Έχει σειρά: υπάρχει πρώτο, δεύτερο, τελευταίο στοιχείο</a:t>
            </a:r>
          </a:p>
          <a:p>
            <a:pPr lvl="1"/>
            <a:r>
              <a:rPr sz="1900"/>
              <a:t>Μπορεί να έχει όσα στοιχεία θέλουμε, ακόμη και κανένα: []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32054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77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Εμβαδά δωματίων (σε τ.μ.)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hall = 11.25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kit = 18.0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liv = 20.0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bed = 10.75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bath = 9.50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Όλα μαζί σε μια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[hall, kit, liv, bed, bath]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20090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29234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612379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[11.25, 18.0, 20.0, 10.75, 9.5]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Λίστες με διαφορετικούς τύπους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Οποιοσδήποτε τύπος</a:t>
            </a:r>
          </a:p>
          <a:p>
            <a:pPr lvl="1"/>
            <a:r>
              <a:rPr sz="1900"/>
              <a:t>float, int, bool, str… ακόμη και άλλες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Μείγμα τύπων</a:t>
            </a:r>
          </a:p>
          <a:p>
            <a:pPr lvl="1"/>
            <a:r>
              <a:rPr sz="1900"/>
              <a:t>Επιτρέπεται, αλλά συνήθως κρατάμε έναν τύπο ανά λίστα για ευκολία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λίστα είναι κι αυτή τύπος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type(areas)</a:t>
            </a:r>
            <a:r>
              <a:rPr sz="1900"/>
              <a:t>  →  &lt;class 'list'&gt;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61188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Όνομα και εμβαδό εναλλάξ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print(type(areas))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49224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90372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&lt;class 'list'&gt;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Λίστα μέσα σε λίστα (list of lists)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Η λίστα είναι τύπος, άρα χωρά σε λίστα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Κάθε εσωτερική λίστα = μια «εγγραφή»</a:t>
            </a:r>
          </a:p>
          <a:p>
            <a:pPr lvl="1"/>
            <a:r>
              <a:rPr sz="1900"/>
              <a:t>Εδώ: [όνομα δωματίου, εμβαδό]</a:t>
            </a:r>
          </a:p>
          <a:p>
            <a:pPr lvl="1"/>
            <a:r>
              <a:rPr sz="1900"/>
              <a:t>Σκέψου το σαν πίνακα με γραμμές και στήλες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Είναι το πρώτο βήμα προς τα δεδομένα</a:t>
            </a:r>
          </a:p>
          <a:p>
            <a:pPr lvl="1"/>
            <a:r>
              <a:rPr sz="1900"/>
              <a:t>Αργότερα το ίδιο θα το κάνουμε με NumPy arrays και pandas DataFrames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house = [["hallway", 11.25],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["kitchen", 18.0],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["living room", 20.0],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["bedroom", 10.75],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["bathroom", 9.50]]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print(house[0])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13791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22935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54939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['hallway', 11.25]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Δείκτες (indexes): πώς βρίσκουμε ένα στοιχείο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Courier New"/>
              </a:rPr>
              <a:t>x = ["a", "b", "c", "d"]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74903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την αρχή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57607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το τέλος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1288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1288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61288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x[0]   </a:t>
            </a:r>
            <a:r>
              <a:rPr sz="1800">
                <a:solidFill>
                  <a:srgbClr val="9FB3E8"/>
                </a:solidFill>
                <a:latin typeface="Courier New"/>
              </a:rPr>
              <a:t># πρώτο στοιχείο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x[1]   </a:t>
            </a:r>
            <a:r>
              <a:rPr sz="1800">
                <a:solidFill>
                  <a:srgbClr val="9FB3E8"/>
                </a:solidFill>
                <a:latin typeface="Courier New"/>
              </a:rPr>
              <a:t># δεύτερο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x[-1]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τελευταίο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x[-3]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το ίδιο με x[1]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'a'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'd'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τι θα τυπώσει;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Θυμήσου</a:t>
            </a:r>
          </a:p>
          <a:p>
            <a:pPr lvl="1"/>
            <a:r>
              <a:rPr sz="1900"/>
              <a:t>Η αρίθμηση ξεκινά από το 0</a:t>
            </a:r>
          </a:p>
          <a:p>
            <a:pPr lvl="1"/>
            <a:r>
              <a:rPr sz="1900"/>
              <a:t>Το -1 είναι το τελευταίο στοιχείο</a:t>
            </a:r>
          </a:p>
          <a:p>
            <a:pPr lvl="1"/>
            <a:r>
              <a:rPr sz="1900"/>
              <a:t>Μέτρα προσεκτικά: τα ονόματα και τα εμβαδά εναλλάσσονται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Σκέψου πρώτα, μετά τρέξε</a:t>
            </a:r>
          </a:p>
          <a:p>
            <a:pPr lvl="1"/>
            <a:r>
              <a:rPr sz="1900"/>
              <a:t>Γράψε την πρόβλεψή σου και έλεγξέ την στην κονσόλα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print(areas[1])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print(areas[-1])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print(areas[5])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75120"/>
            <a:ext cx="7452360" cy="219456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812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ΑΠΑΝΤΗΣΕΙΣ (κρύψε τες πριν την τάξη)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23760"/>
            <a:ext cx="6949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areas[1]  → 11.25   το δεύτερο στοιχείο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areas[-1] → 9.5     το τελευταίο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areas[5]  → 20.0    το έκτο (living room)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Τμήματα λίστας (slicing): πολλά στοιχεία με τη μία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B2F6B"/>
                </a:solidFill>
                <a:latin typeface="Courier New"/>
              </a:rPr>
              <a:t>my_list[start:end]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start: περιλαμβάνεται (inclusive)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end: ΔΕΝ περιλαμβάνεται (exclusive)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1B2F6B"/>
                </a:solidFill>
                <a:latin typeface="Courier New"/>
              </a:rPr>
              <a:t>x = ["a", "b", "c", "d"]        x[1:3]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67159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67159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69494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821F"/>
                </a:solidFill>
                <a:latin typeface="Arial"/>
              </a:rPr>
              <a:t>από τον δείκτη 1 μέχρι (όχι μαζί με) τον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x[1:3]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x[0:2]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5548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['b', 'c']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['a', 'b']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Slicing χωρίς όρια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x[:2]</a:t>
            </a:r>
            <a:r>
              <a:rPr sz="2200"/>
              <a:t>   από την αρχή μέχρι τον δείκτη 2 (όχι μαζί)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x[2:]</a:t>
            </a:r>
            <a:r>
              <a:rPr sz="2200"/>
              <a:t>   από τον δείκτη 2 μέχρι το τέλος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x[:]</a:t>
            </a:r>
            <a:r>
              <a:rPr sz="2200"/>
              <a:t>    όλη η λίστα (αντίγραφο)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Χρήσιμος κανόνας</a:t>
            </a:r>
          </a:p>
          <a:p>
            <a:pPr lvl="1"/>
            <a:r>
              <a:rPr sz="1900"/>
              <a:t>x[:n] δίνει τα πρώτα n στοιχεία</a:t>
            </a:r>
          </a:p>
          <a:p>
            <a:pPr lvl="1"/>
            <a:r>
              <a:rPr sz="1900"/>
              <a:t>x[-n:] δίνει τα τελευταία n στοιχεία</a:t>
            </a:r>
          </a:p>
          <a:p>
            <a:pPr lvl="1"/>
            <a:r>
              <a:rPr sz="1900"/>
              <a:t>x[:n] + x[n:] ξαναδίνει ολόκληρη τη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print(x[-2:])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925312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01675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36792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κάτω και πάνω όροφος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downstairs: τα 6 πρώτα στοιχεία της areas</a:t>
            </a:r>
          </a:p>
          <a:p>
            <a:pPr lvl="1"/>
            <a:r>
              <a:rPr sz="1800"/>
              <a:t>upstairs: τα 4 τελευταία</a:t>
            </a:r>
          </a:p>
          <a:p>
            <a:pPr lvl="1"/>
            <a:r>
              <a:rPr sz="1800"/>
              <a:t>Τύπωσε και τις δύο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Δύο τρόποι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areas[0:6]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areas[:6]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areas[6:10]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areas[6:]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75361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2049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"living room", 20.0, "bedroom", 10.75,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downstairs = areas[:6]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upstairs = areas[6:]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print(downstairs)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print(upstairs)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33972"/>
            <a:ext cx="7452360" cy="134721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72541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045452"/>
            <a:ext cx="6903720" cy="890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['hallway', 11.25, 'kitchen', 18.0, 'living room', 20.0]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['bedroom', 10.75, 'bathroom', 9.5]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Επιλογή σε λίστες από λίστες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Ίδια τεχνική, περισσότερες αγκύλες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</a:t>
            </a:r>
            <a:r>
              <a:rPr sz="1900"/>
              <a:t>  →  η τρίτη εσωτερική λίστα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x[2][0]</a:t>
            </a:r>
            <a:r>
              <a:rPr sz="1900"/>
              <a:t>  →  το πρώτο στοιχείο της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x[2][:2]</a:t>
            </a:r>
            <a:r>
              <a:rPr sz="1900"/>
              <a:t>  →  τα δύο πρώτα στοιχεία της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Διαβάζεται βήμα-βήμα</a:t>
            </a:r>
          </a:p>
          <a:p>
            <a:pPr lvl="1"/>
            <a:r>
              <a:rPr sz="1900"/>
              <a:t>Πρώτα επιλέγουμε γραμμή, μετά μέσα στη γραμμή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[["a", "b", "c"],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["d", "e", "f"],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["g", "h", "i"]]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print(x[2][0])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print(x[2][:2])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['g', 'h', 'i']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g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['g', 'h']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Αλλαγή στοιχείων (changing elements)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Επιλογή + ανάθεση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x[1] = "r"</a:t>
            </a:r>
            <a:r>
              <a:rPr sz="1800"/>
              <a:t>  αλλάζει το δεύτερο στοιχείο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Και σε τμήμα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x[2:] = ["s", "t"]</a:t>
            </a:r>
            <a:r>
              <a:rPr sz="1800"/>
              <a:t>  αντικαθιστά από τον δείκτη 2 ως το τέλος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Οι λίστες είναι μεταβλητές (mutable)</a:t>
            </a:r>
          </a:p>
          <a:p>
            <a:pPr lvl="1"/>
            <a:r>
              <a:rPr sz="1800"/>
              <a:t>Αλλάζουν «επί τόπου», χωρίς να φτιάξουμε νέα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x[1] = "r"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x[2:] = ["s", "t"]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'r',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'r', 's', 't']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Προσθήκη και αφαίρεση στοιχείων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Προσθήκη με +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x + ["e", "f"]</a:t>
            </a:r>
            <a:r>
              <a:rPr sz="1800"/>
              <a:t>  νέα λίστα, η x δεν αλλάζει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Διαγραφή με del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del(x[1])</a:t>
            </a:r>
            <a:r>
              <a:rPr sz="1800"/>
              <a:t>  διαγράφει το στοιχείο στον δείκτη 1</a:t>
            </a:r>
          </a:p>
          <a:p>
            <a:pPr lvl="1"/>
            <a:r>
              <a:rPr sz="1800"/>
              <a:t>Προσοχή: μετά τη διαγραφή οι δείκτες «μετακινούνται»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Προσθήκη στο τέλος: append()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x.append("e")</a:t>
            </a:r>
            <a:r>
              <a:rPr sz="1800"/>
              <a:t>  θα το δούμε στις μεθόδους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+ ["e", "f"]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print(y)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del(x[1:3])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'd', 'e', 'f']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Προσοχή: αντίγραφο ή το ίδιο αντικείμενο;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y = x</a:t>
            </a:r>
            <a:r>
              <a:rPr sz="2200"/>
              <a:t>  δεν φτιάχνει νέα λίστα</a:t>
            </a:r>
          </a:p>
          <a:p>
            <a:pPr lvl="1"/>
            <a:r>
              <a:rPr sz="1800"/>
              <a:t>Τα x και y δείχνουν στην ίδια λίστα στη μνήμη</a:t>
            </a:r>
          </a:p>
          <a:p>
            <a:pPr lvl="1"/>
            <a:r>
              <a:rPr sz="1800"/>
              <a:t>Αλλαγή μέσω του y φαίνεται και στο x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Πραγματικό αντίγραφο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list(x)</a:t>
            </a:r>
            <a:r>
              <a:rPr sz="1800"/>
              <a:t>   ή   </a:t>
            </a:r>
            <a:r>
              <a:rPr sz="1800">
                <a:solidFill>
                  <a:srgbClr val="1B2F6B"/>
                </a:solidFill>
                <a:latin typeface="Courier New"/>
              </a:rPr>
              <a:t>y = x[:]</a:t>
            </a:r>
          </a:p>
          <a:p>
            <a:pPr lvl="1"/>
            <a:r>
              <a:rPr sz="1800"/>
              <a:t>Τώρα είναι δύο ανεξάρτητες λίστες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Γιατί έχει σημασία;</a:t>
            </a:r>
          </a:p>
          <a:p>
            <a:pPr lvl="1"/>
            <a:r>
              <a:rPr sz="1800"/>
              <a:t>Συχνή πηγή «μυστήριων» σφαλμάτων όταν δουλεύουμε με δεδομένα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     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ίδια λίστα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list(x)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αντίγραφο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['z', 'b', 'c']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Συναρτήσεις, μέθοδοι, πακέτα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Χρησιμοποιούμε έτοιμο κώδικα αντί να τον γράφουμε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(functions): επαναχρησιμοποιήσιμος κώδικας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Τι είναι</a:t>
            </a:r>
          </a:p>
          <a:p>
            <a:pPr lvl="1"/>
            <a:r>
              <a:rPr sz="1800"/>
              <a:t>Κομμάτι κώδικα με όνομα, που κάνει μια συγκεκριμένη δουλειά</a:t>
            </a:r>
          </a:p>
          <a:p>
            <a:pPr lvl="1"/>
            <a:r>
              <a:rPr sz="1800"/>
              <a:t>Το «καλούμε» αντί να γράφουμε τον κώδικα εμείς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Ενσωματωμένες (built-in) συναρτήσεις</a:t>
            </a:r>
          </a:p>
          <a:p>
            <a:pPr lvl="1"/>
            <a:r>
              <a:rPr sz="1800"/>
              <a:t>Υπάρχουν έτοιμες: print(), type(), len(), max()…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γενική συνταγή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output = function_name(input)</a:t>
            </a:r>
          </a:p>
          <a:p>
            <a:pPr lvl="1"/>
            <a:r>
              <a:rPr sz="1800"/>
              <a:t>Είσοδος = όρισμα (argument), έξοδος = επιστρεφόμενη τιμή (return value)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Είσοδος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argument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88720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252728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Συνάρτηση</a:t>
            </a:r>
          </a:p>
          <a:p>
            <a:pPr algn="ctr"/>
            <a:r>
              <a:rPr sz="1200" b="1" i="0">
                <a:solidFill>
                  <a:srgbClr val="B9C8FC"/>
                </a:solidFill>
                <a:latin typeface="Arial"/>
              </a:rPr>
              <a:t>function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2184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5361920" y="2834640"/>
            <a:ext cx="178308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Έξοδος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return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420624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431596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46634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Συνταγή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result = type(3.0)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print(result)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Η έξοδος μπορεί να γίνει είσοδος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print(type(3.0))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388352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47979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7799831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που θα χρησιμοποιείς συνέχεια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1143000" y="2762250"/>
          <a:ext cx="16002000" cy="5266944"/>
        </p:xfrm>
        <a:graphic>
          <a:graphicData uri="http://schemas.openxmlformats.org/drawingml/2006/table">
            <a:tbl>
              <a:tblPr firstRow="1" bandRow="1">
                <a:tableStyleId>{3F2A1C5E-7B4D-4E8A-9C61-2D5B8E0F7A13}</a:tableStyleId>
              </a:tblPr>
              <a:tblGrid>
                <a:gridCol w="3291840"/>
                <a:gridCol w="5669280"/>
                <a:gridCol w="3931920"/>
                <a:gridCol w="3108960"/>
              </a:tblGrid>
              <a:tr h="658368">
                <a:tc>
                  <a:txBody>
                    <a:bodyPr/>
                    <a:lstStyle/>
                    <a:p>
                      <a:r>
                        <a:rPr sz="1600"/>
                        <a:t>Συνάρτηση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Τι κάνει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Παράδειγμα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Αποτέλεσμα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Εμφανίζει τιμές στην οθόνη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print("hi", 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hi 5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Επιστρέφει τον τύπο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type(3.5)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&lt;class 'float'&gt;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Πλήθος στοιχείων λίστας ή χαρακτήρων string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len([1, 2, 3])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max() / min()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Μέγιστο / ελάχιστο στοιχείο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max([4, 9, 2])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9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Στρογγυλοποίηση, προαιρετικά σε n δεκαδικά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round(1.68, 1)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1.7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int() / float() / str()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Μετατροπή τύπου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int("7") + 1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Τεκμηρίωση μιας συνάρτησης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help(round)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 marL="155448" marR="155448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γνωστές συναρτήσεις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Τύπωσε τον τύπο της var1 με print() και type() μαζί</a:t>
            </a:r>
          </a:p>
          <a:p>
            <a:pPr lvl="1"/>
            <a:r>
              <a:rPr sz="1800"/>
              <a:t>Τύπωσε το μήκος της var1 με len()</a:t>
            </a:r>
          </a:p>
          <a:p>
            <a:pPr lvl="1"/>
            <a:r>
              <a:rPr sz="1800"/>
              <a:t>Μετέτρεψε τη var2 σε ακέραιο με int() και αποθήκευσέ τον ως out2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Παρατήρησε</a:t>
            </a:r>
          </a:p>
          <a:p>
            <a:pPr lvl="1"/>
            <a:r>
              <a:rPr sz="1800"/>
              <a:t>Οι συναρτήσεις «φωλιάζουν»: η εσωτερική εκτελείται πρώτη</a:t>
            </a:r>
          </a:p>
          <a:p>
            <a:pPr lvl="1"/>
            <a:r>
              <a:rPr sz="1800"/>
              <a:t>int(True) δίνει 1: τα booleans είναι «κρυφοί» ακέραιοι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745736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97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var1 = [1, 2, 3, 4]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var2 = True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Τύπος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print(type(var1))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Μήκος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print(len(var1))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Μετατροπή της var2 σε int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out2 = int(var2)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print(out2)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626096"/>
            <a:ext cx="7452360" cy="167792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717536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8037575"/>
            <a:ext cx="6903720" cy="1220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&lt;class 'list'&gt;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4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Πολλαπλά ορίσματα (arguments)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Μια συνάρτηση μπορεί να παίρνει πολλά ορίσματα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sorted(iterable, key=None, reverse=False)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Υποχρεωτικά και προαιρετικά</a:t>
            </a:r>
          </a:p>
          <a:p>
            <a:pPr lvl="1"/>
            <a:r>
              <a:rPr sz="1700"/>
              <a:t>Το iterable είναι υποχρεωτικό</a:t>
            </a:r>
          </a:p>
          <a:p>
            <a:pPr lvl="1"/>
            <a:r>
              <a:rPr sz="1700"/>
              <a:t>Τα key και reverse έχουν προεπιλογή (default), άρα μπορούν να παραλειφθούν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Ορίσματα με όνομα (keyword arguments)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sorted(full, reverse=True)</a:t>
            </a:r>
            <a:r>
              <a:rPr sz="1700"/>
              <a:t>  ξεκάθαρο τι σημαίνει το True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help(sorted)</a:t>
            </a:r>
            <a:r>
              <a:rPr sz="2100"/>
              <a:t>  δείχνει όλα τα ορίσματα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first = [11.25, 18.0, 20.0]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second = [10.75,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σε μία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 = first + second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Ταξινόμηση σε φθίνουσα σειρά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full_sorted = sorted(full, reverse=True)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print(full_sorted)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[20.0, 18.0, 11.25, 10.75, 9.5]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Μέθοδοι (methods): συναρτήσεις που «ανήκουν» σε αντικείμενα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Όλα είναι αντικείμενα (objects)</a:t>
            </a:r>
          </a:p>
          <a:p>
            <a:pPr lvl="1"/>
            <a:r>
              <a:rPr sz="1700"/>
              <a:t>Strings, floats, λίστες… καθένα κουβαλά τις δικές του μεθόδους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Σύνταξη με τελεία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αντικείμενο.μέθοδος(ορίσματα)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string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upper()</a:t>
            </a:r>
            <a:r>
              <a:rPr sz="1700"/>
              <a:t> κεφαλαία,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count("a")</a:t>
            </a:r>
            <a:r>
              <a:rPr sz="1700"/>
              <a:t> πλήθος εμφανίσεων, </a:t>
            </a:r>
            <a:r>
              <a:rPr sz="1700">
                <a:solidFill>
                  <a:srgbClr val="1B2F6B"/>
                </a:solidFill>
                <a:latin typeface="Courier New"/>
              </a:rPr>
              <a:t>replace()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λίστας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index()</a:t>
            </a:r>
            <a:r>
              <a:rPr sz="1700"/>
              <a:t> θέση στοιχείου,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append()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remove()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reverse()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0843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535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sister = "liz"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print(sister.upper())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print(sister.count("z"))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 = ["liz", 1.73, "emma", 1.68]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print(fam.index("emma"))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print(fam.count(1.73))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fam.append("anna")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964680"/>
            <a:ext cx="7452360" cy="233934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05612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376160"/>
            <a:ext cx="6903720" cy="1882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LIZ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2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['liz', 1.73, 'emma', 1.68, 'anna']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Συνάρτηση ή μέθοδος;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Συνάρτηση (function)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len(fam)</a:t>
            </a:r>
          </a:p>
          <a:p>
            <a:pPr/>
            <a:r>
              <a:rPr sz="2000"/>
              <a:t>Το αντικείμενο μπαίνει μέσα στις παρενθέσεις</a:t>
            </a:r>
          </a:p>
          <a:p>
            <a:pPr/>
            <a:r>
              <a:rPr sz="2000"/>
              <a:t>Γενικές: δουλεύουν για πολλούς τύπους</a:t>
            </a:r>
          </a:p>
          <a:p>
            <a:pPr/>
            <a:r>
              <a:rPr sz="2000"/>
              <a:t>Επιστρέφουν αποτέλεσμα, δεν αλλάζουν το όρισμα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Μέθοδος (method)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fam.index("emma")</a:t>
            </a:r>
          </a:p>
          <a:p>
            <a:pPr/>
            <a:r>
              <a:rPr sz="2000"/>
              <a:t>Το αντικείμενο μπαίνει πριν την τελεία</a:t>
            </a:r>
          </a:p>
          <a:p>
            <a:pPr/>
            <a:r>
              <a:rPr sz="2000"/>
              <a:t>Ειδικές για τον τύπο: οι λίστες έχουν append(), τα strings όχι</a:t>
            </a:r>
          </a:p>
          <a:p>
            <a:pPr/>
            <a:r>
              <a:rPr sz="2000"/>
              <a:t>Κάποιες αλλάζουν το αντικείμενο: </a:t>
            </a:r>
            <a:r>
              <a:rPr sz="2000">
                <a:solidFill>
                  <a:srgbClr val="1B2F6B"/>
                </a:solidFill>
                <a:latin typeface="Courier New"/>
              </a:rPr>
              <a:t>append(), remove(), reverse()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7498079"/>
            <a:ext cx="16002000" cy="137160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7680959"/>
            <a:ext cx="1545335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ΣΥΧΝΟ ΛΑΘΟΣ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fam = fam.append("anna")  κάνει τη fam ίση με None, γιατί η append() δεν επιστρέφει τίποτα. Γράψε απλώς fam.append("anna").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Πακέτα (packages): ο κώδικας των άλλων στη δική σου δουλειά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NumPy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αριθμητικοί πίνακες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Γρήγοροι υπολογισμοί σε ολόκληρους πίνακες (arrays) αριθμών. Η βάση σχεδόν όλων των υπολοίπων.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494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498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pandas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πίνακες δεδομένων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498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DataFrames: δεδομένα σε γραμμές και στήλες, όπως στο Excel, με φίλτρα, ομαδοποιήσεις και συνενώσεις.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Matplotlib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οπτικοποίηση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Γραφήματα: γραμμές, ράβδοι, διασπορές, ιστογράμματα.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1882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38860" y="3017520"/>
            <a:ext cx="313181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scikit-learn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μηχανική μάθηση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3886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Έτοιμοι αλγόριθμοι: παλινδρόμηση, ταξινόμηση, ομαδοποίηση.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1. Εγκατάσταση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μία φορά στον υπολογιστή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pip install numpy  (ή έτοιμο με το Anaconda). Στο DataCamp είναι ήδη εγκατεστημένα.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2. Εισαγωγή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σε κάθε 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import numpy as np  λέει στην Python ότι θα χρησιμοποιήσεις το πακέτο σε αυτό το script.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Τρεις τρόποι εισαγωγής (import)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</a:t>
            </a:r>
          </a:p>
          <a:p>
            <a:pPr lvl="1"/>
            <a:r>
              <a:rPr sz="1700"/>
              <a:t>Κάθε φορά γράφεις numpy.array(…)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 as np</a:t>
            </a:r>
            <a:r>
              <a:rPr sz="2100" b="1">
                <a:solidFill>
                  <a:srgbClr val="1B2F6B"/>
                </a:solidFill>
              </a:rPr>
              <a:t>   ← η συνήθης πρακτική</a:t>
            </a:r>
          </a:p>
          <a:p>
            <a:pPr lvl="1"/>
            <a:r>
              <a:rPr sz="1700"/>
              <a:t>Ψευδώνυμο (alias): γράφεις np.array(…)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from numpy import array</a:t>
            </a:r>
          </a:p>
          <a:p>
            <a:pPr lvl="1"/>
            <a:r>
              <a:rPr sz="1700"/>
              <a:t>Φέρνεις μόνο την array(): γράφεις array(…)</a:t>
            </a:r>
          </a:p>
          <a:p>
            <a:pPr lvl="1"/>
            <a:r>
              <a:rPr sz="1700"/>
              <a:t>Σύντομο, αλλά μετά από λίγο δεν θυμάσαι από πού ήρθε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Η εισαγωγή γίνεται μία φορά, στην αρχή του script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import numpy as np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heights = [1.73, 1.68, 1.71, 1.89]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np_heights = np.array(heights)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print(np_heights * 100)   </a:t>
            </a:r>
            <a:r>
              <a:rPr sz="1800">
                <a:solidFill>
                  <a:srgbClr val="9FB3E8"/>
                </a:solidFill>
                <a:latin typeface="Courier New"/>
              </a:rPr>
              <a:t># σε εκατοστά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from math import pi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39446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937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[173. 168. 171. 189.]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3.141592653589793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Συμπεράσματα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Script για κώδικα, κονσόλα για πειράματα, σχόλια για ανθρώπους</a:t>
            </a:r>
          </a:p>
          <a:p>
            <a:pPr lvl="1"/>
            <a:r>
              <a:rPr sz="1800"/>
              <a:t>Ό,τι ακολουθεί το # δεν εκτελείται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Μεταβλητές κρατούν τιμές, οι τύποι καθορίζουν τη συμπεριφορά</a:t>
            </a:r>
          </a:p>
          <a:p>
            <a:pPr lvl="1"/>
            <a:r>
              <a:rPr sz="1800"/>
              <a:t>int, float, str, bool · type() για να ρωτήσεις · str(), int(), float() για να μετατρέψεις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Λίστες: πολλές τιμές, ένα όνομα</a:t>
            </a:r>
          </a:p>
          <a:p>
            <a:pPr lvl="1"/>
            <a:r>
              <a:rPr sz="1800"/>
              <a:t>Δείκτες από το 0 (και αρνητικοί από το τέλος) · [start:end] με το end εκτός · αλλαγή, προσθήκη, διαγραφή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Συναρτήσεις, μέθοδοι, πακέτα: έτοιμος κώδικας</a:t>
            </a:r>
          </a:p>
          <a:p>
            <a:pPr lvl="1"/>
            <a:r>
              <a:rPr sz="1800"/>
              <a:t>len(x) ή x.append() · import numpy as np για να φέρεις τη δουλειά των άλλων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 την επόμενη εβδομάδα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Εργασία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3375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DataCamp · Introduction to Python, κεφάλαια 1–3 (Python Basics, Python Lists, Functions and Packages)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79476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https://app.datacamp.com/learn/courses/intro-to-python-for-data-science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48056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ΠΡΟΘΕΣΜΙΑ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3891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Πριν το επόμενο μάθημα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30352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Εξάσκηση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Διαδραστική σελίδα της εβδομάδας: κώδικας που τρέχει στον browser, κουίζ «τι θα τυπώσει;» και ασκήσεις με αυτόματο έλεγχο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635508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https://kalampokis.github.io/bap/Week3/PythonBasics.html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0866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Επόμενη εβδομάδα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76809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NumPy (κεφάλαιο 4): πίνακες αριθμών και υπολογισμοί σε ολόκληρες στήλες με μία γραμμή κώδικα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ΠΡΟΓΡΑΜΜΑΤΙΣΜΟΣ ΓΙΑ ΕΠΙΧΕΙΡΗΜΑΤΙΚΗ ΑΝΑΛΥΤΙΚΗ · ΕΒΔΟΜΑΔΑ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Ερωτήσεις;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lampokis">
  <a:themeElements>
    <a:clrScheme name="Kalampokis">
      <a:dk1>
        <a:srgbClr val="26314F"/>
      </a:dk1>
      <a:lt1>
        <a:srgbClr val="FFFFFF"/>
      </a:lt1>
      <a:dk2>
        <a:srgbClr val="1B2F6B"/>
      </a:dk2>
      <a:lt2>
        <a:srgbClr val="EEF1FE"/>
      </a:lt2>
      <a:accent1>
        <a:srgbClr val="7895F9"/>
      </a:accent1>
      <a:accent2>
        <a:srgbClr val="F5821F"/>
      </a:accent2>
      <a:accent3>
        <a:srgbClr val="1B2F6B"/>
      </a:accent3>
      <a:accent4>
        <a:srgbClr val="5A6385"/>
      </a:accent4>
      <a:accent5>
        <a:srgbClr val="B9C8FC"/>
      </a:accent5>
      <a:accent6>
        <a:srgbClr val="FBC08C"/>
      </a:accent6>
      <a:hlink>
        <a:srgbClr val="1B2F6B"/>
      </a:hlink>
      <a:folHlink>
        <a:srgbClr val="5A6385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</Words>
  <Application>Microsoft Office PowerPoint</Application>
  <PresentationFormat>Custom</PresentationFormat>
  <Paragraphs>133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Kalampokis</vt:lpstr>
      <vt:lpstr>Presentation Title</vt:lpstr>
      <vt:lpstr>Research Presentation Title</vt:lpstr>
      <vt:lpstr>Agenda</vt:lpstr>
      <vt:lpstr>After today you will be able to…</vt:lpstr>
      <vt:lpstr>Section Title</vt:lpstr>
      <vt:lpstr>Slide title</vt:lpstr>
      <vt:lpstr>Slide title</vt:lpstr>
      <vt:lpstr>Two columns</vt:lpstr>
      <vt:lpstr>Comparison</vt:lpstr>
      <vt:lpstr>Table title</vt:lpstr>
      <vt:lpstr>Figure title</vt:lpstr>
      <vt:lpstr>Text and image</vt:lpstr>
      <vt:lpstr>Key message</vt:lpstr>
      <vt:lpstr>Conclusions</vt:lpstr>
      <vt:lpstr>Next week</vt:lpstr>
      <vt:lpstr>Assignments</vt:lpstr>
      <vt:lpstr>Questions?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cp:lastModifiedBy>Microsoft account</cp:lastModifiedBy>
  <cp:revision>26</cp:revision>
  <dcterms:modified xsi:type="dcterms:W3CDTF">2026-10-09T08:12:02Z</dcterms:modified>
</cp:coreProperties>
</file>