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10.jpg" ContentType="image/jpg"/>
  <Override PartName="/ppt/media/image14.jpg" ContentType="image/jp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4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15" r:id="rId43"/>
  </p:sldIdLst>
  <p:sldSz cx="18288000" cy="10287000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A1C5E-7B4D-4E8A-9C61-2D5B8E0F7A13}">
  <a:tblStyle styleId="{3F2A1C5E-7B4D-4E8A-9C61-2D5B8E0F7A13}" styleName="Kalampokis Table">
    <a:wholeTbl>
      <a:tcTxStyle>
        <a:fontRef idx="minor">
          <a:prstClr val="black"/>
        </a:fontRef>
        <a:srgbClr val="26314F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DDE2F5"/>
              </a:solidFill>
            </a:ln>
          </a:top>
          <a:bottom>
            <a:ln w="9525" cmpd="sng">
              <a:solidFill>
                <a:srgbClr val="DDE2F5"/>
              </a:solidFill>
            </a:ln>
          </a:bottom>
          <a:insideH>
            <a:ln w="9525" cmpd="sng">
              <a:solidFill>
                <a:srgbClr val="DDE2F5"/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EF1FE"/>
          </a:solidFill>
        </a:fill>
      </a:tcStyle>
    </a:band1H>
    <a:band2H>
      <a:tcStyle>
        <a:tcBdr/>
      </a:tcStyle>
    </a:band2H>
    <a:firstCol>
      <a:tcTxStyle b="on">
        <a:fontRef idx="minor">
          <a:prstClr val="black"/>
        </a:fontRef>
        <a:srgbClr val="1B2F6B"/>
      </a:tcTxStyle>
      <a:tcStyle>
        <a:tcBdr/>
      </a:tcStyle>
    </a:firstCol>
    <a:lastRow>
      <a:tcTxStyle b="on">
        <a:fontRef idx="minor">
          <a:prstClr val="black"/>
        </a:fontRef>
        <a:srgbClr val="1B2F6B"/>
      </a:tcTxStyle>
      <a:tcStyle>
        <a:tcBdr>
          <a:top>
            <a:ln w="19050">
              <a:solidFill>
                <a:srgbClr val="7895F9"/>
              </a:solidFill>
            </a:ln>
          </a:top>
        </a:tcBdr>
      </a:tcStyle>
    </a:lastRow>
    <a:firstRow>
      <a:tcTxStyle b="on">
        <a:fontRef idx="minor">
          <a:prstClr val="black"/>
        </a:fontRef>
        <a:srgbClr val="FFFFFF"/>
      </a:tcTxStyle>
      <a:tcStyle>
        <a:tcBdr>
          <a:bottom>
            <a:ln w="38100">
              <a:solidFill>
                <a:srgbClr val="F5821F"/>
              </a:solidFill>
            </a:ln>
          </a:bottom>
        </a:tcBdr>
        <a:fill>
          <a:solidFill>
            <a:srgbClr val="1B2F6B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38C2C-827E-4A3B-B756-233BBFB0218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CDA9A-5A8C-48AD-AA17-C8BA780AC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70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65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0" name="Google Shape;96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0215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4" name="Google Shape;99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271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4" name="Google Shape;102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1351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1" name="Google Shape;115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090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4" name="Google Shape;118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135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3" name="Google Shape;1243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0484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3" name="Google Shape;125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129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2" name="Google Shape;1282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111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2" name="Google Shape;131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8672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7" name="Google Shape;132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5497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5" name="Google Shape;1345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3364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3" name="Google Shape;136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7647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63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7" name="Google Shape;1377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2518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8" name="Google Shape;1388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3327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6" name="Google Shape;1416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0098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1" name="Google Shape;169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962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1" name="Google Shape;1801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9100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0" name="Google Shape;1830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75833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6" name="Google Shape;1846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7894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8" name="Google Shape;1948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9" name="Google Shape;1949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3903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8" name="Google Shape;191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2657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0" name="Google Shape;1970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4046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0" name="Google Shape;1990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8088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–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0" y="0"/>
            <a:ext cx="18288000" cy="5524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 userDrawn="1"/>
        </p:nvSpPr>
        <p:spPr>
          <a:xfrm>
            <a:off x="0" y="533400"/>
            <a:ext cx="18288000" cy="762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 userDrawn="1"/>
        </p:nvSpPr>
        <p:spPr>
          <a:xfrm>
            <a:off x="11820525" y="561975"/>
            <a:ext cx="6467475" cy="8562975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5"/>
          <p:cNvPicPr>
            <a:picLocks noChangeAspect="1"/>
          </p:cNvPicPr>
          <p:nvPr userDrawn="1"/>
        </p:nvPicPr>
        <p:blipFill rotWithShape="1">
          <a:blip r:embed="rId2"/>
          <a:srcRect l="12520"/>
          <a:stretch>
            <a:fillRect/>
          </a:stretch>
        </p:blipFill>
        <p:spPr>
          <a:xfrm>
            <a:off x="11839575" y="457200"/>
            <a:ext cx="6429375" cy="8667750"/>
          </a:xfrm>
          <a:prstGeom prst="rect">
            <a:avLst/>
          </a:prstGeom>
        </p:spPr>
      </p:pic>
      <p:sp>
        <p:nvSpPr>
          <p:cNvPr id="6" name="Shape 6"/>
          <p:cNvSpPr/>
          <p:nvPr userDrawn="1"/>
        </p:nvSpPr>
        <p:spPr>
          <a:xfrm>
            <a:off x="11725275" y="485775"/>
            <a:ext cx="95250" cy="8639175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 userDrawn="1"/>
        </p:nvSpPr>
        <p:spPr>
          <a:xfrm>
            <a:off x="1143000" y="2238375"/>
            <a:ext cx="85725" cy="29527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>
            <a:spLocks noGrp="1"/>
          </p:cNvSpPr>
          <p:nvPr>
            <p:ph type="ctrTitle"/>
          </p:nvPr>
        </p:nvSpPr>
        <p:spPr>
          <a:xfrm>
            <a:off x="1581150" y="2381250"/>
            <a:ext cx="9153525" cy="2190750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76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subTitle" idx="1"/>
          </p:nvPr>
        </p:nvSpPr>
        <p:spPr>
          <a:xfrm>
            <a:off x="1647825" y="4657725"/>
            <a:ext cx="9086850" cy="5715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 b="0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0" name="Author"/>
          <p:cNvSpPr>
            <a:spLocks noGrp="1"/>
          </p:cNvSpPr>
          <p:nvPr>
            <p:ph type="body" idx="13"/>
          </p:nvPr>
        </p:nvSpPr>
        <p:spPr>
          <a:xfrm>
            <a:off x="1647825" y="5915025"/>
            <a:ext cx="8572500" cy="4381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26314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Evangelos Kalampokis</a:t>
            </a:r>
          </a:p>
        </p:txBody>
      </p:sp>
      <p:sp>
        <p:nvSpPr>
          <p:cNvPr id="11" name="Website"/>
          <p:cNvSpPr>
            <a:spLocks noGrp="1"/>
          </p:cNvSpPr>
          <p:nvPr>
            <p:ph type="body" idx="14"/>
          </p:nvPr>
        </p:nvSpPr>
        <p:spPr>
          <a:xfrm>
            <a:off x="1647825" y="6429375"/>
            <a:ext cx="8572500" cy="3429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kalampokis.github.io</a:t>
            </a:r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1647825" y="7467600"/>
            <a:ext cx="971550" cy="914400"/>
          </a:xfrm>
          <a:prstGeom prst="rect">
            <a:avLst/>
          </a:prstGeom>
        </p:spPr>
      </p:pic>
      <p:sp>
        <p:nvSpPr>
          <p:cNvPr id="13" name="Shape 13"/>
          <p:cNvSpPr/>
          <p:nvPr userDrawn="1"/>
        </p:nvSpPr>
        <p:spPr>
          <a:xfrm>
            <a:off x="2971800" y="7591425"/>
            <a:ext cx="9525" cy="6572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4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3343275" y="7591425"/>
            <a:ext cx="2095500" cy="657225"/>
          </a:xfrm>
          <a:prstGeom prst="rect">
            <a:avLst/>
          </a:prstGeom>
        </p:spPr>
      </p:pic>
      <p:sp>
        <p:nvSpPr>
          <p:cNvPr id="15" name="Shape 15"/>
          <p:cNvSpPr/>
          <p:nvPr userDrawn="1"/>
        </p:nvSpPr>
        <p:spPr>
          <a:xfrm>
            <a:off x="5791200" y="7591425"/>
            <a:ext cx="9525" cy="6572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6"/>
          <p:cNvPicPr>
            <a:picLocks noChangeAspect="1"/>
          </p:cNvPicPr>
          <p:nvPr userDrawn="1"/>
        </p:nvPicPr>
        <p:blipFill rotWithShape="1">
          <a:blip r:embed="rId5"/>
          <a:stretch>
            <a:fillRect/>
          </a:stretch>
        </p:blipFill>
        <p:spPr>
          <a:xfrm>
            <a:off x="6162675" y="7467600"/>
            <a:ext cx="1371600" cy="914400"/>
          </a:xfrm>
          <a:prstGeom prst="rect">
            <a:avLst/>
          </a:prstGeom>
        </p:spPr>
      </p:pic>
      <p:sp>
        <p:nvSpPr>
          <p:cNvPr id="17" name="Shape 17"/>
          <p:cNvSpPr/>
          <p:nvPr userDrawn="1"/>
        </p:nvSpPr>
        <p:spPr>
          <a:xfrm>
            <a:off x="0" y="9115425"/>
            <a:ext cx="18288000" cy="11715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 userDrawn="1"/>
        </p:nvSpPr>
        <p:spPr>
          <a:xfrm>
            <a:off x="1647825" y="9572625"/>
            <a:ext cx="571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© Information Systems Lab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–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0" y="0"/>
            <a:ext cx="18288000" cy="5524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 userDrawn="1"/>
        </p:nvSpPr>
        <p:spPr>
          <a:xfrm>
            <a:off x="0" y="533400"/>
            <a:ext cx="18288000" cy="762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 userDrawn="1"/>
        </p:nvSpPr>
        <p:spPr>
          <a:xfrm>
            <a:off x="1143000" y="2238375"/>
            <a:ext cx="85725" cy="29527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1581150" y="2381250"/>
            <a:ext cx="14287500" cy="2190750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76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1647825" y="4657725"/>
            <a:ext cx="14220825" cy="5715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 b="0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7" name="Author"/>
          <p:cNvSpPr>
            <a:spLocks noGrp="1"/>
          </p:cNvSpPr>
          <p:nvPr>
            <p:ph type="body" idx="13"/>
          </p:nvPr>
        </p:nvSpPr>
        <p:spPr>
          <a:xfrm>
            <a:off x="1647825" y="5915025"/>
            <a:ext cx="8572500" cy="4381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26314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Evangelos Kalampokis</a:t>
            </a:r>
          </a:p>
        </p:txBody>
      </p:sp>
      <p:sp>
        <p:nvSpPr>
          <p:cNvPr id="8" name="Website"/>
          <p:cNvSpPr>
            <a:spLocks noGrp="1"/>
          </p:cNvSpPr>
          <p:nvPr>
            <p:ph type="body" idx="14"/>
          </p:nvPr>
        </p:nvSpPr>
        <p:spPr>
          <a:xfrm>
            <a:off x="1647825" y="6429375"/>
            <a:ext cx="8572500" cy="3429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kalampokis.github.io</a:t>
            </a:r>
          </a:p>
        </p:txBody>
      </p:sp>
      <p:pic>
        <p:nvPicPr>
          <p:cNvPr id="9" name="Picture 9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647825" y="7467600"/>
            <a:ext cx="971550" cy="914400"/>
          </a:xfrm>
          <a:prstGeom prst="rect">
            <a:avLst/>
          </a:prstGeom>
        </p:spPr>
      </p:pic>
      <p:sp>
        <p:nvSpPr>
          <p:cNvPr id="10" name="Shape 10"/>
          <p:cNvSpPr/>
          <p:nvPr userDrawn="1"/>
        </p:nvSpPr>
        <p:spPr>
          <a:xfrm>
            <a:off x="2971800" y="7591425"/>
            <a:ext cx="9525" cy="6572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1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3343275" y="7591425"/>
            <a:ext cx="2095500" cy="657225"/>
          </a:xfrm>
          <a:prstGeom prst="rect">
            <a:avLst/>
          </a:prstGeom>
        </p:spPr>
      </p:pic>
      <p:sp>
        <p:nvSpPr>
          <p:cNvPr id="12" name="Shape 12"/>
          <p:cNvSpPr/>
          <p:nvPr userDrawn="1"/>
        </p:nvSpPr>
        <p:spPr>
          <a:xfrm>
            <a:off x="5791200" y="7591425"/>
            <a:ext cx="9525" cy="6572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3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6162675" y="7467600"/>
            <a:ext cx="1371600" cy="914400"/>
          </a:xfrm>
          <a:prstGeom prst="rect">
            <a:avLst/>
          </a:prstGeom>
        </p:spPr>
      </p:pic>
      <p:sp>
        <p:nvSpPr>
          <p:cNvPr id="14" name="Shape 14"/>
          <p:cNvSpPr/>
          <p:nvPr userDrawn="1"/>
        </p:nvSpPr>
        <p:spPr>
          <a:xfrm>
            <a:off x="0" y="9115425"/>
            <a:ext cx="18288000" cy="11715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 userDrawn="1"/>
        </p:nvSpPr>
        <p:spPr>
          <a:xfrm>
            <a:off x="1647825" y="9572625"/>
            <a:ext cx="571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© Information Systems Lab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 userDrawn="1"/>
        </p:nvSpPr>
        <p:spPr>
          <a:xfrm>
            <a:off x="952500" y="1047750"/>
            <a:ext cx="4762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2250" b="1" spc="450">
                <a:solidFill>
                  <a:srgbClr val="14224F"/>
                </a:solidFill>
                <a:latin typeface="Arial"/>
                <a:cs typeface="Arial"/>
              </a:rPr>
              <a:t>PART</a:t>
            </a:r>
          </a:p>
        </p:txBody>
      </p:sp>
      <p:sp>
        <p:nvSpPr>
          <p:cNvPr id="4" name="Section number"/>
          <p:cNvSpPr>
            <a:spLocks noGrp="1"/>
          </p:cNvSpPr>
          <p:nvPr>
            <p:ph type="body" idx="13"/>
          </p:nvPr>
        </p:nvSpPr>
        <p:spPr>
          <a:xfrm>
            <a:off x="952500" y="5715000"/>
            <a:ext cx="5334000" cy="38100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7000" b="1">
                <a:solidFill>
                  <a:srgbClr val="FFFFFF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I</a:t>
            </a:r>
          </a:p>
        </p:txBody>
      </p:sp>
      <p:sp>
        <p:nvSpPr>
          <p:cNvPr id="5" name="Shape 5"/>
          <p:cNvSpPr/>
          <p:nvPr userDrawn="1"/>
        </p:nvSpPr>
        <p:spPr>
          <a:xfrm>
            <a:off x="8001000" y="6753225"/>
            <a:ext cx="914400" cy="5715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8001000" y="7048500"/>
            <a:ext cx="9525000" cy="14287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7" name="Description"/>
          <p:cNvSpPr>
            <a:spLocks noGrp="1"/>
          </p:cNvSpPr>
          <p:nvPr>
            <p:ph type="body" idx="1"/>
          </p:nvPr>
        </p:nvSpPr>
        <p:spPr>
          <a:xfrm>
            <a:off x="8001000" y="8572500"/>
            <a:ext cx="9220200" cy="5715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One-line description of this part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8" name="Content"/>
          <p:cNvSpPr>
            <a:spLocks noGrp="1"/>
          </p:cNvSpPr>
          <p:nvPr>
            <p:ph type="body" idx="1"/>
          </p:nvPr>
        </p:nvSpPr>
        <p:spPr>
          <a:xfrm>
            <a:off x="1143000" y="2571750"/>
            <a:ext cx="1600200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 dirty="0" smtClean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Agenda items"/>
          <p:cNvSpPr>
            <a:spLocks noGrp="1"/>
          </p:cNvSpPr>
          <p:nvPr>
            <p:ph type="body" idx="1"/>
          </p:nvPr>
        </p:nvSpPr>
        <p:spPr>
          <a:xfrm>
            <a:off x="1143000" y="2667000"/>
            <a:ext cx="16002000" cy="6381750"/>
          </a:xfrm>
        </p:spPr>
        <p:txBody>
          <a:bodyPr lIns="0" tIns="0" rIns="0" bIns="0" anchor="t">
            <a:normAutofit/>
          </a:bodyPr>
          <a:lstStyle>
            <a:lvl1pPr marL="666750" indent="-66675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5821F"/>
              </a:buClr>
              <a:buSzPct val="100000"/>
              <a:buFont typeface="+mj-lt"/>
              <a:buAutoNum type="arabicPeriod"/>
              <a:defRPr sz="3200" b="0">
                <a:solidFill>
                  <a:srgbClr val="1B2F6B"/>
                </a:solidFill>
                <a:latin typeface="Arial"/>
                <a:cs typeface="Arial"/>
              </a:defRPr>
            </a:lvl1pPr>
            <a:lvl2pPr marL="666750" inden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2400" b="0">
                <a:solidFill>
                  <a:srgbClr val="5A6385"/>
                </a:solidFill>
                <a:latin typeface="Arial"/>
                <a:cs typeface="Arial"/>
              </a:defRPr>
            </a:lvl2pPr>
          </a:lstStyle>
          <a:p>
            <a:r>
              <a:rPr lang="en-US"/>
              <a:t>Agenda item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 dirty="0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Objectives"/>
          <p:cNvSpPr>
            <a:spLocks noGrp="1"/>
          </p:cNvSpPr>
          <p:nvPr>
            <p:ph type="body" idx="1"/>
          </p:nvPr>
        </p:nvSpPr>
        <p:spPr>
          <a:xfrm>
            <a:off x="1143000" y="2667000"/>
            <a:ext cx="16002000" cy="63817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None/>
              <a:defRPr sz="3000" b="1">
                <a:solidFill>
                  <a:srgbClr val="1B2F6B"/>
                </a:solidFill>
                <a:latin typeface="Arial"/>
                <a:cs typeface="Arial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2600" b="0">
                <a:solidFill>
                  <a:srgbClr val="26314F"/>
                </a:solidFill>
                <a:latin typeface="Arial"/>
                <a:cs typeface="Arial"/>
              </a:defRPr>
            </a:lvl2pPr>
          </a:lstStyle>
          <a:p>
            <a:r>
              <a:rPr lang="en-US"/>
              <a:t>Learning objective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 dirty="0" smtClean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Left"/>
          <p:cNvSpPr>
            <a:spLocks noGrp="1"/>
          </p:cNvSpPr>
          <p:nvPr>
            <p:ph type="body" sz="half" idx="1"/>
          </p:nvPr>
        </p:nvSpPr>
        <p:spPr>
          <a:xfrm>
            <a:off x="1143000" y="2571750"/>
            <a:ext cx="771525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6" name="Right"/>
          <p:cNvSpPr>
            <a:spLocks noGrp="1"/>
          </p:cNvSpPr>
          <p:nvPr>
            <p:ph type="body" sz="half" idx="2"/>
          </p:nvPr>
        </p:nvSpPr>
        <p:spPr>
          <a:xfrm>
            <a:off x="9429750" y="2571750"/>
            <a:ext cx="771525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Left heading"/>
          <p:cNvSpPr>
            <a:spLocks noGrp="1"/>
          </p:cNvSpPr>
          <p:nvPr>
            <p:ph type="body" idx="1"/>
          </p:nvPr>
        </p:nvSpPr>
        <p:spPr>
          <a:xfrm>
            <a:off x="1143000" y="2667000"/>
            <a:ext cx="7715250" cy="533400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1B2F6B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Option A</a:t>
            </a:r>
          </a:p>
        </p:txBody>
      </p:sp>
      <p:sp>
        <p:nvSpPr>
          <p:cNvPr id="6" name="Shape 6"/>
          <p:cNvSpPr/>
          <p:nvPr userDrawn="1"/>
        </p:nvSpPr>
        <p:spPr>
          <a:xfrm>
            <a:off x="1143000" y="3333750"/>
            <a:ext cx="7715250" cy="381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Left content"/>
          <p:cNvSpPr>
            <a:spLocks noGrp="1"/>
          </p:cNvSpPr>
          <p:nvPr>
            <p:ph type="body" sz="half" idx="2"/>
          </p:nvPr>
        </p:nvSpPr>
        <p:spPr>
          <a:xfrm>
            <a:off x="1143000" y="3657600"/>
            <a:ext cx="7715250" cy="539115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8" name="Right heading"/>
          <p:cNvSpPr>
            <a:spLocks noGrp="1"/>
          </p:cNvSpPr>
          <p:nvPr>
            <p:ph type="body" idx="3"/>
          </p:nvPr>
        </p:nvSpPr>
        <p:spPr>
          <a:xfrm>
            <a:off x="9429750" y="2667000"/>
            <a:ext cx="7715250" cy="533400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1B2F6B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Option B</a:t>
            </a:r>
          </a:p>
        </p:txBody>
      </p:sp>
      <p:sp>
        <p:nvSpPr>
          <p:cNvPr id="9" name="Shape 9"/>
          <p:cNvSpPr/>
          <p:nvPr userDrawn="1"/>
        </p:nvSpPr>
        <p:spPr>
          <a:xfrm>
            <a:off x="9429750" y="3333750"/>
            <a:ext cx="7715250" cy="381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ight content"/>
          <p:cNvSpPr>
            <a:spLocks noGrp="1"/>
          </p:cNvSpPr>
          <p:nvPr>
            <p:ph type="body" sz="half" idx="4"/>
          </p:nvPr>
        </p:nvSpPr>
        <p:spPr>
          <a:xfrm>
            <a:off x="9429750" y="3657600"/>
            <a:ext cx="7715250" cy="539115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Table"/>
          <p:cNvSpPr>
            <a:spLocks noGrp="1"/>
          </p:cNvSpPr>
          <p:nvPr>
            <p:ph type="tbl" idx="1"/>
          </p:nvPr>
        </p:nvSpPr>
        <p:spPr>
          <a:xfrm>
            <a:off x="1143000" y="2762250"/>
            <a:ext cx="16002000" cy="6096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icon to add table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r 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1"/>
          </p:nvPr>
        </p:nvSpPr>
        <p:spPr>
          <a:xfrm>
            <a:off x="1143000" y="2571750"/>
            <a:ext cx="16002000" cy="5810250"/>
          </a:xfrm>
          <a:solidFill>
            <a:srgbClr val="EEF1FE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aption"/>
          <p:cNvSpPr>
            <a:spLocks noGrp="1"/>
          </p:cNvSpPr>
          <p:nvPr>
            <p:ph type="body" idx="2"/>
          </p:nvPr>
        </p:nvSpPr>
        <p:spPr>
          <a:xfrm>
            <a:off x="1143000" y="8572500"/>
            <a:ext cx="16002000" cy="5334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1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Figure 1. Caption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Content"/>
          <p:cNvSpPr>
            <a:spLocks noGrp="1"/>
          </p:cNvSpPr>
          <p:nvPr>
            <p:ph type="body" idx="1"/>
          </p:nvPr>
        </p:nvSpPr>
        <p:spPr>
          <a:xfrm>
            <a:off x="1143000" y="2571750"/>
            <a:ext cx="781050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6" name="Picture"/>
          <p:cNvSpPr>
            <a:spLocks noGrp="1"/>
          </p:cNvSpPr>
          <p:nvPr>
            <p:ph type="pic" idx="2"/>
          </p:nvPr>
        </p:nvSpPr>
        <p:spPr>
          <a:xfrm>
            <a:off x="9715500" y="2571750"/>
            <a:ext cx="7429500" cy="6477000"/>
          </a:xfrm>
          <a:solidFill>
            <a:srgbClr val="EEF1FE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Shape 5"/>
          <p:cNvSpPr/>
          <p:nvPr userDrawn="1"/>
        </p:nvSpPr>
        <p:spPr>
          <a:xfrm>
            <a:off x="1143000" y="2857500"/>
            <a:ext cx="95250" cy="36195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"/>
          <p:cNvSpPr>
            <a:spLocks noGrp="1"/>
          </p:cNvSpPr>
          <p:nvPr>
            <p:ph type="body" idx="1"/>
          </p:nvPr>
        </p:nvSpPr>
        <p:spPr>
          <a:xfrm>
            <a:off x="1714500" y="2857500"/>
            <a:ext cx="14859000" cy="36195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One sentence the audience should remember.</a:t>
            </a:r>
          </a:p>
        </p:txBody>
      </p:sp>
      <p:sp>
        <p:nvSpPr>
          <p:cNvPr id="7" name="Attribution"/>
          <p:cNvSpPr>
            <a:spLocks noGrp="1"/>
          </p:cNvSpPr>
          <p:nvPr>
            <p:ph type="body" idx="2"/>
          </p:nvPr>
        </p:nvSpPr>
        <p:spPr>
          <a:xfrm>
            <a:off x="1714500" y="6953250"/>
            <a:ext cx="14859000" cy="4762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— Source or author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 dirty="0" smtClean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5" name="Conclusions"/>
          <p:cNvSpPr>
            <a:spLocks noGrp="1"/>
          </p:cNvSpPr>
          <p:nvPr>
            <p:ph type="body" idx="1"/>
          </p:nvPr>
        </p:nvSpPr>
        <p:spPr>
          <a:xfrm>
            <a:off x="1143000" y="2667000"/>
            <a:ext cx="16002000" cy="6381750"/>
          </a:xfrm>
        </p:spPr>
        <p:txBody>
          <a:bodyPr lIns="0" tIns="0" rIns="0" bIns="0" anchor="t">
            <a:normAutofit/>
          </a:bodyPr>
          <a:lstStyle>
            <a:lvl1pPr marL="476250" indent="-476250">
              <a:lnSpc>
                <a:spcPct val="110000"/>
              </a:lnSpc>
              <a:spcBef>
                <a:spcPts val="2600"/>
              </a:spcBef>
              <a:spcAft>
                <a:spcPts val="0"/>
              </a:spcAft>
              <a:buClr>
                <a:srgbClr val="F5821F"/>
              </a:buClr>
              <a:buSzPct val="60000"/>
              <a:buFont typeface="Arial"/>
              <a:buChar char="■"/>
              <a:defRPr sz="3000" b="1">
                <a:solidFill>
                  <a:srgbClr val="1B2F6B"/>
                </a:solidFill>
                <a:latin typeface="Arial"/>
                <a:cs typeface="Arial"/>
              </a:defRPr>
            </a:lvl1pPr>
            <a:lvl2pPr marL="47625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2600" b="0">
                <a:solidFill>
                  <a:srgbClr val="26314F"/>
                </a:solidFill>
                <a:latin typeface="Arial"/>
                <a:cs typeface="Arial"/>
              </a:defRPr>
            </a:lvl2pPr>
          </a:lstStyle>
          <a:p>
            <a:r>
              <a:rPr lang="en-US"/>
              <a:t>Conclusion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/>
              <a:t>Presentation Title · © Information Systems Lab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algn="l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 dirty="0" smtClean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estions /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 userDrawn="1"/>
        </p:nvSpPr>
        <p:spPr>
          <a:xfrm>
            <a:off x="0" y="190500"/>
            <a:ext cx="18288000" cy="762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Label"/>
          <p:cNvSpPr>
            <a:spLocks noGrp="1"/>
          </p:cNvSpPr>
          <p:nvPr>
            <p:ph type="body" idx="13"/>
          </p:nvPr>
        </p:nvSpPr>
        <p:spPr>
          <a:xfrm>
            <a:off x="1143000" y="1428750"/>
            <a:ext cx="11430000" cy="3429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 spc="30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hape 5"/>
          <p:cNvSpPr/>
          <p:nvPr userDrawn="1"/>
        </p:nvSpPr>
        <p:spPr>
          <a:xfrm>
            <a:off x="1143000" y="2343150"/>
            <a:ext cx="95250" cy="1676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1657350" y="2381250"/>
            <a:ext cx="14287500" cy="161925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 b="1">
                <a:solidFill>
                  <a:srgbClr val="1B2F6B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Questions?</a:t>
            </a:r>
          </a:p>
        </p:txBody>
      </p:sp>
      <p:sp>
        <p:nvSpPr>
          <p:cNvPr id="7" name="Name"/>
          <p:cNvSpPr>
            <a:spLocks noGrp="1"/>
          </p:cNvSpPr>
          <p:nvPr>
            <p:ph type="body" idx="1"/>
          </p:nvPr>
        </p:nvSpPr>
        <p:spPr>
          <a:xfrm>
            <a:off x="1657350" y="4448175"/>
            <a:ext cx="9525000" cy="43815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26314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Evangelos Kalampokis</a:t>
            </a:r>
          </a:p>
        </p:txBody>
      </p:sp>
      <p:sp>
        <p:nvSpPr>
          <p:cNvPr id="8" name="Contact"/>
          <p:cNvSpPr>
            <a:spLocks noGrp="1"/>
          </p:cNvSpPr>
          <p:nvPr>
            <p:ph type="body" idx="14"/>
          </p:nvPr>
        </p:nvSpPr>
        <p:spPr>
          <a:xfrm>
            <a:off x="1657350" y="5324475"/>
            <a:ext cx="9525000" cy="762000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5A6385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kalampokis.github.io</a:t>
            </a:r>
          </a:p>
        </p:txBody>
      </p:sp>
      <p:sp>
        <p:nvSpPr>
          <p:cNvPr id="9" name="Shape 9"/>
          <p:cNvSpPr/>
          <p:nvPr userDrawn="1"/>
        </p:nvSpPr>
        <p:spPr>
          <a:xfrm>
            <a:off x="0" y="8467725"/>
            <a:ext cx="18288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 userDrawn="1"/>
        </p:nvSpPr>
        <p:spPr>
          <a:xfrm>
            <a:off x="1657350" y="9229725"/>
            <a:ext cx="571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800">
                <a:solidFill>
                  <a:srgbClr val="5A6385"/>
                </a:solidFill>
                <a:latin typeface="Arial"/>
                <a:cs typeface="Arial"/>
              </a:rPr>
              <a:t>© Information Systems Lab</a:t>
            </a:r>
          </a:p>
        </p:txBody>
      </p:sp>
      <p:pic>
        <p:nvPicPr>
          <p:cNvPr id="11" name="Picture 11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11563350" y="8924925"/>
            <a:ext cx="971550" cy="91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13068300" y="9039225"/>
            <a:ext cx="2171700" cy="685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15773400" y="8924925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812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7908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54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 userDrawn="1"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 userDrawn="1"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 userDrawn="1"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1143000" y="666750"/>
            <a:ext cx="16002000" cy="1200150"/>
          </a:xfrm>
        </p:spPr>
        <p:txBody>
          <a:bodyPr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6" name="Body"/>
          <p:cNvSpPr>
            <a:spLocks noGrp="1"/>
          </p:cNvSpPr>
          <p:nvPr>
            <p:ph type="body" idx="1"/>
          </p:nvPr>
        </p:nvSpPr>
        <p:spPr>
          <a:xfrm>
            <a:off x="1143000" y="2571750"/>
            <a:ext cx="16002000" cy="6477000"/>
          </a:xfrm>
        </p:spPr>
        <p:txBody>
          <a:bodyPr lIns="0" tIns="0" rIns="0" bIns="0" anchor="t">
            <a:normAutofit/>
          </a:bodyPr>
          <a:lstStyle/>
          <a:p>
            <a:r>
              <a:rPr lang="en-US" dirty="0"/>
              <a:t>Click to edit text</a:t>
            </a:r>
          </a:p>
        </p:txBody>
      </p:sp>
      <p:sp>
        <p:nvSpPr>
          <p:cNvPr id="7" name="Footer"/>
          <p:cNvSpPr>
            <a:spLocks noGrp="1"/>
          </p:cNvSpPr>
          <p:nvPr>
            <p:ph type="ftr" sz="quarter" idx="11"/>
          </p:nvPr>
        </p:nvSpPr>
        <p:spPr>
          <a:xfrm>
            <a:off x="1143000" y="9563100"/>
            <a:ext cx="12382500" cy="419100"/>
          </a:xfrm>
        </p:spPr>
        <p:txBody>
          <a:bodyPr lIns="0" tIns="0" rIns="0" bIns="0" anchor="ctr">
            <a:noAutofit/>
          </a:bodyPr>
          <a:lstStyle>
            <a:lvl1pPr marL="0" marR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r>
              <a:rPr lang="en-US" dirty="0" smtClean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12"/>
          </p:nvPr>
        </p:nvSpPr>
        <p:spPr>
          <a:xfrm>
            <a:off x="14287500" y="9563100"/>
            <a:ext cx="2857500" cy="419100"/>
          </a:xfrm>
        </p:spPr>
        <p:txBody>
          <a:bodyPr lIns="0" tIns="0" rIns="0" bIns="0" anchor="ctr">
            <a:noAutofit/>
          </a:bodyPr>
          <a:lstStyle>
            <a:lvl1pPr algn="r">
              <a:defRPr sz="1800">
                <a:solidFill>
                  <a:srgbClr val="5A6385"/>
                </a:solidFill>
                <a:latin typeface="Arial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dt="0"/>
  <p:txStyles>
    <p:titleStyle>
      <a:lvl1pPr marL="0" indent="0">
        <a:lnSpc>
          <a:spcPct val="97000"/>
        </a:lnSpc>
        <a:spcBef>
          <a:spcPts val="0"/>
        </a:spcBef>
        <a:spcAft>
          <a:spcPts val="0"/>
        </a:spcAft>
        <a:buNone/>
        <a:defRPr sz="5100" b="1">
          <a:solidFill>
            <a:srgbClr val="1B2F6B"/>
          </a:solidFill>
          <a:latin typeface="Georgia"/>
          <a:cs typeface="Georgia"/>
        </a:defRPr>
      </a:lvl1pPr>
    </p:titleStyle>
    <p:bodyStyle>
      <a:lvl1pPr marL="419100" indent="-419100">
        <a:lnSpc>
          <a:spcPct val="115000"/>
        </a:lnSpc>
        <a:spcBef>
          <a:spcPts val="2000"/>
        </a:spcBef>
        <a:spcAft>
          <a:spcPts val="0"/>
        </a:spcAft>
        <a:buClr>
          <a:srgbClr val="F5821F"/>
        </a:buClr>
        <a:buSzPct val="65000"/>
        <a:buFont typeface="Arial"/>
        <a:buChar char="●"/>
        <a:defRPr sz="2800" b="0">
          <a:solidFill>
            <a:srgbClr val="26314F"/>
          </a:solidFill>
          <a:latin typeface="Arial"/>
          <a:cs typeface="Arial"/>
        </a:defRPr>
      </a:lvl1pPr>
      <a:lvl2pPr marL="952500" indent="-381000">
        <a:lnSpc>
          <a:spcPct val="115000"/>
        </a:lnSpc>
        <a:spcBef>
          <a:spcPts val="800"/>
        </a:spcBef>
        <a:spcAft>
          <a:spcPts val="0"/>
        </a:spcAft>
        <a:buClr>
          <a:srgbClr val="7895F9"/>
        </a:buClr>
        <a:buSzPct val="55000"/>
        <a:buFont typeface="Arial"/>
        <a:buChar char="●"/>
        <a:defRPr sz="2400" b="0">
          <a:solidFill>
            <a:srgbClr val="5A6385"/>
          </a:solidFill>
          <a:latin typeface="Arial"/>
          <a:cs typeface="Arial"/>
        </a:defRPr>
      </a:lvl2pPr>
      <a:lvl3pPr marL="1428750" indent="-342900">
        <a:lnSpc>
          <a:spcPct val="115000"/>
        </a:lnSpc>
        <a:spcBef>
          <a:spcPts val="600"/>
        </a:spcBef>
        <a:spcAft>
          <a:spcPts val="0"/>
        </a:spcAft>
        <a:buClr>
          <a:srgbClr val="7895F9"/>
        </a:buClr>
        <a:buSzPct val="100000"/>
        <a:buFont typeface="Arial"/>
        <a:buChar char="–"/>
        <a:defRPr sz="2000" b="0">
          <a:solidFill>
            <a:srgbClr val="5A6385"/>
          </a:solidFill>
          <a:latin typeface="Arial"/>
          <a:cs typeface="Arial"/>
        </a:defRPr>
      </a:lvl3pPr>
      <a:lvl4pPr marL="1809750" indent="-285750">
        <a:lnSpc>
          <a:spcPct val="100000"/>
        </a:lnSpc>
        <a:spcBef>
          <a:spcPts val="400"/>
        </a:spcBef>
        <a:spcAft>
          <a:spcPts val="0"/>
        </a:spcAft>
        <a:buClr>
          <a:srgbClr val="7895F9"/>
        </a:buClr>
        <a:buSzPct val="100000"/>
        <a:buFont typeface="Arial"/>
        <a:buChar char="–"/>
        <a:defRPr sz="1800" b="0">
          <a:solidFill>
            <a:srgbClr val="5A6385"/>
          </a:solidFill>
          <a:latin typeface="Arial"/>
          <a:cs typeface="Arial"/>
        </a:defRPr>
      </a:lvl4pPr>
      <a:lvl5pPr marL="2190750" indent="-285750">
        <a:lnSpc>
          <a:spcPct val="100000"/>
        </a:lnSpc>
        <a:spcBef>
          <a:spcPts val="400"/>
        </a:spcBef>
        <a:spcAft>
          <a:spcPts val="0"/>
        </a:spcAft>
        <a:buClr>
          <a:srgbClr val="7895F9"/>
        </a:buClr>
        <a:buSzPct val="100000"/>
        <a:buFont typeface="Arial"/>
        <a:buChar char="–"/>
        <a:defRPr sz="1800" b="0">
          <a:solidFill>
            <a:srgbClr val="5A6385"/>
          </a:solidFill>
          <a:latin typeface="Arial"/>
          <a:cs typeface="Arial"/>
        </a:defRPr>
      </a:lvl5pPr>
    </p:bodyStyle>
    <p:otherStyle>
      <a:lvl1pPr marL="0" indent="0">
        <a:lnSpc>
          <a:spcPct val="100000"/>
        </a:lnSpc>
        <a:spcBef>
          <a:spcPts val="0"/>
        </a:spcBef>
        <a:spcAft>
          <a:spcPts val="0"/>
        </a:spcAft>
        <a:buNone/>
        <a:defRPr sz="1800" b="0">
          <a:solidFill>
            <a:srgbClr val="26314F"/>
          </a:solidFill>
          <a:latin typeface="Arial"/>
          <a:cs typeface="Arial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atacamp.com/learn/courses/regular-expressions-in-python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33400"/>
            <a:ext cx="18288000" cy="76200"/>
          </a:xfrm>
          <a:prstGeom prst="rect">
            <a:avLst/>
          </a:prstGeom>
          <a:solidFill>
            <a:srgbClr val="F5821F"/>
          </a:solidFill>
          <a:ln/>
        </p:spPr>
      </p:sp>
      <p:sp>
        <p:nvSpPr>
          <p:cNvPr id="4" name="Shape 2"/>
          <p:cNvSpPr/>
          <p:nvPr/>
        </p:nvSpPr>
        <p:spPr>
          <a:xfrm>
            <a:off x="11823910" y="558799"/>
            <a:ext cx="6464089" cy="8559801"/>
          </a:xfrm>
          <a:prstGeom prst="rect">
            <a:avLst/>
          </a:prstGeom>
          <a:solidFill>
            <a:srgbClr val="EEF1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l="12520"/>
          <a:stretch/>
        </p:blipFill>
        <p:spPr>
          <a:xfrm>
            <a:off x="11840005" y="453581"/>
            <a:ext cx="6431903" cy="86650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26962" y="482599"/>
            <a:ext cx="96947" cy="8636001"/>
          </a:xfrm>
          <a:prstGeom prst="rect">
            <a:avLst/>
          </a:prstGeom>
          <a:solidFill>
            <a:srgbClr val="F5821F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1422400"/>
            <a:ext cx="1347192" cy="35560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>
            <a:normAutofit fontScale="92500" lnSpcReduction="10000"/>
          </a:bodyPr>
          <a:lstStyle/>
          <a:p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143000" y="2235200"/>
            <a:ext cx="88901" cy="2950754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9" name="Text 6"/>
          <p:cNvSpPr/>
          <p:nvPr/>
        </p:nvSpPr>
        <p:spPr>
          <a:xfrm>
            <a:off x="1584524" y="2468517"/>
            <a:ext cx="9156700" cy="2480865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>
            <a:normAutofit fontScale="85000" lnSpcReduction="10000"/>
          </a:bodyPr>
          <a:lstStyle/>
          <a:p>
            <a:pPr>
              <a:lnSpc>
                <a:spcPct val="92000"/>
              </a:lnSpc>
            </a:pPr>
            <a:r>
              <a:rPr lang="en-US" sz="8900" b="1" dirty="0" smtClean="0">
                <a:solidFill>
                  <a:srgbClr val="1B2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and Text Analytics 2026-27</a:t>
            </a:r>
          </a:p>
          <a:p>
            <a:pPr>
              <a:lnSpc>
                <a:spcPct val="92000"/>
              </a:lnSpc>
            </a:pPr>
            <a:endParaRPr lang="en-US" sz="9200" dirty="0"/>
          </a:p>
        </p:txBody>
      </p:sp>
      <p:sp>
        <p:nvSpPr>
          <p:cNvPr id="10" name="Text 7"/>
          <p:cNvSpPr/>
          <p:nvPr/>
        </p:nvSpPr>
        <p:spPr>
          <a:xfrm>
            <a:off x="1651000" y="4654551"/>
            <a:ext cx="2060793" cy="69850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>
            <a:normAutofit lnSpcReduction="10000"/>
          </a:bodyPr>
          <a:lstStyle/>
          <a:p>
            <a:r>
              <a:rPr lang="en-US" sz="4500" dirty="0">
                <a:solidFill>
                  <a:srgbClr val="1B2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</a:t>
            </a:r>
            <a:r>
              <a:rPr lang="el-GR" sz="4500" dirty="0" smtClean="0">
                <a:solidFill>
                  <a:srgbClr val="1B2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00" dirty="0"/>
          </a:p>
        </p:txBody>
      </p:sp>
      <p:sp>
        <p:nvSpPr>
          <p:cNvPr id="11" name="Text 8"/>
          <p:cNvSpPr/>
          <p:nvPr/>
        </p:nvSpPr>
        <p:spPr>
          <a:xfrm>
            <a:off x="1651001" y="5918201"/>
            <a:ext cx="3604041" cy="41910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>
            <a:normAutofit lnSpcReduction="10000"/>
          </a:bodyPr>
          <a:lstStyle/>
          <a:p>
            <a:r>
              <a:rPr lang="en-US" sz="2551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Evangelos Kalampokis</a:t>
            </a:r>
            <a:endParaRPr lang="en-US" sz="2551" dirty="0"/>
          </a:p>
        </p:txBody>
      </p:sp>
      <p:sp>
        <p:nvSpPr>
          <p:cNvPr id="12" name="Text 9"/>
          <p:cNvSpPr/>
          <p:nvPr/>
        </p:nvSpPr>
        <p:spPr>
          <a:xfrm>
            <a:off x="1651000" y="6426200"/>
            <a:ext cx="2658229" cy="35560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>
            <a:normAutofit fontScale="92500" lnSpcReduction="10000"/>
          </a:bodyPr>
          <a:lstStyle/>
          <a:p>
            <a:r>
              <a:rPr lang="en-US" sz="2100" dirty="0">
                <a:solidFill>
                  <a:srgbClr val="5A6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kalampokis.github.io</a:t>
            </a:r>
            <a:endParaRPr lang="en-US" sz="2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1" y="7467600"/>
            <a:ext cx="969169" cy="914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975770" y="7594600"/>
            <a:ext cx="12700" cy="660400"/>
          </a:xfrm>
          <a:prstGeom prst="rect">
            <a:avLst/>
          </a:prstGeom>
          <a:solidFill>
            <a:srgbClr val="DDE2F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070" y="7594600"/>
            <a:ext cx="2094905" cy="6604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794574" y="7594600"/>
            <a:ext cx="12700" cy="660400"/>
          </a:xfrm>
          <a:prstGeom prst="rect">
            <a:avLst/>
          </a:prstGeom>
          <a:solidFill>
            <a:srgbClr val="DDE2F5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874" y="7467600"/>
            <a:ext cx="1368028" cy="9144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9118600"/>
            <a:ext cx="18288000" cy="1168400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19" name="Text 13"/>
          <p:cNvSpPr/>
          <p:nvPr/>
        </p:nvSpPr>
        <p:spPr>
          <a:xfrm>
            <a:off x="1651000" y="9569451"/>
            <a:ext cx="3201611" cy="317500"/>
          </a:xfrm>
          <a:prstGeom prst="rect">
            <a:avLst/>
          </a:prstGeom>
          <a:noFill/>
          <a:ln/>
        </p:spPr>
        <p:txBody>
          <a:bodyPr wrap="square" lIns="33867" tIns="33867" rIns="33867" bIns="33867" rtlCol="0" anchor="t">
            <a:normAutofit lnSpcReduction="10000"/>
          </a:bodyPr>
          <a:lstStyle/>
          <a:p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Information Systems Lab</a:t>
            </a:r>
            <a:endParaRPr lang="en-US" sz="1800" dirty="0"/>
          </a:p>
        </p:txBody>
      </p:sp>
      <p:sp>
        <p:nvSpPr>
          <p:cNvPr id="2" name="Shape 0"/>
          <p:cNvSpPr/>
          <p:nvPr/>
        </p:nvSpPr>
        <p:spPr>
          <a:xfrm>
            <a:off x="0" y="-10521"/>
            <a:ext cx="18288000" cy="558797"/>
          </a:xfrm>
          <a:prstGeom prst="rect">
            <a:avLst/>
          </a:prstGeom>
          <a:solidFill>
            <a:srgbClr val="7895F9"/>
          </a:solidFill>
          <a:ln/>
        </p:spPr>
      </p:sp>
    </p:spTree>
    <p:extLst>
      <p:ext uri="{BB962C8B-B14F-4D97-AF65-F5344CB8AC3E}">
        <p14:creationId xmlns:p14="http://schemas.microsoft.com/office/powerpoint/2010/main" val="1857005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9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Special Characters (1/3)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9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39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0" name="Table Cell 9000"/>
          <p:cNvSpPr/>
          <p:nvPr/>
        </p:nvSpPr>
        <p:spPr>
          <a:xfrm>
            <a:off x="1143000" y="2762250"/>
            <a:ext cx="22860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1" name="Table Cell 9001"/>
          <p:cNvSpPr/>
          <p:nvPr/>
        </p:nvSpPr>
        <p:spPr>
          <a:xfrm>
            <a:off x="3409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2" name="Table Cell 9002"/>
          <p:cNvSpPr/>
          <p:nvPr/>
        </p:nvSpPr>
        <p:spPr>
          <a:xfrm>
            <a:off x="3429000" y="2762250"/>
            <a:ext cx="137160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3" name="Table Cell 9003"/>
          <p:cNvSpPr/>
          <p:nvPr/>
        </p:nvSpPr>
        <p:spPr>
          <a:xfrm>
            <a:off x="17125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4" name="Table Header 9004"/>
          <p:cNvSpPr txBox="1"/>
          <p:nvPr/>
        </p:nvSpPr>
        <p:spPr>
          <a:xfrm>
            <a:off x="1333500" y="2847975"/>
            <a:ext cx="1905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</a:p>
        </p:txBody>
      </p:sp>
      <p:sp>
        <p:nvSpPr>
          <p:cNvPr id="9005" name="Table Header 9005"/>
          <p:cNvSpPr txBox="1"/>
          <p:nvPr/>
        </p:nvSpPr>
        <p:spPr>
          <a:xfrm>
            <a:off x="3619500" y="2847975"/>
            <a:ext cx="13335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</a:p>
        </p:txBody>
      </p:sp>
      <p:sp>
        <p:nvSpPr>
          <p:cNvPr id="9006" name="Table Cell 9006"/>
          <p:cNvSpPr/>
          <p:nvPr/>
        </p:nvSpPr>
        <p:spPr>
          <a:xfrm>
            <a:off x="1143000" y="3228975"/>
            <a:ext cx="2286000" cy="902694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7" name="Table Cell 9007"/>
          <p:cNvSpPr/>
          <p:nvPr/>
        </p:nvSpPr>
        <p:spPr>
          <a:xfrm>
            <a:off x="3429000" y="3228975"/>
            <a:ext cx="13716000" cy="902694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8" name="Table Cell 9008"/>
          <p:cNvSpPr/>
          <p:nvPr/>
        </p:nvSpPr>
        <p:spPr>
          <a:xfrm>
            <a:off x="1143000" y="4112619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9" name="Table Cell 9009"/>
          <p:cNvSpPr/>
          <p:nvPr/>
        </p:nvSpPr>
        <p:spPr>
          <a:xfrm>
            <a:off x="3409950" y="3228975"/>
            <a:ext cx="19050" cy="9026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0" name="Table Cell 9010"/>
          <p:cNvSpPr/>
          <p:nvPr/>
        </p:nvSpPr>
        <p:spPr>
          <a:xfrm>
            <a:off x="17125950" y="3228975"/>
            <a:ext cx="19050" cy="9026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1" name="Table Cell 9011"/>
          <p:cNvSpPr/>
          <p:nvPr/>
        </p:nvSpPr>
        <p:spPr>
          <a:xfrm>
            <a:off x="1143000" y="4131669"/>
            <a:ext cx="228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2" name="Table Cell 9012"/>
          <p:cNvSpPr/>
          <p:nvPr/>
        </p:nvSpPr>
        <p:spPr>
          <a:xfrm>
            <a:off x="3429000" y="4131669"/>
            <a:ext cx="1371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3" name="Table Cell 9013"/>
          <p:cNvSpPr/>
          <p:nvPr/>
        </p:nvSpPr>
        <p:spPr>
          <a:xfrm>
            <a:off x="1143000" y="4675091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4" name="Table Cell 9014"/>
          <p:cNvSpPr/>
          <p:nvPr/>
        </p:nvSpPr>
        <p:spPr>
          <a:xfrm>
            <a:off x="3409950" y="4131669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5" name="Table Cell 9015"/>
          <p:cNvSpPr/>
          <p:nvPr/>
        </p:nvSpPr>
        <p:spPr>
          <a:xfrm>
            <a:off x="17125950" y="4131669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6" name="Table Cell 9016"/>
          <p:cNvSpPr/>
          <p:nvPr/>
        </p:nvSpPr>
        <p:spPr>
          <a:xfrm>
            <a:off x="1143000" y="4694141"/>
            <a:ext cx="228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7" name="Table Cell 9017"/>
          <p:cNvSpPr/>
          <p:nvPr/>
        </p:nvSpPr>
        <p:spPr>
          <a:xfrm>
            <a:off x="3429000" y="4694141"/>
            <a:ext cx="1371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8" name="Table Cell 9018"/>
          <p:cNvSpPr/>
          <p:nvPr/>
        </p:nvSpPr>
        <p:spPr>
          <a:xfrm>
            <a:off x="1143000" y="5237563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9" name="Table Cell 9019"/>
          <p:cNvSpPr/>
          <p:nvPr/>
        </p:nvSpPr>
        <p:spPr>
          <a:xfrm>
            <a:off x="3409950" y="4694141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0" name="Table Cell 9020"/>
          <p:cNvSpPr/>
          <p:nvPr/>
        </p:nvSpPr>
        <p:spPr>
          <a:xfrm>
            <a:off x="17125950" y="4694141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1" name="Table Cell 9021"/>
          <p:cNvSpPr/>
          <p:nvPr/>
        </p:nvSpPr>
        <p:spPr>
          <a:xfrm>
            <a:off x="1143000" y="5256613"/>
            <a:ext cx="228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2" name="Table Cell 9022"/>
          <p:cNvSpPr/>
          <p:nvPr/>
        </p:nvSpPr>
        <p:spPr>
          <a:xfrm>
            <a:off x="3429000" y="5256613"/>
            <a:ext cx="1371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3" name="Table Cell 9023"/>
          <p:cNvSpPr/>
          <p:nvPr/>
        </p:nvSpPr>
        <p:spPr>
          <a:xfrm>
            <a:off x="1143000" y="5800035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4" name="Table Cell 9024"/>
          <p:cNvSpPr/>
          <p:nvPr/>
        </p:nvSpPr>
        <p:spPr>
          <a:xfrm>
            <a:off x="3409950" y="5256613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5" name="Table Cell 9025"/>
          <p:cNvSpPr/>
          <p:nvPr/>
        </p:nvSpPr>
        <p:spPr>
          <a:xfrm>
            <a:off x="17125950" y="5256613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6" name="Table Cell 9026"/>
          <p:cNvSpPr/>
          <p:nvPr/>
        </p:nvSpPr>
        <p:spPr>
          <a:xfrm>
            <a:off x="1143000" y="5819085"/>
            <a:ext cx="228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7" name="Table Cell 9027"/>
          <p:cNvSpPr/>
          <p:nvPr/>
        </p:nvSpPr>
        <p:spPr>
          <a:xfrm>
            <a:off x="3429000" y="5819085"/>
            <a:ext cx="1371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8" name="Table Cell 9028"/>
          <p:cNvSpPr/>
          <p:nvPr/>
        </p:nvSpPr>
        <p:spPr>
          <a:xfrm>
            <a:off x="1143000" y="6362507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9" name="Table Cell 9029"/>
          <p:cNvSpPr/>
          <p:nvPr/>
        </p:nvSpPr>
        <p:spPr>
          <a:xfrm>
            <a:off x="3409950" y="5819085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0" name="Table Cell 9030"/>
          <p:cNvSpPr/>
          <p:nvPr/>
        </p:nvSpPr>
        <p:spPr>
          <a:xfrm>
            <a:off x="17125950" y="5819085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1" name="Table Cell 9031"/>
          <p:cNvSpPr/>
          <p:nvPr/>
        </p:nvSpPr>
        <p:spPr>
          <a:xfrm>
            <a:off x="1143000" y="6381557"/>
            <a:ext cx="228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2" name="Table Cell 9032"/>
          <p:cNvSpPr/>
          <p:nvPr/>
        </p:nvSpPr>
        <p:spPr>
          <a:xfrm>
            <a:off x="3429000" y="6381557"/>
            <a:ext cx="13716000" cy="56247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3" name="Table Cell 9033"/>
          <p:cNvSpPr/>
          <p:nvPr/>
        </p:nvSpPr>
        <p:spPr>
          <a:xfrm>
            <a:off x="1143000" y="6924979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4" name="Table Cell 9034"/>
          <p:cNvSpPr/>
          <p:nvPr/>
        </p:nvSpPr>
        <p:spPr>
          <a:xfrm>
            <a:off x="3409950" y="6381557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5" name="Table Cell 9035"/>
          <p:cNvSpPr/>
          <p:nvPr/>
        </p:nvSpPr>
        <p:spPr>
          <a:xfrm>
            <a:off x="17125950" y="6381557"/>
            <a:ext cx="19050" cy="562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6" name="Table Cell 9036"/>
          <p:cNvSpPr/>
          <p:nvPr/>
        </p:nvSpPr>
        <p:spPr>
          <a:xfrm>
            <a:off x="1143000" y="6944029"/>
            <a:ext cx="2286000" cy="193617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7" name="Table Cell 9037"/>
          <p:cNvSpPr/>
          <p:nvPr/>
        </p:nvSpPr>
        <p:spPr>
          <a:xfrm>
            <a:off x="3429000" y="6944029"/>
            <a:ext cx="13716000" cy="193617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8" name="Table Cell 9038"/>
          <p:cNvSpPr/>
          <p:nvPr/>
        </p:nvSpPr>
        <p:spPr>
          <a:xfrm>
            <a:off x="1143000" y="8861150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9" name="Table Cell 9039"/>
          <p:cNvSpPr/>
          <p:nvPr/>
        </p:nvSpPr>
        <p:spPr>
          <a:xfrm>
            <a:off x="3409950" y="6944029"/>
            <a:ext cx="19050" cy="1936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0" name="Table Cell 9040"/>
          <p:cNvSpPr/>
          <p:nvPr/>
        </p:nvSpPr>
        <p:spPr>
          <a:xfrm>
            <a:off x="17125950" y="6944029"/>
            <a:ext cx="19050" cy="19361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9"/>
          <p:cNvSpPr/>
          <p:nvPr/>
        </p:nvSpPr>
        <p:spPr>
          <a:xfrm>
            <a:off x="1333500" y="3314700"/>
            <a:ext cx="1905000" cy="36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9"/>
          <p:cNvSpPr/>
          <p:nvPr/>
        </p:nvSpPr>
        <p:spPr>
          <a:xfrm>
            <a:off x="3619500" y="3314700"/>
            <a:ext cx="13335000" cy="73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Causes the resulting RE to match 0 or more repetitions of the preceding RE, as many repetitions as are possible.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9"/>
          <p:cNvSpPr/>
          <p:nvPr/>
        </p:nvSpPr>
        <p:spPr>
          <a:xfrm>
            <a:off x="1333500" y="4217394"/>
            <a:ext cx="1905000" cy="36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9"/>
          <p:cNvSpPr/>
          <p:nvPr/>
        </p:nvSpPr>
        <p:spPr>
          <a:xfrm>
            <a:off x="3619500" y="4217394"/>
            <a:ext cx="13335000" cy="39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(Dot.) In the default mode, this matches any character except a newline.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9"/>
          <p:cNvSpPr/>
          <p:nvPr/>
        </p:nvSpPr>
        <p:spPr>
          <a:xfrm>
            <a:off x="1333500" y="4779866"/>
            <a:ext cx="1905000" cy="36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9"/>
          <p:cNvSpPr/>
          <p:nvPr/>
        </p:nvSpPr>
        <p:spPr>
          <a:xfrm>
            <a:off x="3619500" y="4779866"/>
            <a:ext cx="13335000" cy="39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(Caret.) Matches the start of the string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9"/>
          <p:cNvSpPr/>
          <p:nvPr/>
        </p:nvSpPr>
        <p:spPr>
          <a:xfrm>
            <a:off x="1333500" y="5342338"/>
            <a:ext cx="1905000" cy="36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9"/>
          <p:cNvSpPr/>
          <p:nvPr/>
        </p:nvSpPr>
        <p:spPr>
          <a:xfrm>
            <a:off x="3619500" y="5342338"/>
            <a:ext cx="13335000" cy="39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Matches the end of the string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9"/>
          <p:cNvSpPr/>
          <p:nvPr/>
        </p:nvSpPr>
        <p:spPr>
          <a:xfrm>
            <a:off x="1333500" y="5904810"/>
            <a:ext cx="1905000" cy="36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9"/>
          <p:cNvSpPr/>
          <p:nvPr/>
        </p:nvSpPr>
        <p:spPr>
          <a:xfrm>
            <a:off x="3619500" y="5904810"/>
            <a:ext cx="13335000" cy="39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Causes the resulting RE to match 1 or more repetitions of the preceding RE.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9"/>
          <p:cNvSpPr/>
          <p:nvPr/>
        </p:nvSpPr>
        <p:spPr>
          <a:xfrm>
            <a:off x="1333500" y="6467282"/>
            <a:ext cx="1905000" cy="36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9"/>
          <p:cNvSpPr/>
          <p:nvPr/>
        </p:nvSpPr>
        <p:spPr>
          <a:xfrm>
            <a:off x="3619500" y="6467282"/>
            <a:ext cx="13335000" cy="39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Causes the resulting RE to match 0 or 1 repetitions of the preceding RE.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9"/>
          <p:cNvSpPr/>
          <p:nvPr/>
        </p:nvSpPr>
        <p:spPr>
          <a:xfrm>
            <a:off x="1333500" y="7029754"/>
            <a:ext cx="1905000" cy="36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*?, +?, ??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9"/>
          <p:cNvSpPr/>
          <p:nvPr/>
        </p:nvSpPr>
        <p:spPr>
          <a:xfrm>
            <a:off x="3619500" y="7029754"/>
            <a:ext cx="13335000" cy="102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The '*', '+', and '?' qualifiers are all greedy; they match as much text as possible. Adding ? after the qualifier makes it perform the match in non-greedy or minimal fashion; as few characters as possible will be matched.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9"/>
          <p:cNvSpPr/>
          <p:nvPr/>
        </p:nvSpPr>
        <p:spPr>
          <a:xfrm>
            <a:off x="3619500" y="8101766"/>
            <a:ext cx="13335000" cy="69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If the RE &lt;.*&gt; is matched against '&lt;a&gt; b &lt;c&gt;', it will match the entire string, and not just '&lt;a&gt;'. Using the RE &lt;.*?&gt; will match only '&lt;a&gt;'.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9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9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9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5A6385"/>
                </a:solidFill>
                <a:ea typeface="Calibri"/>
              </a:rPr>
              <a:t>2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37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0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Special Characters (2/3)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0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40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1" name="Table Cell 9041"/>
          <p:cNvSpPr/>
          <p:nvPr/>
        </p:nvSpPr>
        <p:spPr>
          <a:xfrm>
            <a:off x="1143000" y="2762250"/>
            <a:ext cx="22860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2" name="Table Cell 9042"/>
          <p:cNvSpPr/>
          <p:nvPr/>
        </p:nvSpPr>
        <p:spPr>
          <a:xfrm>
            <a:off x="3409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3" name="Table Cell 9043"/>
          <p:cNvSpPr/>
          <p:nvPr/>
        </p:nvSpPr>
        <p:spPr>
          <a:xfrm>
            <a:off x="3429000" y="2762250"/>
            <a:ext cx="137160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4" name="Table Cell 9044"/>
          <p:cNvSpPr/>
          <p:nvPr/>
        </p:nvSpPr>
        <p:spPr>
          <a:xfrm>
            <a:off x="17125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5" name="Table Header 9045"/>
          <p:cNvSpPr txBox="1"/>
          <p:nvPr/>
        </p:nvSpPr>
        <p:spPr>
          <a:xfrm>
            <a:off x="1333500" y="2847975"/>
            <a:ext cx="1905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</a:p>
        </p:txBody>
      </p:sp>
      <p:sp>
        <p:nvSpPr>
          <p:cNvPr id="9046" name="Table Header 9046"/>
          <p:cNvSpPr txBox="1"/>
          <p:nvPr/>
        </p:nvSpPr>
        <p:spPr>
          <a:xfrm>
            <a:off x="3619500" y="2847975"/>
            <a:ext cx="13335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</a:p>
        </p:txBody>
      </p:sp>
      <p:sp>
        <p:nvSpPr>
          <p:cNvPr id="9047" name="Table Cell 9047"/>
          <p:cNvSpPr/>
          <p:nvPr/>
        </p:nvSpPr>
        <p:spPr>
          <a:xfrm>
            <a:off x="1143000" y="3228975"/>
            <a:ext cx="2286000" cy="95604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8" name="Table Cell 9048"/>
          <p:cNvSpPr/>
          <p:nvPr/>
        </p:nvSpPr>
        <p:spPr>
          <a:xfrm>
            <a:off x="3429000" y="3228975"/>
            <a:ext cx="13716000" cy="95604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9" name="Table Cell 9049"/>
          <p:cNvSpPr/>
          <p:nvPr/>
        </p:nvSpPr>
        <p:spPr>
          <a:xfrm>
            <a:off x="1143000" y="4165967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0" name="Table Cell 9050"/>
          <p:cNvSpPr/>
          <p:nvPr/>
        </p:nvSpPr>
        <p:spPr>
          <a:xfrm>
            <a:off x="3409950" y="3228975"/>
            <a:ext cx="19050" cy="9560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1" name="Table Cell 9051"/>
          <p:cNvSpPr/>
          <p:nvPr/>
        </p:nvSpPr>
        <p:spPr>
          <a:xfrm>
            <a:off x="17125950" y="3228975"/>
            <a:ext cx="19050" cy="9560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2" name="Table Cell 9052"/>
          <p:cNvSpPr/>
          <p:nvPr/>
        </p:nvSpPr>
        <p:spPr>
          <a:xfrm>
            <a:off x="1143000" y="4185017"/>
            <a:ext cx="2286000" cy="95604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3" name="Table Cell 9053"/>
          <p:cNvSpPr/>
          <p:nvPr/>
        </p:nvSpPr>
        <p:spPr>
          <a:xfrm>
            <a:off x="3429000" y="4185017"/>
            <a:ext cx="13716000" cy="95604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4" name="Table Cell 9054"/>
          <p:cNvSpPr/>
          <p:nvPr/>
        </p:nvSpPr>
        <p:spPr>
          <a:xfrm>
            <a:off x="1143000" y="5122009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5" name="Table Cell 9055"/>
          <p:cNvSpPr/>
          <p:nvPr/>
        </p:nvSpPr>
        <p:spPr>
          <a:xfrm>
            <a:off x="3409950" y="4185017"/>
            <a:ext cx="19050" cy="9560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6" name="Table Cell 9056"/>
          <p:cNvSpPr/>
          <p:nvPr/>
        </p:nvSpPr>
        <p:spPr>
          <a:xfrm>
            <a:off x="17125950" y="4185017"/>
            <a:ext cx="19050" cy="9560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7" name="Table Cell 9057"/>
          <p:cNvSpPr/>
          <p:nvPr/>
        </p:nvSpPr>
        <p:spPr>
          <a:xfrm>
            <a:off x="1143000" y="5141059"/>
            <a:ext cx="2286000" cy="589146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8" name="Table Cell 9058"/>
          <p:cNvSpPr/>
          <p:nvPr/>
        </p:nvSpPr>
        <p:spPr>
          <a:xfrm>
            <a:off x="3429000" y="5141059"/>
            <a:ext cx="13716000" cy="589146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9" name="Table Cell 9059"/>
          <p:cNvSpPr/>
          <p:nvPr/>
        </p:nvSpPr>
        <p:spPr>
          <a:xfrm>
            <a:off x="1143000" y="5711155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0" name="Table Cell 9060"/>
          <p:cNvSpPr/>
          <p:nvPr/>
        </p:nvSpPr>
        <p:spPr>
          <a:xfrm>
            <a:off x="3409950" y="5141059"/>
            <a:ext cx="19050" cy="5891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1" name="Table Cell 9061"/>
          <p:cNvSpPr/>
          <p:nvPr/>
        </p:nvSpPr>
        <p:spPr>
          <a:xfrm>
            <a:off x="17125950" y="5141059"/>
            <a:ext cx="19050" cy="5891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2" name="Table Cell 9062"/>
          <p:cNvSpPr/>
          <p:nvPr/>
        </p:nvSpPr>
        <p:spPr>
          <a:xfrm>
            <a:off x="1143000" y="5730205"/>
            <a:ext cx="2286000" cy="95604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3" name="Table Cell 9063"/>
          <p:cNvSpPr/>
          <p:nvPr/>
        </p:nvSpPr>
        <p:spPr>
          <a:xfrm>
            <a:off x="3429000" y="5730205"/>
            <a:ext cx="13716000" cy="95604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4" name="Table Cell 9064"/>
          <p:cNvSpPr/>
          <p:nvPr/>
        </p:nvSpPr>
        <p:spPr>
          <a:xfrm>
            <a:off x="1143000" y="6667197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5" name="Table Cell 9065"/>
          <p:cNvSpPr/>
          <p:nvPr/>
        </p:nvSpPr>
        <p:spPr>
          <a:xfrm>
            <a:off x="3409950" y="5730205"/>
            <a:ext cx="19050" cy="9560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6" name="Table Cell 9066"/>
          <p:cNvSpPr/>
          <p:nvPr/>
        </p:nvSpPr>
        <p:spPr>
          <a:xfrm>
            <a:off x="17125950" y="5730205"/>
            <a:ext cx="19050" cy="9560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7" name="Table Cell 9067"/>
          <p:cNvSpPr/>
          <p:nvPr/>
        </p:nvSpPr>
        <p:spPr>
          <a:xfrm>
            <a:off x="1143000" y="6686247"/>
            <a:ext cx="2286000" cy="95604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8" name="Table Cell 9068"/>
          <p:cNvSpPr/>
          <p:nvPr/>
        </p:nvSpPr>
        <p:spPr>
          <a:xfrm>
            <a:off x="3429000" y="6686247"/>
            <a:ext cx="13716000" cy="956042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9" name="Table Cell 9069"/>
          <p:cNvSpPr/>
          <p:nvPr/>
        </p:nvSpPr>
        <p:spPr>
          <a:xfrm>
            <a:off x="1143000" y="7623239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0" name="Table Cell 9070"/>
          <p:cNvSpPr/>
          <p:nvPr/>
        </p:nvSpPr>
        <p:spPr>
          <a:xfrm>
            <a:off x="3409950" y="6686247"/>
            <a:ext cx="19050" cy="9560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1" name="Table Cell 9071"/>
          <p:cNvSpPr/>
          <p:nvPr/>
        </p:nvSpPr>
        <p:spPr>
          <a:xfrm>
            <a:off x="17125950" y="6686247"/>
            <a:ext cx="19050" cy="9560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2" name="Table Cell 9072"/>
          <p:cNvSpPr/>
          <p:nvPr/>
        </p:nvSpPr>
        <p:spPr>
          <a:xfrm>
            <a:off x="1143000" y="7642289"/>
            <a:ext cx="2286000" cy="589146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3" name="Table Cell 9073"/>
          <p:cNvSpPr/>
          <p:nvPr/>
        </p:nvSpPr>
        <p:spPr>
          <a:xfrm>
            <a:off x="3429000" y="7642289"/>
            <a:ext cx="13716000" cy="589146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4" name="Table Cell 9074"/>
          <p:cNvSpPr/>
          <p:nvPr/>
        </p:nvSpPr>
        <p:spPr>
          <a:xfrm>
            <a:off x="1143000" y="8212385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5" name="Table Cell 9075"/>
          <p:cNvSpPr/>
          <p:nvPr/>
        </p:nvSpPr>
        <p:spPr>
          <a:xfrm>
            <a:off x="3409950" y="7642289"/>
            <a:ext cx="19050" cy="5891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6" name="Table Cell 9076"/>
          <p:cNvSpPr/>
          <p:nvPr/>
        </p:nvSpPr>
        <p:spPr>
          <a:xfrm>
            <a:off x="17125950" y="7642289"/>
            <a:ext cx="19050" cy="5891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40"/>
          <p:cNvSpPr/>
          <p:nvPr/>
        </p:nvSpPr>
        <p:spPr>
          <a:xfrm>
            <a:off x="1333500" y="3314700"/>
            <a:ext cx="1905000" cy="373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75"/>
              <a:buFont typeface="Courier New"/>
              <a:buNone/>
            </a:pPr>
            <a:r>
              <a:rPr lang="en-US" sz="2175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{m}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0"/>
          <p:cNvSpPr/>
          <p:nvPr/>
        </p:nvSpPr>
        <p:spPr>
          <a:xfrm>
            <a:off x="3619500" y="3314700"/>
            <a:ext cx="13335000" cy="7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Specifies that exactly m copies of the previous RE should be matched; fewer matches cause the entire RE not to match. For example, a{6} will match exactly six 'a' characters, but not five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0"/>
          <p:cNvSpPr/>
          <p:nvPr/>
        </p:nvSpPr>
        <p:spPr>
          <a:xfrm>
            <a:off x="1333500" y="4270742"/>
            <a:ext cx="1905000" cy="373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75"/>
              <a:buFont typeface="Courier New"/>
              <a:buNone/>
            </a:pPr>
            <a:r>
              <a:rPr lang="en-US" sz="2175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{m,n}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0"/>
          <p:cNvSpPr/>
          <p:nvPr/>
        </p:nvSpPr>
        <p:spPr>
          <a:xfrm>
            <a:off x="3619500" y="4270742"/>
            <a:ext cx="13335000" cy="7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Causes the resulting RE to match from m to n repetitions of the preceding RE, attempting to match as many repetitions as possible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0"/>
          <p:cNvSpPr/>
          <p:nvPr/>
        </p:nvSpPr>
        <p:spPr>
          <a:xfrm>
            <a:off x="1333500" y="5226784"/>
            <a:ext cx="1905000" cy="373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75"/>
              <a:buFont typeface="Courier New"/>
              <a:buNone/>
            </a:pPr>
            <a:r>
              <a:rPr lang="en-US" sz="2175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0"/>
          <p:cNvSpPr/>
          <p:nvPr/>
        </p:nvSpPr>
        <p:spPr>
          <a:xfrm>
            <a:off x="3619500" y="5226784"/>
            <a:ext cx="13335000" cy="41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Used to indicate a set of characters, for example [a-z] will match any lowercase ASCII letter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0"/>
          <p:cNvSpPr/>
          <p:nvPr/>
        </p:nvSpPr>
        <p:spPr>
          <a:xfrm>
            <a:off x="1333500" y="5815930"/>
            <a:ext cx="1905000" cy="373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75"/>
              <a:buFont typeface="Courier New"/>
              <a:buNone/>
            </a:pPr>
            <a:r>
              <a:rPr lang="en-US" sz="2175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[^ ]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0"/>
          <p:cNvSpPr/>
          <p:nvPr/>
        </p:nvSpPr>
        <p:spPr>
          <a:xfrm>
            <a:off x="3619500" y="5815930"/>
            <a:ext cx="13335000" cy="7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Matches a character that is not in the set, e.g. [^a-z] will match a character that is not a lowercase ASCII letter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0"/>
          <p:cNvSpPr/>
          <p:nvPr/>
        </p:nvSpPr>
        <p:spPr>
          <a:xfrm>
            <a:off x="1333500" y="6771972"/>
            <a:ext cx="1905000" cy="373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75"/>
              <a:buFont typeface="Courier New"/>
              <a:buNone/>
            </a:pPr>
            <a:r>
              <a:rPr lang="en-US" sz="2175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(...)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0"/>
          <p:cNvSpPr/>
          <p:nvPr/>
        </p:nvSpPr>
        <p:spPr>
          <a:xfrm>
            <a:off x="3619500" y="6771972"/>
            <a:ext cx="13335000" cy="78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Matches whatever regular expression is inside the parentheses, and indicates the start and end of a group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0"/>
          <p:cNvSpPr/>
          <p:nvPr/>
        </p:nvSpPr>
        <p:spPr>
          <a:xfrm>
            <a:off x="1333500" y="7728014"/>
            <a:ext cx="1905000" cy="373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75"/>
              <a:buFont typeface="Courier New"/>
              <a:buNone/>
            </a:pPr>
            <a:r>
              <a:rPr lang="en-US" sz="2175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(?:…)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0"/>
          <p:cNvSpPr/>
          <p:nvPr/>
        </p:nvSpPr>
        <p:spPr>
          <a:xfrm>
            <a:off x="3619500" y="7728014"/>
            <a:ext cx="13335000" cy="41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025"/>
              <a:buFont typeface="Arial"/>
              <a:buNone/>
            </a:pPr>
            <a:r>
              <a:rPr lang="en-US" sz="2025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A non-capturing version of regular parentheses. This does not create a new group.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0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0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40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371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1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Special Characters (3/3)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1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41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41"/>
          <p:cNvSpPr/>
          <p:nvPr/>
        </p:nvSpPr>
        <p:spPr>
          <a:xfrm>
            <a:off x="1143000" y="2762250"/>
            <a:ext cx="22860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41"/>
          <p:cNvSpPr/>
          <p:nvPr/>
        </p:nvSpPr>
        <p:spPr>
          <a:xfrm>
            <a:off x="3409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41"/>
          <p:cNvSpPr/>
          <p:nvPr/>
        </p:nvSpPr>
        <p:spPr>
          <a:xfrm>
            <a:off x="1333500" y="2847975"/>
            <a:ext cx="19621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 dirty="0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1"/>
          <p:cNvSpPr/>
          <p:nvPr/>
        </p:nvSpPr>
        <p:spPr>
          <a:xfrm>
            <a:off x="3429000" y="2762250"/>
            <a:ext cx="7752457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41"/>
          <p:cNvSpPr/>
          <p:nvPr/>
        </p:nvSpPr>
        <p:spPr>
          <a:xfrm>
            <a:off x="11162407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41"/>
          <p:cNvSpPr/>
          <p:nvPr/>
        </p:nvSpPr>
        <p:spPr>
          <a:xfrm>
            <a:off x="3619500" y="2847975"/>
            <a:ext cx="758498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Matches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1"/>
          <p:cNvSpPr/>
          <p:nvPr/>
        </p:nvSpPr>
        <p:spPr>
          <a:xfrm>
            <a:off x="11181457" y="2762250"/>
            <a:ext cx="5963543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41"/>
          <p:cNvSpPr/>
          <p:nvPr/>
        </p:nvSpPr>
        <p:spPr>
          <a:xfrm>
            <a:off x="17125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41"/>
          <p:cNvSpPr/>
          <p:nvPr/>
        </p:nvSpPr>
        <p:spPr>
          <a:xfrm>
            <a:off x="11371957" y="2847975"/>
            <a:ext cx="57423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1"/>
          <p:cNvSpPr/>
          <p:nvPr/>
        </p:nvSpPr>
        <p:spPr>
          <a:xfrm>
            <a:off x="1143000" y="3228975"/>
            <a:ext cx="2286000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41"/>
          <p:cNvSpPr/>
          <p:nvPr/>
        </p:nvSpPr>
        <p:spPr>
          <a:xfrm>
            <a:off x="1143000" y="3734693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41"/>
          <p:cNvSpPr/>
          <p:nvPr/>
        </p:nvSpPr>
        <p:spPr>
          <a:xfrm>
            <a:off x="3409950" y="3228975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41"/>
          <p:cNvSpPr/>
          <p:nvPr/>
        </p:nvSpPr>
        <p:spPr>
          <a:xfrm>
            <a:off x="1333500" y="3314700"/>
            <a:ext cx="196215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\w+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1"/>
          <p:cNvSpPr/>
          <p:nvPr/>
        </p:nvSpPr>
        <p:spPr>
          <a:xfrm>
            <a:off x="3429000" y="3228975"/>
            <a:ext cx="7752457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41"/>
          <p:cNvSpPr/>
          <p:nvPr/>
        </p:nvSpPr>
        <p:spPr>
          <a:xfrm>
            <a:off x="3429000" y="3734693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41"/>
          <p:cNvSpPr/>
          <p:nvPr/>
        </p:nvSpPr>
        <p:spPr>
          <a:xfrm>
            <a:off x="11162407" y="3228975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41"/>
          <p:cNvSpPr/>
          <p:nvPr/>
        </p:nvSpPr>
        <p:spPr>
          <a:xfrm>
            <a:off x="3619500" y="3314700"/>
            <a:ext cx="7584981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1"/>
          <p:cNvSpPr/>
          <p:nvPr/>
        </p:nvSpPr>
        <p:spPr>
          <a:xfrm>
            <a:off x="11181457" y="3228975"/>
            <a:ext cx="5963543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41"/>
          <p:cNvSpPr/>
          <p:nvPr/>
        </p:nvSpPr>
        <p:spPr>
          <a:xfrm>
            <a:off x="11181457" y="3734693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41"/>
          <p:cNvSpPr/>
          <p:nvPr/>
        </p:nvSpPr>
        <p:spPr>
          <a:xfrm>
            <a:off x="17125950" y="3228975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41"/>
          <p:cNvSpPr/>
          <p:nvPr/>
        </p:nvSpPr>
        <p:spPr>
          <a:xfrm>
            <a:off x="11371957" y="3314700"/>
            <a:ext cx="5742399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‘Magic’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1"/>
          <p:cNvSpPr/>
          <p:nvPr/>
        </p:nvSpPr>
        <p:spPr>
          <a:xfrm>
            <a:off x="1143000" y="3753743"/>
            <a:ext cx="2286000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41"/>
          <p:cNvSpPr/>
          <p:nvPr/>
        </p:nvSpPr>
        <p:spPr>
          <a:xfrm>
            <a:off x="1143000" y="4259461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41"/>
          <p:cNvSpPr/>
          <p:nvPr/>
        </p:nvSpPr>
        <p:spPr>
          <a:xfrm>
            <a:off x="3409950" y="3753743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41"/>
          <p:cNvSpPr/>
          <p:nvPr/>
        </p:nvSpPr>
        <p:spPr>
          <a:xfrm>
            <a:off x="1333500" y="3839468"/>
            <a:ext cx="196215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\d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1"/>
          <p:cNvSpPr/>
          <p:nvPr/>
        </p:nvSpPr>
        <p:spPr>
          <a:xfrm>
            <a:off x="3429000" y="3753743"/>
            <a:ext cx="7752457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41"/>
          <p:cNvSpPr/>
          <p:nvPr/>
        </p:nvSpPr>
        <p:spPr>
          <a:xfrm>
            <a:off x="3429000" y="4259461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1"/>
          <p:cNvSpPr/>
          <p:nvPr/>
        </p:nvSpPr>
        <p:spPr>
          <a:xfrm>
            <a:off x="11162407" y="3753743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41"/>
          <p:cNvSpPr/>
          <p:nvPr/>
        </p:nvSpPr>
        <p:spPr>
          <a:xfrm>
            <a:off x="3619500" y="3839468"/>
            <a:ext cx="7584981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digit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1"/>
          <p:cNvSpPr/>
          <p:nvPr/>
        </p:nvSpPr>
        <p:spPr>
          <a:xfrm>
            <a:off x="11181457" y="3753743"/>
            <a:ext cx="5963543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41"/>
          <p:cNvSpPr/>
          <p:nvPr/>
        </p:nvSpPr>
        <p:spPr>
          <a:xfrm>
            <a:off x="11181457" y="4259461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41"/>
          <p:cNvSpPr/>
          <p:nvPr/>
        </p:nvSpPr>
        <p:spPr>
          <a:xfrm>
            <a:off x="17125950" y="3753743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41"/>
          <p:cNvSpPr/>
          <p:nvPr/>
        </p:nvSpPr>
        <p:spPr>
          <a:xfrm>
            <a:off x="11371957" y="3839468"/>
            <a:ext cx="5742399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1"/>
          <p:cNvSpPr/>
          <p:nvPr/>
        </p:nvSpPr>
        <p:spPr>
          <a:xfrm>
            <a:off x="1143000" y="4278511"/>
            <a:ext cx="2286000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41"/>
          <p:cNvSpPr/>
          <p:nvPr/>
        </p:nvSpPr>
        <p:spPr>
          <a:xfrm>
            <a:off x="1143000" y="4784229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41"/>
          <p:cNvSpPr/>
          <p:nvPr/>
        </p:nvSpPr>
        <p:spPr>
          <a:xfrm>
            <a:off x="3409950" y="4278511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41"/>
          <p:cNvSpPr/>
          <p:nvPr/>
        </p:nvSpPr>
        <p:spPr>
          <a:xfrm>
            <a:off x="1333500" y="4364236"/>
            <a:ext cx="196215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\s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1"/>
          <p:cNvSpPr/>
          <p:nvPr/>
        </p:nvSpPr>
        <p:spPr>
          <a:xfrm>
            <a:off x="3429000" y="4278511"/>
            <a:ext cx="7752457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41"/>
          <p:cNvSpPr/>
          <p:nvPr/>
        </p:nvSpPr>
        <p:spPr>
          <a:xfrm>
            <a:off x="3429000" y="4784229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41"/>
          <p:cNvSpPr/>
          <p:nvPr/>
        </p:nvSpPr>
        <p:spPr>
          <a:xfrm>
            <a:off x="11162407" y="4278511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41"/>
          <p:cNvSpPr/>
          <p:nvPr/>
        </p:nvSpPr>
        <p:spPr>
          <a:xfrm>
            <a:off x="3619500" y="4364236"/>
            <a:ext cx="7584981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1"/>
          <p:cNvSpPr/>
          <p:nvPr/>
        </p:nvSpPr>
        <p:spPr>
          <a:xfrm>
            <a:off x="11181457" y="4278511"/>
            <a:ext cx="5963543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41"/>
          <p:cNvSpPr/>
          <p:nvPr/>
        </p:nvSpPr>
        <p:spPr>
          <a:xfrm>
            <a:off x="11181457" y="4784229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41"/>
          <p:cNvSpPr/>
          <p:nvPr/>
        </p:nvSpPr>
        <p:spPr>
          <a:xfrm>
            <a:off x="17125950" y="4278511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41"/>
          <p:cNvSpPr/>
          <p:nvPr/>
        </p:nvSpPr>
        <p:spPr>
          <a:xfrm>
            <a:off x="11371957" y="4364236"/>
            <a:ext cx="5742399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` `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1"/>
          <p:cNvSpPr/>
          <p:nvPr/>
        </p:nvSpPr>
        <p:spPr>
          <a:xfrm>
            <a:off x="1143000" y="4803279"/>
            <a:ext cx="2286000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41"/>
          <p:cNvSpPr/>
          <p:nvPr/>
        </p:nvSpPr>
        <p:spPr>
          <a:xfrm>
            <a:off x="1143000" y="5308997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41"/>
          <p:cNvSpPr/>
          <p:nvPr/>
        </p:nvSpPr>
        <p:spPr>
          <a:xfrm>
            <a:off x="3409950" y="4803279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41"/>
          <p:cNvSpPr/>
          <p:nvPr/>
        </p:nvSpPr>
        <p:spPr>
          <a:xfrm>
            <a:off x="1333500" y="4889004"/>
            <a:ext cx="196215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.*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1"/>
          <p:cNvSpPr/>
          <p:nvPr/>
        </p:nvSpPr>
        <p:spPr>
          <a:xfrm>
            <a:off x="3429000" y="4803279"/>
            <a:ext cx="7752457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41"/>
          <p:cNvSpPr/>
          <p:nvPr/>
        </p:nvSpPr>
        <p:spPr>
          <a:xfrm>
            <a:off x="3429000" y="5308997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41"/>
          <p:cNvSpPr/>
          <p:nvPr/>
        </p:nvSpPr>
        <p:spPr>
          <a:xfrm>
            <a:off x="11162407" y="4803279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41"/>
          <p:cNvSpPr/>
          <p:nvPr/>
        </p:nvSpPr>
        <p:spPr>
          <a:xfrm>
            <a:off x="3619500" y="4889004"/>
            <a:ext cx="7584981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wildcard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1"/>
          <p:cNvSpPr/>
          <p:nvPr/>
        </p:nvSpPr>
        <p:spPr>
          <a:xfrm>
            <a:off x="11181457" y="4803279"/>
            <a:ext cx="5963543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41"/>
          <p:cNvSpPr/>
          <p:nvPr/>
        </p:nvSpPr>
        <p:spPr>
          <a:xfrm>
            <a:off x="11181457" y="5308997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41"/>
          <p:cNvSpPr/>
          <p:nvPr/>
        </p:nvSpPr>
        <p:spPr>
          <a:xfrm>
            <a:off x="17125950" y="4803279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41"/>
          <p:cNvSpPr/>
          <p:nvPr/>
        </p:nvSpPr>
        <p:spPr>
          <a:xfrm>
            <a:off x="11371957" y="4889004"/>
            <a:ext cx="5742399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‘username74’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1"/>
          <p:cNvSpPr/>
          <p:nvPr/>
        </p:nvSpPr>
        <p:spPr>
          <a:xfrm>
            <a:off x="1143000" y="5328047"/>
            <a:ext cx="2286000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41"/>
          <p:cNvSpPr/>
          <p:nvPr/>
        </p:nvSpPr>
        <p:spPr>
          <a:xfrm>
            <a:off x="1143000" y="5833765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41"/>
          <p:cNvSpPr/>
          <p:nvPr/>
        </p:nvSpPr>
        <p:spPr>
          <a:xfrm>
            <a:off x="3409950" y="5328047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41"/>
          <p:cNvSpPr/>
          <p:nvPr/>
        </p:nvSpPr>
        <p:spPr>
          <a:xfrm>
            <a:off x="1333500" y="5413772"/>
            <a:ext cx="196215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+ or *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41"/>
          <p:cNvSpPr/>
          <p:nvPr/>
        </p:nvSpPr>
        <p:spPr>
          <a:xfrm>
            <a:off x="3429000" y="5328047"/>
            <a:ext cx="7752457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41"/>
          <p:cNvSpPr/>
          <p:nvPr/>
        </p:nvSpPr>
        <p:spPr>
          <a:xfrm>
            <a:off x="3429000" y="5833765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41"/>
          <p:cNvSpPr/>
          <p:nvPr/>
        </p:nvSpPr>
        <p:spPr>
          <a:xfrm>
            <a:off x="11162407" y="5328047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41"/>
          <p:cNvSpPr/>
          <p:nvPr/>
        </p:nvSpPr>
        <p:spPr>
          <a:xfrm>
            <a:off x="3619500" y="5413772"/>
            <a:ext cx="7584981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greedy match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41"/>
          <p:cNvSpPr/>
          <p:nvPr/>
        </p:nvSpPr>
        <p:spPr>
          <a:xfrm>
            <a:off x="11181457" y="5328047"/>
            <a:ext cx="5963543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41"/>
          <p:cNvSpPr/>
          <p:nvPr/>
        </p:nvSpPr>
        <p:spPr>
          <a:xfrm>
            <a:off x="11181457" y="5833765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41"/>
          <p:cNvSpPr/>
          <p:nvPr/>
        </p:nvSpPr>
        <p:spPr>
          <a:xfrm>
            <a:off x="17125950" y="5328047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41"/>
          <p:cNvSpPr/>
          <p:nvPr/>
        </p:nvSpPr>
        <p:spPr>
          <a:xfrm>
            <a:off x="11371957" y="5413772"/>
            <a:ext cx="5742399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'aaaaaa’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1"/>
          <p:cNvSpPr/>
          <p:nvPr/>
        </p:nvSpPr>
        <p:spPr>
          <a:xfrm>
            <a:off x="1143000" y="5852815"/>
            <a:ext cx="2286000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41"/>
          <p:cNvSpPr/>
          <p:nvPr/>
        </p:nvSpPr>
        <p:spPr>
          <a:xfrm>
            <a:off x="1143000" y="6358533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41"/>
          <p:cNvSpPr/>
          <p:nvPr/>
        </p:nvSpPr>
        <p:spPr>
          <a:xfrm>
            <a:off x="3409950" y="5852815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41"/>
          <p:cNvSpPr/>
          <p:nvPr/>
        </p:nvSpPr>
        <p:spPr>
          <a:xfrm>
            <a:off x="1333500" y="5938540"/>
            <a:ext cx="196215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\S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1"/>
          <p:cNvSpPr/>
          <p:nvPr/>
        </p:nvSpPr>
        <p:spPr>
          <a:xfrm>
            <a:off x="3429000" y="5852815"/>
            <a:ext cx="7752457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41"/>
          <p:cNvSpPr/>
          <p:nvPr/>
        </p:nvSpPr>
        <p:spPr>
          <a:xfrm>
            <a:off x="3429000" y="6358533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41"/>
          <p:cNvSpPr/>
          <p:nvPr/>
        </p:nvSpPr>
        <p:spPr>
          <a:xfrm>
            <a:off x="11162407" y="5852815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41"/>
          <p:cNvSpPr/>
          <p:nvPr/>
        </p:nvSpPr>
        <p:spPr>
          <a:xfrm>
            <a:off x="3619500" y="5938540"/>
            <a:ext cx="7584981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not space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1"/>
          <p:cNvSpPr/>
          <p:nvPr/>
        </p:nvSpPr>
        <p:spPr>
          <a:xfrm>
            <a:off x="11181457" y="5852815"/>
            <a:ext cx="5963543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41"/>
          <p:cNvSpPr/>
          <p:nvPr/>
        </p:nvSpPr>
        <p:spPr>
          <a:xfrm>
            <a:off x="11181457" y="6358533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41"/>
          <p:cNvSpPr/>
          <p:nvPr/>
        </p:nvSpPr>
        <p:spPr>
          <a:xfrm>
            <a:off x="17125950" y="5852815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41"/>
          <p:cNvSpPr/>
          <p:nvPr/>
        </p:nvSpPr>
        <p:spPr>
          <a:xfrm>
            <a:off x="11371957" y="5938540"/>
            <a:ext cx="5742399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'no_spaces’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1"/>
          <p:cNvSpPr/>
          <p:nvPr/>
        </p:nvSpPr>
        <p:spPr>
          <a:xfrm>
            <a:off x="1143000" y="6377583"/>
            <a:ext cx="2286000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41"/>
          <p:cNvSpPr/>
          <p:nvPr/>
        </p:nvSpPr>
        <p:spPr>
          <a:xfrm>
            <a:off x="1143000" y="6883301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41"/>
          <p:cNvSpPr/>
          <p:nvPr/>
        </p:nvSpPr>
        <p:spPr>
          <a:xfrm>
            <a:off x="3409950" y="6377583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1"/>
          <p:cNvSpPr/>
          <p:nvPr/>
        </p:nvSpPr>
        <p:spPr>
          <a:xfrm>
            <a:off x="1333500" y="6463308"/>
            <a:ext cx="196215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[a-z]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1"/>
          <p:cNvSpPr/>
          <p:nvPr/>
        </p:nvSpPr>
        <p:spPr>
          <a:xfrm>
            <a:off x="3429000" y="6377583"/>
            <a:ext cx="7752457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41"/>
          <p:cNvSpPr/>
          <p:nvPr/>
        </p:nvSpPr>
        <p:spPr>
          <a:xfrm>
            <a:off x="3429000" y="6883301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41"/>
          <p:cNvSpPr/>
          <p:nvPr/>
        </p:nvSpPr>
        <p:spPr>
          <a:xfrm>
            <a:off x="11162407" y="6377583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41"/>
          <p:cNvSpPr/>
          <p:nvPr/>
        </p:nvSpPr>
        <p:spPr>
          <a:xfrm>
            <a:off x="3619500" y="6463308"/>
            <a:ext cx="7584981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lowercase group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41"/>
          <p:cNvSpPr/>
          <p:nvPr/>
        </p:nvSpPr>
        <p:spPr>
          <a:xfrm>
            <a:off x="11181457" y="6377583"/>
            <a:ext cx="5963543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41"/>
          <p:cNvSpPr/>
          <p:nvPr/>
        </p:nvSpPr>
        <p:spPr>
          <a:xfrm>
            <a:off x="11181457" y="6883301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41"/>
          <p:cNvSpPr/>
          <p:nvPr/>
        </p:nvSpPr>
        <p:spPr>
          <a:xfrm>
            <a:off x="17125950" y="6377583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41"/>
          <p:cNvSpPr/>
          <p:nvPr/>
        </p:nvSpPr>
        <p:spPr>
          <a:xfrm>
            <a:off x="11371957" y="6463308"/>
            <a:ext cx="5742399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'abcdefg'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1"/>
          <p:cNvSpPr/>
          <p:nvPr/>
        </p:nvSpPr>
        <p:spPr>
          <a:xfrm>
            <a:off x="1143000" y="6902351"/>
            <a:ext cx="2286000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41"/>
          <p:cNvSpPr/>
          <p:nvPr/>
        </p:nvSpPr>
        <p:spPr>
          <a:xfrm>
            <a:off x="1143000" y="7408069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41"/>
          <p:cNvSpPr/>
          <p:nvPr/>
        </p:nvSpPr>
        <p:spPr>
          <a:xfrm>
            <a:off x="3409950" y="6902351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41"/>
          <p:cNvSpPr/>
          <p:nvPr/>
        </p:nvSpPr>
        <p:spPr>
          <a:xfrm>
            <a:off x="1333500" y="6988076"/>
            <a:ext cx="196215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\w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1"/>
          <p:cNvSpPr/>
          <p:nvPr/>
        </p:nvSpPr>
        <p:spPr>
          <a:xfrm>
            <a:off x="3429000" y="6902351"/>
            <a:ext cx="7752457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41"/>
          <p:cNvSpPr/>
          <p:nvPr/>
        </p:nvSpPr>
        <p:spPr>
          <a:xfrm>
            <a:off x="3429000" y="7408069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41"/>
          <p:cNvSpPr/>
          <p:nvPr/>
        </p:nvSpPr>
        <p:spPr>
          <a:xfrm>
            <a:off x="11162407" y="6902351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41"/>
          <p:cNvSpPr/>
          <p:nvPr/>
        </p:nvSpPr>
        <p:spPr>
          <a:xfrm>
            <a:off x="3619500" y="6988076"/>
            <a:ext cx="7584981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Alphanumeric character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1"/>
          <p:cNvSpPr/>
          <p:nvPr/>
        </p:nvSpPr>
        <p:spPr>
          <a:xfrm>
            <a:off x="11181457" y="6902351"/>
            <a:ext cx="5963543" cy="52476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41"/>
          <p:cNvSpPr/>
          <p:nvPr/>
        </p:nvSpPr>
        <p:spPr>
          <a:xfrm>
            <a:off x="11181457" y="7408069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41"/>
          <p:cNvSpPr/>
          <p:nvPr/>
        </p:nvSpPr>
        <p:spPr>
          <a:xfrm>
            <a:off x="17125950" y="6902351"/>
            <a:ext cx="19050" cy="524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41"/>
          <p:cNvSpPr/>
          <p:nvPr/>
        </p:nvSpPr>
        <p:spPr>
          <a:xfrm>
            <a:off x="11371957" y="6988076"/>
            <a:ext cx="5742399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Equivalent to [a-zA-Z0-9_]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1"/>
          <p:cNvSpPr/>
          <p:nvPr/>
        </p:nvSpPr>
        <p:spPr>
          <a:xfrm>
            <a:off x="1143000" y="7427119"/>
            <a:ext cx="2286000" cy="859036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41"/>
          <p:cNvSpPr/>
          <p:nvPr/>
        </p:nvSpPr>
        <p:spPr>
          <a:xfrm>
            <a:off x="1143000" y="8267105"/>
            <a:ext cx="2286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41"/>
          <p:cNvSpPr/>
          <p:nvPr/>
        </p:nvSpPr>
        <p:spPr>
          <a:xfrm>
            <a:off x="3409950" y="7427119"/>
            <a:ext cx="19050" cy="859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41"/>
          <p:cNvSpPr/>
          <p:nvPr/>
        </p:nvSpPr>
        <p:spPr>
          <a:xfrm>
            <a:off x="1333500" y="7512844"/>
            <a:ext cx="1962150" cy="70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\b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41"/>
          <p:cNvSpPr/>
          <p:nvPr/>
        </p:nvSpPr>
        <p:spPr>
          <a:xfrm>
            <a:off x="3429000" y="7427119"/>
            <a:ext cx="7752457" cy="859036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41"/>
          <p:cNvSpPr/>
          <p:nvPr/>
        </p:nvSpPr>
        <p:spPr>
          <a:xfrm>
            <a:off x="3429000" y="8267105"/>
            <a:ext cx="7752457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1"/>
          <p:cNvSpPr/>
          <p:nvPr/>
        </p:nvSpPr>
        <p:spPr>
          <a:xfrm>
            <a:off x="11162407" y="7427119"/>
            <a:ext cx="19050" cy="859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41"/>
          <p:cNvSpPr/>
          <p:nvPr/>
        </p:nvSpPr>
        <p:spPr>
          <a:xfrm>
            <a:off x="3619500" y="7512844"/>
            <a:ext cx="7584981" cy="70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Matches the empty string, but only at the beginning or end of a word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1"/>
          <p:cNvSpPr/>
          <p:nvPr/>
        </p:nvSpPr>
        <p:spPr>
          <a:xfrm>
            <a:off x="11181457" y="7427119"/>
            <a:ext cx="5963543" cy="859036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41"/>
          <p:cNvSpPr/>
          <p:nvPr/>
        </p:nvSpPr>
        <p:spPr>
          <a:xfrm>
            <a:off x="11181457" y="8267105"/>
            <a:ext cx="5963543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41"/>
          <p:cNvSpPr/>
          <p:nvPr/>
        </p:nvSpPr>
        <p:spPr>
          <a:xfrm>
            <a:off x="17125950" y="7427119"/>
            <a:ext cx="19050" cy="859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41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41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1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dirty="0" smtClean="0">
                <a:solidFill>
                  <a:srgbClr val="5A6385"/>
                </a:solidFill>
                <a:ea typeface="Calibri"/>
              </a:rPr>
              <a:t>4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445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42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Meta-characters: Repetitions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2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42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7" name="Table Cell 9077"/>
          <p:cNvSpPr/>
          <p:nvPr/>
        </p:nvSpPr>
        <p:spPr>
          <a:xfrm>
            <a:off x="1143000" y="2762250"/>
            <a:ext cx="22860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8" name="Table Cell 9078"/>
          <p:cNvSpPr/>
          <p:nvPr/>
        </p:nvSpPr>
        <p:spPr>
          <a:xfrm>
            <a:off x="3409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9" name="Table Cell 9079"/>
          <p:cNvSpPr/>
          <p:nvPr/>
        </p:nvSpPr>
        <p:spPr>
          <a:xfrm>
            <a:off x="3429000" y="2762250"/>
            <a:ext cx="137160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0" name="Table Cell 9080"/>
          <p:cNvSpPr/>
          <p:nvPr/>
        </p:nvSpPr>
        <p:spPr>
          <a:xfrm>
            <a:off x="17125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1" name="Table Header 9081"/>
          <p:cNvSpPr txBox="1"/>
          <p:nvPr/>
        </p:nvSpPr>
        <p:spPr>
          <a:xfrm>
            <a:off x="1333500" y="2847975"/>
            <a:ext cx="1905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</a:p>
        </p:txBody>
      </p:sp>
      <p:sp>
        <p:nvSpPr>
          <p:cNvPr id="9082" name="Table Header 9082"/>
          <p:cNvSpPr txBox="1"/>
          <p:nvPr/>
        </p:nvSpPr>
        <p:spPr>
          <a:xfrm>
            <a:off x="3619500" y="2847975"/>
            <a:ext cx="13335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</a:p>
        </p:txBody>
      </p:sp>
      <p:sp>
        <p:nvSpPr>
          <p:cNvPr id="9083" name="Table Cell 9083"/>
          <p:cNvSpPr/>
          <p:nvPr/>
        </p:nvSpPr>
        <p:spPr>
          <a:xfrm>
            <a:off x="1143000" y="3228975"/>
            <a:ext cx="228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4" name="Table Cell 9084"/>
          <p:cNvSpPr/>
          <p:nvPr/>
        </p:nvSpPr>
        <p:spPr>
          <a:xfrm>
            <a:off x="3429000" y="3228975"/>
            <a:ext cx="1371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5" name="Table Cell 9085"/>
          <p:cNvSpPr/>
          <p:nvPr/>
        </p:nvSpPr>
        <p:spPr>
          <a:xfrm>
            <a:off x="1143000" y="3845166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6" name="Table Cell 9086"/>
          <p:cNvSpPr/>
          <p:nvPr/>
        </p:nvSpPr>
        <p:spPr>
          <a:xfrm>
            <a:off x="3409950" y="3228975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7" name="Table Cell 9087"/>
          <p:cNvSpPr/>
          <p:nvPr/>
        </p:nvSpPr>
        <p:spPr>
          <a:xfrm>
            <a:off x="17125950" y="3228975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8" name="Table Cell 9088"/>
          <p:cNvSpPr/>
          <p:nvPr/>
        </p:nvSpPr>
        <p:spPr>
          <a:xfrm>
            <a:off x="1143000" y="3864216"/>
            <a:ext cx="228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9" name="Table Cell 9089"/>
          <p:cNvSpPr/>
          <p:nvPr/>
        </p:nvSpPr>
        <p:spPr>
          <a:xfrm>
            <a:off x="3429000" y="3864216"/>
            <a:ext cx="1371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0" name="Table Cell 9090"/>
          <p:cNvSpPr/>
          <p:nvPr/>
        </p:nvSpPr>
        <p:spPr>
          <a:xfrm>
            <a:off x="1143000" y="4480407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1" name="Table Cell 9091"/>
          <p:cNvSpPr/>
          <p:nvPr/>
        </p:nvSpPr>
        <p:spPr>
          <a:xfrm>
            <a:off x="3409950" y="3864216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2" name="Table Cell 9092"/>
          <p:cNvSpPr/>
          <p:nvPr/>
        </p:nvSpPr>
        <p:spPr>
          <a:xfrm>
            <a:off x="17125950" y="3864216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3" name="Table Cell 9093"/>
          <p:cNvSpPr/>
          <p:nvPr/>
        </p:nvSpPr>
        <p:spPr>
          <a:xfrm>
            <a:off x="1143000" y="4499457"/>
            <a:ext cx="228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4" name="Table Cell 9094"/>
          <p:cNvSpPr/>
          <p:nvPr/>
        </p:nvSpPr>
        <p:spPr>
          <a:xfrm>
            <a:off x="3429000" y="4499457"/>
            <a:ext cx="1371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5" name="Table Cell 9095"/>
          <p:cNvSpPr/>
          <p:nvPr/>
        </p:nvSpPr>
        <p:spPr>
          <a:xfrm>
            <a:off x="1143000" y="5115648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6" name="Table Cell 9096"/>
          <p:cNvSpPr/>
          <p:nvPr/>
        </p:nvSpPr>
        <p:spPr>
          <a:xfrm>
            <a:off x="3409950" y="4499457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7" name="Table Cell 9097"/>
          <p:cNvSpPr/>
          <p:nvPr/>
        </p:nvSpPr>
        <p:spPr>
          <a:xfrm>
            <a:off x="17125950" y="4499457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8" name="Table Cell 9098"/>
          <p:cNvSpPr/>
          <p:nvPr/>
        </p:nvSpPr>
        <p:spPr>
          <a:xfrm>
            <a:off x="1143000" y="5134698"/>
            <a:ext cx="228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9" name="Table Cell 9099"/>
          <p:cNvSpPr/>
          <p:nvPr/>
        </p:nvSpPr>
        <p:spPr>
          <a:xfrm>
            <a:off x="3429000" y="5134698"/>
            <a:ext cx="1371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0" name="Table Cell 9100"/>
          <p:cNvSpPr/>
          <p:nvPr/>
        </p:nvSpPr>
        <p:spPr>
          <a:xfrm>
            <a:off x="1143000" y="5750889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1" name="Table Cell 9101"/>
          <p:cNvSpPr/>
          <p:nvPr/>
        </p:nvSpPr>
        <p:spPr>
          <a:xfrm>
            <a:off x="3409950" y="5134698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2" name="Table Cell 9102"/>
          <p:cNvSpPr/>
          <p:nvPr/>
        </p:nvSpPr>
        <p:spPr>
          <a:xfrm>
            <a:off x="17125950" y="5134698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3" name="Table Cell 9103"/>
          <p:cNvSpPr/>
          <p:nvPr/>
        </p:nvSpPr>
        <p:spPr>
          <a:xfrm>
            <a:off x="1143000" y="5769939"/>
            <a:ext cx="228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4" name="Table Cell 9104"/>
          <p:cNvSpPr/>
          <p:nvPr/>
        </p:nvSpPr>
        <p:spPr>
          <a:xfrm>
            <a:off x="3429000" y="5769939"/>
            <a:ext cx="1371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5" name="Table Cell 9105"/>
          <p:cNvSpPr/>
          <p:nvPr/>
        </p:nvSpPr>
        <p:spPr>
          <a:xfrm>
            <a:off x="1143000" y="6386130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6" name="Table Cell 9106"/>
          <p:cNvSpPr/>
          <p:nvPr/>
        </p:nvSpPr>
        <p:spPr>
          <a:xfrm>
            <a:off x="3409950" y="5769939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7" name="Table Cell 9107"/>
          <p:cNvSpPr/>
          <p:nvPr/>
        </p:nvSpPr>
        <p:spPr>
          <a:xfrm>
            <a:off x="17125950" y="5769939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8" name="Table Cell 9108"/>
          <p:cNvSpPr/>
          <p:nvPr/>
        </p:nvSpPr>
        <p:spPr>
          <a:xfrm>
            <a:off x="1143000" y="6405180"/>
            <a:ext cx="228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9" name="Table Cell 9109"/>
          <p:cNvSpPr/>
          <p:nvPr/>
        </p:nvSpPr>
        <p:spPr>
          <a:xfrm>
            <a:off x="3429000" y="6405180"/>
            <a:ext cx="1371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0" name="Table Cell 9110"/>
          <p:cNvSpPr/>
          <p:nvPr/>
        </p:nvSpPr>
        <p:spPr>
          <a:xfrm>
            <a:off x="1143000" y="7021371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1" name="Table Cell 9111"/>
          <p:cNvSpPr/>
          <p:nvPr/>
        </p:nvSpPr>
        <p:spPr>
          <a:xfrm>
            <a:off x="3409950" y="6405180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2" name="Table Cell 9112"/>
          <p:cNvSpPr/>
          <p:nvPr/>
        </p:nvSpPr>
        <p:spPr>
          <a:xfrm>
            <a:off x="17125950" y="6405180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3" name="Table Cell 9113"/>
          <p:cNvSpPr/>
          <p:nvPr/>
        </p:nvSpPr>
        <p:spPr>
          <a:xfrm>
            <a:off x="1143000" y="7040421"/>
            <a:ext cx="228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4" name="Table Cell 9114"/>
          <p:cNvSpPr/>
          <p:nvPr/>
        </p:nvSpPr>
        <p:spPr>
          <a:xfrm>
            <a:off x="3429000" y="7040421"/>
            <a:ext cx="13716000" cy="63524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5" name="Table Cell 9115"/>
          <p:cNvSpPr/>
          <p:nvPr/>
        </p:nvSpPr>
        <p:spPr>
          <a:xfrm>
            <a:off x="1143000" y="7656612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6" name="Table Cell 9116"/>
          <p:cNvSpPr/>
          <p:nvPr/>
        </p:nvSpPr>
        <p:spPr>
          <a:xfrm>
            <a:off x="3409950" y="7040421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7" name="Table Cell 9117"/>
          <p:cNvSpPr/>
          <p:nvPr/>
        </p:nvSpPr>
        <p:spPr>
          <a:xfrm>
            <a:off x="17125950" y="7040421"/>
            <a:ext cx="19050" cy="63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42"/>
          <p:cNvSpPr/>
          <p:nvPr/>
        </p:nvSpPr>
        <p:spPr>
          <a:xfrm>
            <a:off x="1333500" y="3314700"/>
            <a:ext cx="19050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42"/>
          <p:cNvSpPr/>
          <p:nvPr/>
        </p:nvSpPr>
        <p:spPr>
          <a:xfrm>
            <a:off x="3619500" y="3314700"/>
            <a:ext cx="13335000" cy="46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matches zero or more occurances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2"/>
          <p:cNvSpPr/>
          <p:nvPr/>
        </p:nvSpPr>
        <p:spPr>
          <a:xfrm>
            <a:off x="1333500" y="3949941"/>
            <a:ext cx="19050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42"/>
          <p:cNvSpPr/>
          <p:nvPr/>
        </p:nvSpPr>
        <p:spPr>
          <a:xfrm>
            <a:off x="3619500" y="3949941"/>
            <a:ext cx="13335000" cy="46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matches one or more occurances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2"/>
          <p:cNvSpPr/>
          <p:nvPr/>
        </p:nvSpPr>
        <p:spPr>
          <a:xfrm>
            <a:off x="1333500" y="4585182"/>
            <a:ext cx="19050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2"/>
          <p:cNvSpPr/>
          <p:nvPr/>
        </p:nvSpPr>
        <p:spPr>
          <a:xfrm>
            <a:off x="3619500" y="4585182"/>
            <a:ext cx="13335000" cy="46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matches zero or one occurances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2"/>
          <p:cNvSpPr/>
          <p:nvPr/>
        </p:nvSpPr>
        <p:spPr>
          <a:xfrm>
            <a:off x="1333500" y="5220423"/>
            <a:ext cx="19050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{n}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2"/>
          <p:cNvSpPr/>
          <p:nvPr/>
        </p:nvSpPr>
        <p:spPr>
          <a:xfrm>
            <a:off x="3619500" y="5220423"/>
            <a:ext cx="13335000" cy="46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exactly n repetitions, n&gt;=0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2"/>
          <p:cNvSpPr/>
          <p:nvPr/>
        </p:nvSpPr>
        <p:spPr>
          <a:xfrm>
            <a:off x="1333500" y="5855664"/>
            <a:ext cx="19050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{n, }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42"/>
          <p:cNvSpPr/>
          <p:nvPr/>
        </p:nvSpPr>
        <p:spPr>
          <a:xfrm>
            <a:off x="3619500" y="5855664"/>
            <a:ext cx="13335000" cy="46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at least n repetitions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42"/>
          <p:cNvSpPr/>
          <p:nvPr/>
        </p:nvSpPr>
        <p:spPr>
          <a:xfrm>
            <a:off x="1333500" y="6490905"/>
            <a:ext cx="19050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{ ,n}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2"/>
          <p:cNvSpPr/>
          <p:nvPr/>
        </p:nvSpPr>
        <p:spPr>
          <a:xfrm>
            <a:off x="3619500" y="6490905"/>
            <a:ext cx="13335000" cy="46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at most n repetitions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42"/>
          <p:cNvSpPr/>
          <p:nvPr/>
        </p:nvSpPr>
        <p:spPr>
          <a:xfrm>
            <a:off x="1333500" y="7126146"/>
            <a:ext cx="19050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{m,n}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2"/>
          <p:cNvSpPr/>
          <p:nvPr/>
        </p:nvSpPr>
        <p:spPr>
          <a:xfrm>
            <a:off x="3619500" y="7126146"/>
            <a:ext cx="13335000" cy="46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at least m and at most n repetitions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42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dirty="0" smtClean="0">
                <a:solidFill>
                  <a:srgbClr val="5A6385"/>
                </a:solidFill>
                <a:ea typeface="Calibri"/>
              </a:rPr>
              <a:t>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866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3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 library in Python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43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43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8" name="Table Cell 9118"/>
          <p:cNvSpPr/>
          <p:nvPr/>
        </p:nvSpPr>
        <p:spPr>
          <a:xfrm>
            <a:off x="1143000" y="2762250"/>
            <a:ext cx="70866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9" name="Table Cell 9119"/>
          <p:cNvSpPr/>
          <p:nvPr/>
        </p:nvSpPr>
        <p:spPr>
          <a:xfrm>
            <a:off x="82105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0" name="Table Cell 9120"/>
          <p:cNvSpPr/>
          <p:nvPr/>
        </p:nvSpPr>
        <p:spPr>
          <a:xfrm>
            <a:off x="8229600" y="2762250"/>
            <a:ext cx="8915400" cy="46672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1" name="Table Cell 9121"/>
          <p:cNvSpPr/>
          <p:nvPr/>
        </p:nvSpPr>
        <p:spPr>
          <a:xfrm>
            <a:off x="17125950" y="2762250"/>
            <a:ext cx="190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2" name="Table Header 9122"/>
          <p:cNvSpPr txBox="1"/>
          <p:nvPr/>
        </p:nvSpPr>
        <p:spPr>
          <a:xfrm>
            <a:off x="1333500" y="2847975"/>
            <a:ext cx="67056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</a:p>
        </p:txBody>
      </p:sp>
      <p:sp>
        <p:nvSpPr>
          <p:cNvPr id="9123" name="Table Header 9123"/>
          <p:cNvSpPr txBox="1"/>
          <p:nvPr/>
        </p:nvSpPr>
        <p:spPr>
          <a:xfrm>
            <a:off x="8420100" y="2847975"/>
            <a:ext cx="85344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</a:p>
        </p:txBody>
      </p:sp>
      <p:sp>
        <p:nvSpPr>
          <p:cNvPr id="9124" name="Table Cell 9124"/>
          <p:cNvSpPr/>
          <p:nvPr/>
        </p:nvSpPr>
        <p:spPr>
          <a:xfrm>
            <a:off x="1143000" y="3228975"/>
            <a:ext cx="7086600" cy="1461224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5" name="Table Cell 9125"/>
          <p:cNvSpPr/>
          <p:nvPr/>
        </p:nvSpPr>
        <p:spPr>
          <a:xfrm>
            <a:off x="8229600" y="3228975"/>
            <a:ext cx="8915400" cy="1461224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6" name="Table Cell 9126"/>
          <p:cNvSpPr/>
          <p:nvPr/>
        </p:nvSpPr>
        <p:spPr>
          <a:xfrm>
            <a:off x="1143000" y="4671149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7" name="Table Cell 9127"/>
          <p:cNvSpPr/>
          <p:nvPr/>
        </p:nvSpPr>
        <p:spPr>
          <a:xfrm>
            <a:off x="8210550" y="3228975"/>
            <a:ext cx="19050" cy="1461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8" name="Table Cell 9128"/>
          <p:cNvSpPr/>
          <p:nvPr/>
        </p:nvSpPr>
        <p:spPr>
          <a:xfrm>
            <a:off x="17125950" y="3228975"/>
            <a:ext cx="19050" cy="1461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9" name="Table Cell 9129"/>
          <p:cNvSpPr/>
          <p:nvPr/>
        </p:nvSpPr>
        <p:spPr>
          <a:xfrm>
            <a:off x="1143000" y="4690199"/>
            <a:ext cx="7086600" cy="1048233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0" name="Table Cell 9130"/>
          <p:cNvSpPr/>
          <p:nvPr/>
        </p:nvSpPr>
        <p:spPr>
          <a:xfrm>
            <a:off x="8229600" y="4690199"/>
            <a:ext cx="8915400" cy="1048233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1" name="Table Cell 9131"/>
          <p:cNvSpPr/>
          <p:nvPr/>
        </p:nvSpPr>
        <p:spPr>
          <a:xfrm>
            <a:off x="1143000" y="5719382"/>
            <a:ext cx="1600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2" name="Table Cell 9132"/>
          <p:cNvSpPr/>
          <p:nvPr/>
        </p:nvSpPr>
        <p:spPr>
          <a:xfrm>
            <a:off x="8210550" y="4690199"/>
            <a:ext cx="19050" cy="1048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3" name="Table Cell 9133"/>
          <p:cNvSpPr/>
          <p:nvPr/>
        </p:nvSpPr>
        <p:spPr>
          <a:xfrm>
            <a:off x="17125950" y="4690199"/>
            <a:ext cx="19050" cy="10482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3"/>
          <p:cNvSpPr/>
          <p:nvPr/>
        </p:nvSpPr>
        <p:spPr>
          <a:xfrm>
            <a:off x="1333500" y="3314700"/>
            <a:ext cx="67056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re.search(pattern, string, flags=0)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3"/>
          <p:cNvSpPr/>
          <p:nvPr/>
        </p:nvSpPr>
        <p:spPr>
          <a:xfrm>
            <a:off x="8420100" y="3314700"/>
            <a:ext cx="8534400" cy="1289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Scan through string looking for the first location where the regular expression pattern produces a match and return a corresponding match object.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43"/>
          <p:cNvSpPr/>
          <p:nvPr/>
        </p:nvSpPr>
        <p:spPr>
          <a:xfrm>
            <a:off x="1333500" y="4775924"/>
            <a:ext cx="6705600" cy="40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re.findall(pattern, string, flags=0)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43"/>
          <p:cNvSpPr/>
          <p:nvPr/>
        </p:nvSpPr>
        <p:spPr>
          <a:xfrm>
            <a:off x="8420100" y="4775924"/>
            <a:ext cx="8534400" cy="876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Return all non-overlapping matches of pattern in string, as a list of strings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43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43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43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277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47"/>
          <p:cNvSpPr/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47"/>
          <p:cNvSpPr/>
          <p:nvPr/>
        </p:nvSpPr>
        <p:spPr>
          <a:xfrm>
            <a:off x="952500" y="1047750"/>
            <a:ext cx="5448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2250"/>
              <a:buFont typeface="Arial"/>
              <a:buNone/>
            </a:pPr>
            <a:r>
              <a:rPr lang="en-US" sz="2250" b="1" i="0" u="none" strike="noStrike" cap="none" spc="450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7"/>
          <p:cNvSpPr/>
          <p:nvPr/>
        </p:nvSpPr>
        <p:spPr>
          <a:xfrm>
            <a:off x="952500" y="6534150"/>
            <a:ext cx="54483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92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0"/>
              <a:buFont typeface="Georgia"/>
              <a:buNone/>
            </a:pPr>
            <a:r>
              <a:rPr lang="en-US" sz="27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IV</a:t>
            </a:r>
            <a:endParaRPr sz="27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47"/>
          <p:cNvSpPr/>
          <p:nvPr/>
        </p:nvSpPr>
        <p:spPr>
          <a:xfrm>
            <a:off x="8001000" y="6930628"/>
            <a:ext cx="914400" cy="5715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47"/>
          <p:cNvSpPr/>
          <p:nvPr/>
        </p:nvSpPr>
        <p:spPr>
          <a:xfrm>
            <a:off x="8001000" y="7368778"/>
            <a:ext cx="9418320" cy="171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6300"/>
              <a:buFont typeface="Georgia"/>
              <a:buNone/>
            </a:pPr>
            <a:r>
              <a:rPr lang="en-US" sz="63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How to Read Regular Expressions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775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48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How to read regular expressions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8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48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48"/>
          <p:cNvSpPr/>
          <p:nvPr/>
        </p:nvSpPr>
        <p:spPr>
          <a:xfrm>
            <a:off x="1143000" y="2762250"/>
            <a:ext cx="16002000" cy="571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48"/>
          <p:cNvSpPr/>
          <p:nvPr/>
        </p:nvSpPr>
        <p:spPr>
          <a:xfrm>
            <a:off x="1143000" y="3048000"/>
            <a:ext cx="11239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7895F9"/>
              </a:buClr>
              <a:buSzPts val="5400"/>
              <a:buFont typeface="Georgia"/>
              <a:buNone/>
            </a:pPr>
            <a:r>
              <a:rPr lang="en-US" sz="5400" b="1" i="0" u="none" strike="noStrike" cap="none">
                <a:solidFill>
                  <a:srgbClr val="7895F9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8"/>
          <p:cNvSpPr/>
          <p:nvPr/>
        </p:nvSpPr>
        <p:spPr>
          <a:xfrm>
            <a:off x="2571750" y="3333750"/>
            <a:ext cx="27241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Cut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48"/>
          <p:cNvSpPr/>
          <p:nvPr/>
        </p:nvSpPr>
        <p:spPr>
          <a:xfrm>
            <a:off x="5429250" y="3314700"/>
            <a:ext cx="12887325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Split the pattern into pieces, left to right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48"/>
          <p:cNvSpPr/>
          <p:nvPr/>
        </p:nvSpPr>
        <p:spPr>
          <a:xfrm>
            <a:off x="1143000" y="4208115"/>
            <a:ext cx="11239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7895F9"/>
              </a:buClr>
              <a:buSzPts val="5400"/>
              <a:buFont typeface="Georgia"/>
              <a:buNone/>
            </a:pPr>
            <a:r>
              <a:rPr lang="en-US" sz="5400" b="1" i="0" u="none" strike="noStrike" cap="none">
                <a:solidFill>
                  <a:srgbClr val="7895F9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48"/>
          <p:cNvSpPr/>
          <p:nvPr/>
        </p:nvSpPr>
        <p:spPr>
          <a:xfrm>
            <a:off x="2571750" y="4493865"/>
            <a:ext cx="27241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48"/>
          <p:cNvSpPr/>
          <p:nvPr/>
        </p:nvSpPr>
        <p:spPr>
          <a:xfrm>
            <a:off x="5429250" y="4474815"/>
            <a:ext cx="12887325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Tag each piece: WHAT / HOW MANY / WHERE / HOW GROUPED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48"/>
          <p:cNvSpPr/>
          <p:nvPr/>
        </p:nvSpPr>
        <p:spPr>
          <a:xfrm>
            <a:off x="1143000" y="513010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48"/>
          <p:cNvSpPr/>
          <p:nvPr/>
        </p:nvSpPr>
        <p:spPr>
          <a:xfrm>
            <a:off x="1143000" y="5368230"/>
            <a:ext cx="11239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7895F9"/>
              </a:buClr>
              <a:buSzPts val="5400"/>
              <a:buFont typeface="Georgia"/>
              <a:buNone/>
            </a:pPr>
            <a:r>
              <a:rPr lang="en-US" sz="5400" b="1" i="0" u="none" strike="noStrike" cap="none">
                <a:solidFill>
                  <a:srgbClr val="7895F9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48"/>
          <p:cNvSpPr/>
          <p:nvPr/>
        </p:nvSpPr>
        <p:spPr>
          <a:xfrm>
            <a:off x="2571750" y="5653980"/>
            <a:ext cx="27241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Say it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8"/>
          <p:cNvSpPr/>
          <p:nvPr/>
        </p:nvSpPr>
        <p:spPr>
          <a:xfrm>
            <a:off x="5429250" y="5634930"/>
            <a:ext cx="12887325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Describe the whole pattern in one plain sentence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8"/>
          <p:cNvSpPr/>
          <p:nvPr/>
        </p:nvSpPr>
        <p:spPr>
          <a:xfrm>
            <a:off x="1143000" y="6290221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48"/>
          <p:cNvSpPr/>
          <p:nvPr/>
        </p:nvSpPr>
        <p:spPr>
          <a:xfrm>
            <a:off x="1143000" y="6528346"/>
            <a:ext cx="11239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7895F9"/>
              </a:buClr>
              <a:buSzPts val="5400"/>
              <a:buFont typeface="Georgia"/>
              <a:buNone/>
            </a:pPr>
            <a:r>
              <a:rPr lang="en-US" sz="5400" b="1" i="0" u="none" strike="noStrike" cap="none">
                <a:solidFill>
                  <a:srgbClr val="7895F9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48"/>
          <p:cNvSpPr/>
          <p:nvPr/>
        </p:nvSpPr>
        <p:spPr>
          <a:xfrm>
            <a:off x="2571750" y="6814096"/>
            <a:ext cx="27241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8"/>
          <p:cNvSpPr/>
          <p:nvPr/>
        </p:nvSpPr>
        <p:spPr>
          <a:xfrm>
            <a:off x="5429250" y="6795046"/>
            <a:ext cx="12887325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Find one string that matches and one that does not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48"/>
          <p:cNvSpPr/>
          <p:nvPr/>
        </p:nvSpPr>
        <p:spPr>
          <a:xfrm>
            <a:off x="1143000" y="7831336"/>
            <a:ext cx="16002000" cy="190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48"/>
          <p:cNvSpPr/>
          <p:nvPr/>
        </p:nvSpPr>
        <p:spPr>
          <a:xfrm>
            <a:off x="1143000" y="8021836"/>
            <a:ext cx="17602200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Reading regex is a separate skill from writing it, and the one you need to check an LLM.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8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48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48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2905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49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Regular expression for Dates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9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49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49"/>
          <p:cNvSpPr/>
          <p:nvPr/>
        </p:nvSpPr>
        <p:spPr>
          <a:xfrm>
            <a:off x="1143000" y="2905125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49"/>
          <p:cNvSpPr/>
          <p:nvPr/>
        </p:nvSpPr>
        <p:spPr>
          <a:xfrm>
            <a:off x="1524000" y="2762250"/>
            <a:ext cx="6706567" cy="944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We need a regular expression to match all the different dates formats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9"/>
          <p:cNvSpPr/>
          <p:nvPr/>
        </p:nvSpPr>
        <p:spPr>
          <a:xfrm>
            <a:off x="1707000" y="4038600"/>
            <a:ext cx="52002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7941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Date variations for 23rd October 2002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9"/>
          <p:cNvSpPr/>
          <p:nvPr/>
        </p:nvSpPr>
        <p:spPr>
          <a:xfrm>
            <a:off x="8721030" y="2762250"/>
            <a:ext cx="3983385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49"/>
          <p:cNvSpPr/>
          <p:nvPr/>
        </p:nvSpPr>
        <p:spPr>
          <a:xfrm>
            <a:off x="8721030" y="2905125"/>
            <a:ext cx="41028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Courier New"/>
              <a:buNone/>
            </a:pPr>
            <a:r>
              <a:rPr lang="en-US" sz="22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23-10-2002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49"/>
          <p:cNvSpPr/>
          <p:nvPr/>
        </p:nvSpPr>
        <p:spPr>
          <a:xfrm>
            <a:off x="8721030" y="3400425"/>
            <a:ext cx="3983385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49"/>
          <p:cNvSpPr/>
          <p:nvPr/>
        </p:nvSpPr>
        <p:spPr>
          <a:xfrm>
            <a:off x="8721030" y="3543300"/>
            <a:ext cx="41028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Courier New"/>
              <a:buNone/>
            </a:pPr>
            <a:r>
              <a:rPr lang="en-US" sz="22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23/10/2002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49"/>
          <p:cNvSpPr/>
          <p:nvPr/>
        </p:nvSpPr>
        <p:spPr>
          <a:xfrm>
            <a:off x="8721030" y="4038600"/>
            <a:ext cx="3983385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49"/>
          <p:cNvSpPr/>
          <p:nvPr/>
        </p:nvSpPr>
        <p:spPr>
          <a:xfrm>
            <a:off x="8721030" y="4181475"/>
            <a:ext cx="41028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Courier New"/>
              <a:buNone/>
            </a:pPr>
            <a:r>
              <a:rPr lang="en-US" sz="22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23/10/02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49"/>
          <p:cNvSpPr/>
          <p:nvPr/>
        </p:nvSpPr>
        <p:spPr>
          <a:xfrm>
            <a:off x="8721030" y="4676775"/>
            <a:ext cx="3983385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p49"/>
          <p:cNvSpPr/>
          <p:nvPr/>
        </p:nvSpPr>
        <p:spPr>
          <a:xfrm>
            <a:off x="8721030" y="4819650"/>
            <a:ext cx="41028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Courier New"/>
              <a:buNone/>
            </a:pPr>
            <a:r>
              <a:rPr lang="en-US" sz="22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10/23/2002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49"/>
          <p:cNvSpPr/>
          <p:nvPr/>
        </p:nvSpPr>
        <p:spPr>
          <a:xfrm>
            <a:off x="13161615" y="2762250"/>
            <a:ext cx="3983385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49"/>
          <p:cNvSpPr/>
          <p:nvPr/>
        </p:nvSpPr>
        <p:spPr>
          <a:xfrm>
            <a:off x="13161615" y="2905125"/>
            <a:ext cx="41028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Courier New"/>
              <a:buNone/>
            </a:pPr>
            <a:r>
              <a:rPr lang="en-US" sz="22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23 Oct 2002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9"/>
          <p:cNvSpPr/>
          <p:nvPr/>
        </p:nvSpPr>
        <p:spPr>
          <a:xfrm>
            <a:off x="13161615" y="3400425"/>
            <a:ext cx="3983385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13161615" y="3543300"/>
            <a:ext cx="41028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Courier New"/>
              <a:buNone/>
            </a:pPr>
            <a:r>
              <a:rPr lang="en-US" sz="22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23 October 2002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49"/>
          <p:cNvSpPr/>
          <p:nvPr/>
        </p:nvSpPr>
        <p:spPr>
          <a:xfrm>
            <a:off x="13161615" y="4038600"/>
            <a:ext cx="3983385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13161615" y="4181475"/>
            <a:ext cx="41028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Courier New"/>
              <a:buNone/>
            </a:pPr>
            <a:r>
              <a:rPr lang="en-US" sz="22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Oct 23, 2002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49"/>
          <p:cNvSpPr/>
          <p:nvPr/>
        </p:nvSpPr>
        <p:spPr>
          <a:xfrm>
            <a:off x="13161615" y="4676775"/>
            <a:ext cx="3983385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13161615" y="4819650"/>
            <a:ext cx="410288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Courier New"/>
              <a:buNone/>
            </a:pPr>
            <a:r>
              <a:rPr lang="en-US" sz="22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October 23, 2002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49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49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49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627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0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Regular expression for Dates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50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50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50"/>
          <p:cNvSpPr/>
          <p:nvPr/>
        </p:nvSpPr>
        <p:spPr>
          <a:xfrm>
            <a:off x="1143000" y="2905125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50"/>
          <p:cNvSpPr/>
          <p:nvPr/>
        </p:nvSpPr>
        <p:spPr>
          <a:xfrm>
            <a:off x="1524000" y="2762250"/>
            <a:ext cx="6237387" cy="49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A simple RE captures three dates types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50"/>
          <p:cNvSpPr/>
          <p:nvPr/>
        </p:nvSpPr>
        <p:spPr>
          <a:xfrm>
            <a:off x="1143000" y="3596580"/>
            <a:ext cx="176022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3300"/>
              <a:buFont typeface="Courier New"/>
              <a:buNone/>
            </a:pPr>
            <a:r>
              <a:rPr lang="en-US" sz="33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\d{2}[/-]\d{2}[/-]\d{4}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1" name="Google Shape;1321;p5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5166150"/>
            <a:ext cx="15810124" cy="175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50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50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50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dirty="0" smtClean="0">
                <a:solidFill>
                  <a:srgbClr val="5A6385"/>
                </a:solidFill>
                <a:ea typeface="Calibri"/>
              </a:rPr>
              <a:t>10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6029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51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Regular expression for Dates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1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51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51"/>
          <p:cNvSpPr/>
          <p:nvPr/>
        </p:nvSpPr>
        <p:spPr>
          <a:xfrm>
            <a:off x="1671775" y="4759963"/>
            <a:ext cx="105117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In the previous we missed the year having only two digits e.g. 23/10/02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51"/>
          <p:cNvSpPr/>
          <p:nvPr/>
        </p:nvSpPr>
        <p:spPr>
          <a:xfrm>
            <a:off x="1671775" y="7228215"/>
            <a:ext cx="69132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Or we might miss the one-digit days or months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5" name="Google Shape;1335;p5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777" y="2655051"/>
            <a:ext cx="14625772" cy="160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5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1776" y="5414339"/>
            <a:ext cx="10724875" cy="854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5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0900" y="7877330"/>
            <a:ext cx="10845751" cy="775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51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1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1"/>
          <p:cNvSpPr/>
          <p:nvPr/>
        </p:nvSpPr>
        <p:spPr>
          <a:xfrm>
            <a:off x="1422050" y="4916113"/>
            <a:ext cx="147300" cy="152400"/>
          </a:xfrm>
          <a:prstGeom prst="flowChartConnector">
            <a:avLst/>
          </a:prstGeom>
          <a:solidFill>
            <a:srgbClr val="7895F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895F9"/>
              </a:solidFill>
            </a:endParaRPr>
          </a:p>
        </p:txBody>
      </p:sp>
      <p:sp>
        <p:nvSpPr>
          <p:cNvPr id="1342" name="Google Shape;1342;p51"/>
          <p:cNvSpPr/>
          <p:nvPr/>
        </p:nvSpPr>
        <p:spPr>
          <a:xfrm>
            <a:off x="1403600" y="7332025"/>
            <a:ext cx="147300" cy="152400"/>
          </a:xfrm>
          <a:prstGeom prst="flowChartConnector">
            <a:avLst/>
          </a:prstGeom>
          <a:solidFill>
            <a:srgbClr val="7895F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417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52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Regular expression for Dates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52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52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52"/>
          <p:cNvSpPr/>
          <p:nvPr/>
        </p:nvSpPr>
        <p:spPr>
          <a:xfrm>
            <a:off x="1143000" y="2867025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52"/>
          <p:cNvSpPr/>
          <p:nvPr/>
        </p:nvSpPr>
        <p:spPr>
          <a:xfrm>
            <a:off x="1524000" y="2762250"/>
            <a:ext cx="6656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What about the text months (e.g., Jan, Feb etc.)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52"/>
          <p:cNvSpPr/>
          <p:nvPr/>
        </p:nvSpPr>
        <p:spPr>
          <a:xfrm>
            <a:off x="1305713" y="7620000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52"/>
          <p:cNvSpPr/>
          <p:nvPr/>
        </p:nvSpPr>
        <p:spPr>
          <a:xfrm>
            <a:off x="1686713" y="7515225"/>
            <a:ext cx="16895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Recall that (...) matches whatever regular expression is inside the parentheses, and </a:t>
            </a:r>
            <a:r>
              <a:rPr lang="en-US" sz="2250" b="0" i="0" u="sng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indicates the start and end of a group</a:t>
            </a:r>
            <a:endParaRPr sz="225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52"/>
          <p:cNvSpPr/>
          <p:nvPr/>
        </p:nvSpPr>
        <p:spPr>
          <a:xfrm>
            <a:off x="1305713" y="8172450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52"/>
          <p:cNvSpPr/>
          <p:nvPr/>
        </p:nvSpPr>
        <p:spPr>
          <a:xfrm>
            <a:off x="1686713" y="8067675"/>
            <a:ext cx="5503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But (?:…) does not create a new group.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7" name="Google Shape;1357;p5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3472750"/>
            <a:ext cx="13522873" cy="353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52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52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52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rgbClr val="5A6385"/>
              </a:buClr>
              <a:buSzPts val="1800"/>
            </a:pPr>
            <a:r>
              <a:rPr lang="en-US" sz="1800" dirty="0">
                <a:solidFill>
                  <a:srgbClr val="5A6385"/>
                </a:solidFill>
                <a:sym typeface="Calibri"/>
              </a:rPr>
              <a:t>12</a:t>
            </a:r>
            <a:endParaRPr sz="1800" dirty="0">
              <a:solidFill>
                <a:srgbClr val="5A6385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52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53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Regular expression for Dates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53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53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1143000" y="2905125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1524000" y="2762250"/>
            <a:ext cx="4772338" cy="49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Capture both Oct and October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1" name="Google Shape;1371;p5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4259600"/>
            <a:ext cx="16937750" cy="116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53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53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8258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 smtClean="0"/>
              <a:t>V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Regex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007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 library in Python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687800" y="9563100"/>
            <a:ext cx="457200" cy="419100"/>
          </a:xfrm>
        </p:spPr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143000" y="3033713"/>
            <a:ext cx="16002000" cy="19050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052763"/>
            <a:ext cx="4191000" cy="613321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186113"/>
            <a:ext cx="393573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34000" y="3052763"/>
            <a:ext cx="3619500" cy="613321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0" y="3052763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3186113"/>
            <a:ext cx="332803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953500" y="3052763"/>
            <a:ext cx="5334000" cy="613321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953500" y="3052763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63050" y="3186113"/>
            <a:ext cx="50939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287500" y="3052763"/>
            <a:ext cx="2857500" cy="613321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14287500" y="3052763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497050" y="3186113"/>
            <a:ext cx="254317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43000" y="3666083"/>
            <a:ext cx="4191000" cy="952500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599533"/>
            <a:ext cx="4191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3761333"/>
            <a:ext cx="393573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re.match(pattern, string)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34000" y="3666083"/>
            <a:ext cx="3619500" cy="952500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0" y="4599533"/>
            <a:ext cx="3619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0" y="3666083"/>
            <a:ext cx="190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543550" y="3761333"/>
            <a:ext cx="332803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only at the beginning of the string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53500" y="3666083"/>
            <a:ext cx="5334000" cy="952500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26" name="Shape 24"/>
          <p:cNvSpPr/>
          <p:nvPr/>
        </p:nvSpPr>
        <p:spPr>
          <a:xfrm>
            <a:off x="8953500" y="4599533"/>
            <a:ext cx="5334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953500" y="3666083"/>
            <a:ext cx="190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63050" y="3761333"/>
            <a:ext cx="50939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25806"/>
              </a:lnSpc>
              <a:buClrTx/>
              <a:buFontTx/>
              <a:buNone/>
            </a:pPr>
            <a:r>
              <a:rPr lang="en-US" sz="1950" kern="1200" dirty="0">
                <a:solidFill>
                  <a:srgbClr val="26314F"/>
                </a:solidFill>
                <a:highlight>
                  <a:srgbClr val="EEF1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re.match(r"\d+", "3 apples") re.match(r"\d+", "eat 3")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4287500" y="3666083"/>
            <a:ext cx="2857500" cy="952500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30" name="Shape 28"/>
          <p:cNvSpPr/>
          <p:nvPr/>
        </p:nvSpPr>
        <p:spPr>
          <a:xfrm>
            <a:off x="14287500" y="4599533"/>
            <a:ext cx="2857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4287500" y="3666083"/>
            <a:ext cx="19050" cy="952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4497050" y="3761333"/>
            <a:ext cx="254317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806"/>
              </a:lnSpc>
              <a:buClrTx/>
              <a:buFontTx/>
              <a:buNone/>
            </a:pPr>
            <a:r>
              <a:rPr lang="en-US" sz="1950" kern="1200" dirty="0">
                <a:solidFill>
                  <a:srgbClr val="26314F"/>
                </a:solidFill>
                <a:highlight>
                  <a:srgbClr val="EEF1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'3' None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143000" y="4618583"/>
            <a:ext cx="4191000" cy="1249412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000" y="5848945"/>
            <a:ext cx="4191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333500" y="4713833"/>
            <a:ext cx="3935730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re.search(pattern, string)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334000" y="4618583"/>
            <a:ext cx="3619500" cy="1249412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5848945"/>
            <a:ext cx="3619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334000" y="4618583"/>
            <a:ext cx="19050" cy="12494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543550" y="4713833"/>
            <a:ext cx="3328035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the string for the first location where the pattern matches, anywhere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953500" y="4618583"/>
            <a:ext cx="5334000" cy="1249412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41" name="Shape 39"/>
          <p:cNvSpPr/>
          <p:nvPr/>
        </p:nvSpPr>
        <p:spPr>
          <a:xfrm>
            <a:off x="8953500" y="5848945"/>
            <a:ext cx="5334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953500" y="4618583"/>
            <a:ext cx="19050" cy="12494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163050" y="4713833"/>
            <a:ext cx="5093970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806"/>
              </a:lnSpc>
              <a:buClrTx/>
              <a:buFontTx/>
              <a:buNone/>
            </a:pPr>
            <a:r>
              <a:rPr lang="en-US" sz="195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re.search(r"\d+", "eat 3 apples")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4287500" y="4618583"/>
            <a:ext cx="2857500" cy="1249412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45" name="Shape 43"/>
          <p:cNvSpPr/>
          <p:nvPr/>
        </p:nvSpPr>
        <p:spPr>
          <a:xfrm>
            <a:off x="14287500" y="5848945"/>
            <a:ext cx="2857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4287500" y="4618583"/>
            <a:ext cx="19050" cy="12494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14497050" y="4713833"/>
            <a:ext cx="2543175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806"/>
              </a:lnSpc>
              <a:buClrTx/>
              <a:buFontTx/>
              <a:buNone/>
            </a:pPr>
            <a:r>
              <a:rPr lang="en-US" sz="195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'3'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143000" y="5867995"/>
            <a:ext cx="4191000" cy="90279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3000" y="6751737"/>
            <a:ext cx="4191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333500" y="5963245"/>
            <a:ext cx="393573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re.split(pattern, string, maxsplit=0)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334000" y="5867995"/>
            <a:ext cx="3619500" cy="90279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52" name="Shape 50"/>
          <p:cNvSpPr/>
          <p:nvPr/>
        </p:nvSpPr>
        <p:spPr>
          <a:xfrm>
            <a:off x="5334000" y="6751737"/>
            <a:ext cx="3619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5334000" y="5867995"/>
            <a:ext cx="19050" cy="9027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543550" y="5963245"/>
            <a:ext cx="332803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the string by the occurrences of the pattern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953500" y="5867995"/>
            <a:ext cx="5334000" cy="90279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6751737"/>
            <a:ext cx="5334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8953500" y="5867995"/>
            <a:ext cx="19050" cy="9027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9163050" y="5963245"/>
            <a:ext cx="509397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806"/>
              </a:lnSpc>
              <a:buClrTx/>
              <a:buFontTx/>
              <a:buNone/>
            </a:pPr>
            <a:r>
              <a:rPr lang="en-US" sz="195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re.split(r"\W+", "a, b; c")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4287500" y="5867995"/>
            <a:ext cx="2857500" cy="90279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60" name="Shape 58"/>
          <p:cNvSpPr/>
          <p:nvPr/>
        </p:nvSpPr>
        <p:spPr>
          <a:xfrm>
            <a:off x="14287500" y="6751737"/>
            <a:ext cx="2857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14287500" y="5867995"/>
            <a:ext cx="19050" cy="9027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14497050" y="5963245"/>
            <a:ext cx="254317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806"/>
              </a:lnSpc>
              <a:buClrTx/>
              <a:buFontTx/>
              <a:buNone/>
            </a:pPr>
            <a:r>
              <a:rPr lang="en-US" sz="195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['a', 'b', 'c']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143000" y="6770787"/>
            <a:ext cx="4191000" cy="1596033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64" name="Shape 62"/>
          <p:cNvSpPr/>
          <p:nvPr/>
        </p:nvSpPr>
        <p:spPr>
          <a:xfrm>
            <a:off x="1143000" y="8347770"/>
            <a:ext cx="4191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333500" y="6866037"/>
            <a:ext cx="3935730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re.findall(pattern, string)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5334000" y="6770787"/>
            <a:ext cx="3619500" cy="1596033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67" name="Shape 65"/>
          <p:cNvSpPr/>
          <p:nvPr/>
        </p:nvSpPr>
        <p:spPr>
          <a:xfrm>
            <a:off x="5334000" y="8347770"/>
            <a:ext cx="3619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5334000" y="6770787"/>
            <a:ext cx="19050" cy="15960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5543550" y="6866037"/>
            <a:ext cx="3328035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750"/>
              </a:lnSpc>
              <a:buClrTx/>
              <a:buFontTx/>
              <a:buNone/>
            </a:pPr>
            <a:r>
              <a:rPr lang="en-US" sz="210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all non-overlapping matches as a list of strings, not just the first one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8953500" y="6770787"/>
            <a:ext cx="5334000" cy="1596033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71" name="Shape 69"/>
          <p:cNvSpPr/>
          <p:nvPr/>
        </p:nvSpPr>
        <p:spPr>
          <a:xfrm>
            <a:off x="8953500" y="8347770"/>
            <a:ext cx="5334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8953500" y="6770787"/>
            <a:ext cx="19050" cy="15960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9163050" y="6866037"/>
            <a:ext cx="5093970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806"/>
              </a:lnSpc>
              <a:buClrTx/>
              <a:buFontTx/>
              <a:buNone/>
            </a:pPr>
            <a:r>
              <a:rPr lang="en-US" sz="195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re.findall(r"\d+", "3 apples, 12 pears")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4287500" y="6770787"/>
            <a:ext cx="2857500" cy="1596033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75" name="Shape 73"/>
          <p:cNvSpPr/>
          <p:nvPr/>
        </p:nvSpPr>
        <p:spPr>
          <a:xfrm>
            <a:off x="14287500" y="8347770"/>
            <a:ext cx="28575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14287500" y="6770787"/>
            <a:ext cx="19050" cy="15960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14497050" y="6866037"/>
            <a:ext cx="2543175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806"/>
              </a:lnSpc>
              <a:buClrTx/>
              <a:buFontTx/>
              <a:buNone/>
            </a:pPr>
            <a:r>
              <a:rPr lang="en-US" sz="195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['3', '12']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143000" y="8633520"/>
            <a:ext cx="1648206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22500"/>
              </a:lnSpc>
              <a:buClrTx/>
              <a:buFontTx/>
              <a:buNone/>
            </a:pPr>
            <a:r>
              <a:rPr lang="en-US" sz="2100" b="1" kern="1200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split()</a:t>
            </a:r>
            <a:r>
              <a:rPr lang="en-US" sz="210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capturing parentheses also return the text of each group · a nonzero </a:t>
            </a:r>
            <a:r>
              <a:rPr lang="en-US" sz="2100" kern="1200" dirty="0">
                <a:solidFill>
                  <a:srgbClr val="2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maxsplit </a:t>
            </a:r>
            <a:r>
              <a:rPr lang="en-US" sz="210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the remainder as the last element · </a:t>
            </a:r>
            <a:r>
              <a:rPr lang="en-US" sz="2100" kern="1200" dirty="0">
                <a:solidFill>
                  <a:srgbClr val="2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\W </a:t>
            </a:r>
            <a:r>
              <a:rPr lang="en-US" sz="2100" kern="12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any character that is not a letter, digit or underscore</a:t>
            </a:r>
            <a:endParaRPr lang="en-US" sz="21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15564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143"/>
              </a:lnSpc>
              <a:buNone/>
            </a:pPr>
            <a:r>
              <a:rPr lang="en-US" sz="5100" b="1" dirty="0">
                <a:solidFill>
                  <a:srgbClr val="1B2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 text in Pandas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3000" y="2038350"/>
            <a:ext cx="16002000" cy="152400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571750"/>
            <a:ext cx="176022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provides handy string methods, accessed through the </a:t>
            </a:r>
            <a:r>
              <a:rPr lang="en-US" sz="2400" b="1" dirty="0">
                <a:solidFill>
                  <a:srgbClr val="1B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</a:t>
            </a:r>
            <a:r>
              <a:rPr lang="en-US" sz="24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and applied to each element of a Series.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87911"/>
            <a:ext cx="4953000" cy="466725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287911"/>
            <a:ext cx="47205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75" dirty="0">
                <a:solidFill>
                  <a:srgbClr val="142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096000" y="3287911"/>
            <a:ext cx="11049000" cy="466725"/>
          </a:xfrm>
          <a:prstGeom prst="rect">
            <a:avLst/>
          </a:prstGeom>
          <a:solidFill>
            <a:srgbClr val="7895F9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0" y="3287911"/>
            <a:ext cx="19050" cy="466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305550" y="3287911"/>
            <a:ext cx="1098042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75" dirty="0">
                <a:solidFill>
                  <a:srgbClr val="142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3000" y="3754636"/>
            <a:ext cx="4953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4348907"/>
            <a:ext cx="4953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3878461"/>
            <a:ext cx="47205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Series.str.replace(a, b)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096000" y="3754636"/>
            <a:ext cx="11049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6000" y="4348907"/>
            <a:ext cx="1104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0" y="3754636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5550" y="3878461"/>
            <a:ext cx="1098042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value a with the value b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43000" y="4367957"/>
            <a:ext cx="4953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962227"/>
            <a:ext cx="4953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4491782"/>
            <a:ext cx="47205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Series.str.count(pat)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096000" y="4367957"/>
            <a:ext cx="11049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0" y="4962227"/>
            <a:ext cx="1104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0" y="4367957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05550" y="4491782"/>
            <a:ext cx="1098042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the appearances of a character or pattern in each element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43000" y="4981277"/>
            <a:ext cx="4953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5575548"/>
            <a:ext cx="4953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" y="5105102"/>
            <a:ext cx="47205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Series.str.match(pat)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096000" y="4981277"/>
            <a:ext cx="11049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6000" y="5575548"/>
            <a:ext cx="1104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0" y="4981277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305550" y="5105102"/>
            <a:ext cx="1098042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Determines if each string starts with a match of a regular expression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43000" y="5594598"/>
            <a:ext cx="4953000" cy="95994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3000" y="6535489"/>
            <a:ext cx="4953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333500" y="5718423"/>
            <a:ext cx="472059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Series.str.strip()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6096000" y="5594598"/>
            <a:ext cx="11049000" cy="95994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6000" y="6535489"/>
            <a:ext cx="1104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6000" y="5594598"/>
            <a:ext cx="19050" cy="9599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305550" y="5718423"/>
            <a:ext cx="1098042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leading and trailing whitespace, newlines or specified characters from both sides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143000" y="6554539"/>
            <a:ext cx="4953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40" name="Shape 38"/>
          <p:cNvSpPr/>
          <p:nvPr/>
        </p:nvSpPr>
        <p:spPr>
          <a:xfrm>
            <a:off x="1143000" y="7148810"/>
            <a:ext cx="4953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333500" y="6678364"/>
            <a:ext cx="47205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Series.str.find(pat)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6096000" y="6554539"/>
            <a:ext cx="11049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0" y="7148810"/>
            <a:ext cx="1104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6000" y="6554539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305550" y="6678364"/>
            <a:ext cx="1098042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position of the first occurrence of the pattern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143000" y="7167860"/>
            <a:ext cx="4953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3000" y="7762131"/>
            <a:ext cx="4953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0" y="7291685"/>
            <a:ext cx="47205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Series.str.findall(pat)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6096000" y="7167860"/>
            <a:ext cx="11049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7762131"/>
            <a:ext cx="1104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7167860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305550" y="7291685"/>
            <a:ext cx="1098042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list with all occurrences of the pattern in each element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1143000" y="7781181"/>
            <a:ext cx="4953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54" name="Shape 52"/>
          <p:cNvSpPr/>
          <p:nvPr/>
        </p:nvSpPr>
        <p:spPr>
          <a:xfrm>
            <a:off x="1143000" y="8375452"/>
            <a:ext cx="4953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333500" y="7905006"/>
            <a:ext cx="47205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Series.str.split(' ')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6096000" y="7781181"/>
            <a:ext cx="11049000" cy="613321"/>
          </a:xfrm>
          <a:prstGeom prst="rect">
            <a:avLst/>
          </a:prstGeom>
          <a:solidFill>
            <a:srgbClr val="EEF1FE"/>
          </a:solidFill>
          <a:ln/>
        </p:spPr>
      </p:sp>
      <p:sp>
        <p:nvSpPr>
          <p:cNvPr id="57" name="Shape 55"/>
          <p:cNvSpPr/>
          <p:nvPr/>
        </p:nvSpPr>
        <p:spPr>
          <a:xfrm>
            <a:off x="6096000" y="8375452"/>
            <a:ext cx="1104900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6096000" y="7781181"/>
            <a:ext cx="19050" cy="6133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305550" y="7905006"/>
            <a:ext cx="1098042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26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each string with the given pattern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1143000" y="9639299"/>
            <a:ext cx="9712234" cy="314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smtClean="0">
                <a:solidFill>
                  <a:srgbClr val="5A6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Text Analytics 2026-27 – Week 3 · © Information Systems Lab</a:t>
            </a:r>
            <a:endParaRPr lang="en-US" sz="1800" dirty="0"/>
          </a:p>
        </p:txBody>
      </p:sp>
      <p:sp>
        <p:nvSpPr>
          <p:cNvPr id="62" name="Slide Number Placeholder 4"/>
          <p:cNvSpPr txBox="1">
            <a:spLocks/>
          </p:cNvSpPr>
          <p:nvPr/>
        </p:nvSpPr>
        <p:spPr>
          <a:xfrm>
            <a:off x="16687800" y="9563100"/>
            <a:ext cx="457200" cy="419100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rgbClr val="5A6385"/>
                </a:solidFill>
              </a:rPr>
              <a:t>16</a:t>
            </a:r>
            <a:endParaRPr lang="en-US" sz="1800" dirty="0">
              <a:solidFill>
                <a:srgbClr val="5A63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843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 text in Pandas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9" y="3005632"/>
            <a:ext cx="8954589" cy="527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69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methods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Using the </a:t>
            </a:r>
            <a:r>
              <a:rPr lang="en-US" b="1" dirty="0" err="1">
                <a:solidFill>
                  <a:srgbClr val="1B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b="1" dirty="0">
                <a:solidFill>
                  <a:srgbClr val="1B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attribute we access the set of string processing methods, which operate on each element of the Series.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267" y="3853909"/>
            <a:ext cx="5091853" cy="4362628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7572375" y="4767943"/>
            <a:ext cx="3143250" cy="45720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characters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7572375" y="7215190"/>
            <a:ext cx="3143250" cy="412291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42544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334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tokens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7238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methods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1" y="2926080"/>
            <a:ext cx="5512526" cy="4885509"/>
          </a:xfrm>
          <a:prstGeom prst="rect">
            <a:avLst/>
          </a:prstGeom>
        </p:spPr>
      </p:pic>
      <p:pic>
        <p:nvPicPr>
          <p:cNvPr id="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71707" y="4640103"/>
            <a:ext cx="7726682" cy="1486377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7302137" y="5074919"/>
            <a:ext cx="822960" cy="6792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47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</a:t>
            </a:r>
            <a:r>
              <a:rPr lang="en-US" dirty="0" smtClean="0"/>
              <a:t>methods: </a:t>
            </a:r>
            <a:r>
              <a:rPr lang="en-US" dirty="0" err="1" smtClean="0"/>
              <a:t>findall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795493"/>
            <a:ext cx="5519057" cy="4950781"/>
          </a:xfrm>
          <a:prstGeom prst="rect">
            <a:avLst/>
          </a:prstGeom>
        </p:spPr>
      </p:pic>
      <p:pic>
        <p:nvPicPr>
          <p:cNvPr id="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2999" y="4323807"/>
            <a:ext cx="8729527" cy="182880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7067006" y="4950823"/>
            <a:ext cx="822960" cy="6792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50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methods: replace ()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142" y="3142846"/>
            <a:ext cx="6701829" cy="455117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63594" y="4235844"/>
            <a:ext cx="7734300" cy="2133600"/>
          </a:xfrm>
          <a:prstGeom prst="roundRect">
            <a:avLst>
              <a:gd name="adj" fmla="val 3571"/>
            </a:avLst>
          </a:prstGeom>
          <a:solidFill>
            <a:srgbClr val="EEF1FE"/>
          </a:solidFill>
          <a:ln/>
        </p:spPr>
      </p:sp>
      <p:sp>
        <p:nvSpPr>
          <p:cNvPr id="9" name="Text 5"/>
          <p:cNvSpPr/>
          <p:nvPr/>
        </p:nvSpPr>
        <p:spPr>
          <a:xfrm>
            <a:off x="9468394" y="4502544"/>
            <a:ext cx="73567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function </a:t>
            </a:r>
            <a:r>
              <a:rPr lang="en-US" sz="2250" dirty="0">
                <a:solidFill>
                  <a:srgbClr val="26314F"/>
                </a:solidFill>
                <a:highlight>
                  <a:srgbClr val="EEF1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 anonymous function (defined without a name) that can take any number of arguments but, unlike normal functions, evaluates and returns only one expression.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824481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methods: extract()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571750"/>
            <a:ext cx="16335103" cy="6477000"/>
          </a:xfrm>
        </p:spPr>
        <p:txBody>
          <a:bodyPr/>
          <a:lstStyle/>
          <a:p>
            <a:pPr algn="l"/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The extract method accepts a regular expression with </a:t>
            </a:r>
            <a:r>
              <a:rPr lang="en-US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capture group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  <a:p>
            <a:pPr algn="l"/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Extracting a regular expression with more than one group returns a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DataFrame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column per group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  <a:p>
            <a:pPr algn="l"/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extract() returns </a:t>
            </a:r>
            <a:r>
              <a:rPr lang="en-US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first match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  <p:pic>
        <p:nvPicPr>
          <p:cNvPr id="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8375" y="5530403"/>
            <a:ext cx="8199351" cy="322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160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methods: </a:t>
            </a:r>
            <a:r>
              <a:rPr lang="en-US" dirty="0" err="1" smtClean="0"/>
              <a:t>extractall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extractall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method returns </a:t>
            </a:r>
            <a:r>
              <a:rPr lang="en-US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match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  <a:p>
            <a:pPr algn="l"/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The result of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extractall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is always a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DataFrame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with a </a:t>
            </a:r>
            <a:r>
              <a:rPr lang="en-US" b="1" dirty="0" err="1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MultiIndex</a:t>
            </a:r>
            <a:r>
              <a:rPr lang="en-US" b="1" dirty="0">
                <a:solidFill>
                  <a:srgbClr val="1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on its rows. The last level of the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MultiIndex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is named 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match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and indicates the order in the subject.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Web and Text Analytics 2026-27 – Week 3 · © Information Systems Lab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  <p:pic>
        <p:nvPicPr>
          <p:cNvPr id="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390" y="4951969"/>
            <a:ext cx="7803809" cy="373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56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54"/>
          <p:cNvSpPr/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54"/>
          <p:cNvSpPr/>
          <p:nvPr/>
        </p:nvSpPr>
        <p:spPr>
          <a:xfrm>
            <a:off x="952500" y="1047750"/>
            <a:ext cx="5448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2250"/>
              <a:buFont typeface="Arial"/>
              <a:buNone/>
            </a:pPr>
            <a:r>
              <a:rPr lang="en-US" sz="2250" b="1" i="0" u="none" strike="noStrike" cap="none" spc="450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54"/>
          <p:cNvSpPr/>
          <p:nvPr/>
        </p:nvSpPr>
        <p:spPr>
          <a:xfrm>
            <a:off x="952500" y="6534150"/>
            <a:ext cx="54483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92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0"/>
              <a:buFont typeface="Georgia"/>
              <a:buNone/>
            </a:pPr>
            <a:r>
              <a:rPr lang="en-US" sz="27000" b="1" i="0" u="none" strike="noStrike" cap="none" dirty="0" smtClean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</a:t>
            </a:r>
            <a:endParaRPr sz="27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54"/>
          <p:cNvSpPr/>
          <p:nvPr/>
        </p:nvSpPr>
        <p:spPr>
          <a:xfrm>
            <a:off x="8001000" y="6749504"/>
            <a:ext cx="914400" cy="5715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54"/>
          <p:cNvSpPr/>
          <p:nvPr/>
        </p:nvSpPr>
        <p:spPr>
          <a:xfrm>
            <a:off x="8001000" y="7187654"/>
            <a:ext cx="1005840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7500"/>
              <a:buFont typeface="Georgia"/>
              <a:buNone/>
            </a:pPr>
            <a:r>
              <a:rPr lang="en-US" sz="75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Case Studies</a:t>
            </a:r>
            <a:endParaRPr sz="7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54"/>
          <p:cNvSpPr/>
          <p:nvPr/>
        </p:nvSpPr>
        <p:spPr>
          <a:xfrm>
            <a:off x="8001000" y="8568779"/>
            <a:ext cx="9220200" cy="5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2700"/>
              <a:buFont typeface="Arial"/>
              <a:buNone/>
            </a:pPr>
            <a:r>
              <a:rPr lang="en-US" sz="27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Writing and evaluating </a:t>
            </a:r>
            <a:r>
              <a:rPr lang="en-US" sz="27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r>
              <a:rPr lang="en-US" sz="2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27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2700"/>
              <a:buFont typeface="Arial"/>
              <a:buNone/>
            </a:pPr>
            <a:endParaRPr lang="en-US" sz="2700" b="0" i="0" u="none" strike="noStrike" cap="none" dirty="0" smtClean="0">
              <a:solidFill>
                <a:srgbClr val="5A63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5934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5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The data behind both case studies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5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5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5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TextBox 1414"/>
          <p:cNvSpPr txBox="1"/>
          <p:nvPr/>
        </p:nvSpPr>
        <p:spPr>
          <a:xfrm>
            <a:off x="1143000" y="3226254"/>
            <a:ext cx="7223760" cy="3118485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400" b="1" i="0" dirty="0">
                <a:solidFill>
                  <a:srgbClr val="1B2F6B"/>
                </a:solidFill>
                <a:latin typeface="+mn-lt"/>
              </a:rPr>
              <a:t>Amazon Reviews: Unlocked Mobile Phones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400" b="0" i="0" dirty="0">
                <a:solidFill>
                  <a:srgbClr val="26314F"/>
                </a:solidFill>
                <a:latin typeface="+mn-lt"/>
              </a:rPr>
              <a:t>Public dataset on </a:t>
            </a:r>
            <a:r>
              <a:rPr sz="2400" b="0" i="0" dirty="0" err="1">
                <a:solidFill>
                  <a:srgbClr val="26314F"/>
                </a:solidFill>
                <a:latin typeface="+mn-lt"/>
              </a:rPr>
              <a:t>Kaggle</a:t>
            </a:r>
            <a:r>
              <a:rPr sz="2400" b="0" i="0" dirty="0">
                <a:solidFill>
                  <a:srgbClr val="26314F"/>
                </a:solidFill>
                <a:latin typeface="+mn-lt"/>
              </a:rPr>
              <a:t>, collected by </a:t>
            </a:r>
            <a:r>
              <a:rPr sz="2400" b="0" i="0" dirty="0" err="1">
                <a:solidFill>
                  <a:srgbClr val="26314F"/>
                </a:solidFill>
                <a:latin typeface="+mn-lt"/>
              </a:rPr>
              <a:t>PromptCloud</a:t>
            </a:r>
            <a:r>
              <a:rPr sz="2400" b="0" i="0" dirty="0">
                <a:solidFill>
                  <a:srgbClr val="26314F"/>
                </a:solidFill>
                <a:latin typeface="+mn-lt"/>
              </a:rPr>
              <a:t> by scraping the “unlocked phones” category of Amazon.com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400" b="1" i="0" dirty="0">
                <a:solidFill>
                  <a:srgbClr val="1B2F6B"/>
                </a:solidFill>
                <a:latin typeface="+mn-lt"/>
              </a:rPr>
              <a:t>400,000+ </a:t>
            </a:r>
            <a:r>
              <a:rPr sz="2400" b="0" i="0" dirty="0">
                <a:solidFill>
                  <a:srgbClr val="26314F"/>
                </a:solidFill>
                <a:latin typeface="+mn-lt"/>
              </a:rPr>
              <a:t>customer reviews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400" b="1" i="0" dirty="0" smtClean="0">
                <a:solidFill>
                  <a:srgbClr val="1B2F6B"/>
                </a:solidFill>
                <a:latin typeface="+mn-lt"/>
              </a:rPr>
              <a:t>1 </a:t>
            </a:r>
            <a:r>
              <a:rPr sz="2400" b="1" i="0" dirty="0">
                <a:solidFill>
                  <a:srgbClr val="1B2F6B"/>
                </a:solidFill>
                <a:latin typeface="+mn-lt"/>
              </a:rPr>
              <a:t>row = 1 review</a:t>
            </a:r>
            <a:r>
              <a:rPr sz="2400" b="0" i="0" dirty="0">
                <a:solidFill>
                  <a:srgbClr val="26314F"/>
                </a:solidFill>
                <a:latin typeface="+mn-lt"/>
              </a:rPr>
              <a:t>, file </a:t>
            </a:r>
            <a:r>
              <a:rPr sz="2400" b="0" i="0" dirty="0">
                <a:solidFill>
                  <a:srgbClr val="1B2F6B"/>
                </a:solidFill>
                <a:latin typeface="+mn-lt"/>
              </a:rPr>
              <a:t>Amazon_Unlocked_Mobile.csv</a:t>
            </a:r>
          </a:p>
        </p:txBody>
      </p:sp>
      <p:sp>
        <p:nvSpPr>
          <p:cNvPr id="1416" name="TextBox 1415"/>
          <p:cNvSpPr txBox="1"/>
          <p:nvPr/>
        </p:nvSpPr>
        <p:spPr>
          <a:xfrm>
            <a:off x="9052560" y="2743200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lang="en-US" sz="1800" b="1" i="0" spc="216" dirty="0" smtClean="0">
                <a:solidFill>
                  <a:srgbClr val="5A6385"/>
                </a:solidFill>
                <a:latin typeface="Arial"/>
              </a:rPr>
              <a:t>Data Exploration</a:t>
            </a:r>
            <a:endParaRPr sz="1800" b="1" i="0" spc="216" dirty="0">
              <a:solidFill>
                <a:srgbClr val="5A6385"/>
              </a:solidFill>
              <a:latin typeface="Arial"/>
            </a:endParaRPr>
          </a:p>
        </p:txBody>
      </p:sp>
      <p:graphicFrame>
        <p:nvGraphicFramePr>
          <p:cNvPr id="1417" name="Table 1416"/>
          <p:cNvGraphicFramePr>
            <a:graphicFrameLocks noGrp="1"/>
          </p:cNvGraphicFramePr>
          <p:nvPr>
            <p:extLst/>
          </p:nvPr>
        </p:nvGraphicFramePr>
        <p:xfrm>
          <a:off x="9052560" y="3200400"/>
          <a:ext cx="8092440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571500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4224F"/>
                          </a:solidFill>
                          <a:latin typeface="Arial"/>
                        </a:rPr>
                        <a:t>Column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4224F"/>
                          </a:solidFill>
                          <a:latin typeface="Arial"/>
                        </a:rPr>
                        <a:t>What it holds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Courier New"/>
                        </a:rPr>
                        <a:t>Product Name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full product title, e.g. phone model and colour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Courier New"/>
                        </a:rPr>
                        <a:t>Brand Name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Apple, Samsung, BLU, 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Courier New"/>
                        </a:rPr>
                        <a:t>Price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price in USD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Courier New"/>
                        </a:rPr>
                        <a:t>Rating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26314F"/>
                          </a:solidFill>
                          <a:latin typeface="Arial"/>
                        </a:rPr>
                        <a:t>1–5 </a:t>
                      </a:r>
                      <a:r>
                        <a:rPr sz="1700" dirty="0" smtClean="0">
                          <a:solidFill>
                            <a:srgbClr val="26314F"/>
                          </a:solidFill>
                          <a:latin typeface="Arial"/>
                        </a:rPr>
                        <a:t>stars</a:t>
                      </a:r>
                      <a:endParaRPr sz="1700" b="1" dirty="0">
                        <a:solidFill>
                          <a:srgbClr val="F5821F"/>
                        </a:solidFill>
                        <a:latin typeface="Arial"/>
                      </a:endParaRP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Courier New"/>
                        </a:rPr>
                        <a:t>Reviews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26314F"/>
                          </a:solidFill>
                          <a:latin typeface="Arial"/>
                        </a:rPr>
                        <a:t>free text by the </a:t>
                      </a:r>
                      <a:r>
                        <a:rPr sz="1700" dirty="0" smtClean="0">
                          <a:solidFill>
                            <a:srgbClr val="26314F"/>
                          </a:solidFill>
                          <a:latin typeface="Arial"/>
                        </a:rPr>
                        <a:t>customer</a:t>
                      </a:r>
                      <a:endParaRPr sz="1700" b="1" dirty="0">
                        <a:solidFill>
                          <a:srgbClr val="F5821F"/>
                        </a:solidFill>
                        <a:latin typeface="Arial"/>
                      </a:endParaRP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Courier New"/>
                        </a:rPr>
                        <a:t>Review Votes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26314F"/>
                          </a:solidFill>
                          <a:latin typeface="Arial"/>
                        </a:rPr>
                        <a:t>how many people found it helpful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9" name="Rectangle 1418"/>
          <p:cNvSpPr/>
          <p:nvPr/>
        </p:nvSpPr>
        <p:spPr>
          <a:xfrm>
            <a:off x="1143000" y="7315200"/>
            <a:ext cx="16002000" cy="19050"/>
          </a:xfrm>
          <a:prstGeom prst="rect">
            <a:avLst/>
          </a:prstGeom>
          <a:solidFill>
            <a:srgbClr val="789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0" name="TextBox 1419"/>
          <p:cNvSpPr txBox="1"/>
          <p:nvPr/>
        </p:nvSpPr>
        <p:spPr>
          <a:xfrm>
            <a:off x="1143000" y="7603807"/>
            <a:ext cx="160020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1" i="0" dirty="0">
                <a:solidFill>
                  <a:srgbClr val="1B2F6B"/>
                </a:solidFill>
                <a:latin typeface="Georgia"/>
              </a:rPr>
              <a:t>We take small samples by hand (10 and 30 reviews), so </a:t>
            </a:r>
            <a:r>
              <a:rPr lang="en-US" sz="2400" b="1" i="0" dirty="0" smtClean="0">
                <a:solidFill>
                  <a:srgbClr val="1B2F6B"/>
                </a:solidFill>
                <a:latin typeface="Georgia"/>
              </a:rPr>
              <a:t>we </a:t>
            </a:r>
            <a:r>
              <a:rPr sz="2400" b="1" i="0" dirty="0" smtClean="0">
                <a:solidFill>
                  <a:srgbClr val="1B2F6B"/>
                </a:solidFill>
                <a:latin typeface="Georgia"/>
              </a:rPr>
              <a:t>can </a:t>
            </a:r>
            <a:r>
              <a:rPr sz="2400" b="1" i="0" dirty="0">
                <a:solidFill>
                  <a:srgbClr val="1B2F6B"/>
                </a:solidFill>
                <a:latin typeface="Georgia"/>
              </a:rPr>
              <a:t>check every answer.</a:t>
            </a:r>
          </a:p>
        </p:txBody>
      </p:sp>
      <p:sp>
        <p:nvSpPr>
          <p:cNvPr id="1421" name="TextBox 1420"/>
          <p:cNvSpPr txBox="1"/>
          <p:nvPr/>
        </p:nvSpPr>
        <p:spPr>
          <a:xfrm>
            <a:off x="1143000" y="8304711"/>
            <a:ext cx="1600200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r>
              <a:rPr sz="1800" b="0" i="0" dirty="0">
                <a:solidFill>
                  <a:srgbClr val="5A6385"/>
                </a:solidFill>
                <a:latin typeface="Arial"/>
              </a:rPr>
              <a:t>Source: </a:t>
            </a:r>
            <a:r>
              <a:rPr sz="1800" b="0" i="0" dirty="0" err="1">
                <a:solidFill>
                  <a:srgbClr val="5A6385"/>
                </a:solidFill>
                <a:latin typeface="Arial"/>
              </a:rPr>
              <a:t>Kaggle</a:t>
            </a:r>
            <a:r>
              <a:rPr sz="1800" b="0" i="0" dirty="0">
                <a:solidFill>
                  <a:srgbClr val="5A6385"/>
                </a:solidFill>
                <a:latin typeface="Arial"/>
              </a:rPr>
              <a:t>, </a:t>
            </a:r>
            <a:r>
              <a:rPr sz="1800" b="0" i="0" dirty="0" smtClean="0">
                <a:solidFill>
                  <a:srgbClr val="5A6385"/>
                </a:solidFill>
                <a:latin typeface="Arial"/>
              </a:rPr>
              <a:t>“</a:t>
            </a:r>
            <a:r>
              <a:rPr sz="1800" b="0" i="0" dirty="0">
                <a:solidFill>
                  <a:srgbClr val="5A6385"/>
                </a:solidFill>
                <a:latin typeface="Arial"/>
              </a:rPr>
              <a:t>Amazon Reviews: Unlocked Mobile Phones” (Amazon_Unlocked_Mobile.csv</a:t>
            </a:r>
            <a:r>
              <a:rPr sz="1800" b="0" i="0" dirty="0" smtClean="0">
                <a:solidFill>
                  <a:srgbClr val="5A6385"/>
                </a:solidFill>
                <a:latin typeface="Arial"/>
              </a:rPr>
              <a:t>)</a:t>
            </a:r>
            <a:endParaRPr lang="en-US" sz="1800" b="0" i="0" dirty="0" smtClean="0">
              <a:solidFill>
                <a:srgbClr val="5A6385"/>
              </a:solidFill>
              <a:latin typeface="Arial"/>
            </a:endParaRPr>
          </a:p>
          <a:p>
            <a:endParaRPr lang="en-US" sz="1800" dirty="0">
              <a:solidFill>
                <a:srgbClr val="5A6385"/>
              </a:solidFill>
            </a:endParaRPr>
          </a:p>
          <a:p>
            <a:r>
              <a:rPr lang="en-US" sz="1800" u="sng" dirty="0">
                <a:solidFill>
                  <a:srgbClr val="5A6385"/>
                </a:solidFill>
              </a:rPr>
              <a:t>https://www.kaggle.com/datasets/nehasontakke/amazon-unlocked-mobilecsv</a:t>
            </a:r>
            <a:endParaRPr sz="1800" b="0" i="0" u="sng" dirty="0">
              <a:solidFill>
                <a:srgbClr val="5A63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193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5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Case study 1: the scenario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5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5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5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rgbClr val="5A6385"/>
              </a:buClr>
              <a:buSzPts val="1800"/>
            </a:pPr>
            <a:r>
              <a:rPr lang="en-US" sz="1800" dirty="0">
                <a:solidFill>
                  <a:srgbClr val="5A6385"/>
                </a:solidFill>
                <a:sym typeface="Calibri"/>
              </a:rPr>
              <a:t>26</a:t>
            </a:r>
            <a:endParaRPr sz="1800" dirty="0">
              <a:solidFill>
                <a:srgbClr val="5A6385"/>
              </a:solidFill>
              <a:sym typeface="Calibri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1143000" y="2743200"/>
            <a:ext cx="14630400" cy="320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800" b="1" i="0" spc="216">
                <a:solidFill>
                  <a:srgbClr val="5A6385"/>
                </a:solidFill>
                <a:latin typeface="Arial"/>
              </a:rPr>
              <a:t>THE QUESTION</a:t>
            </a:r>
          </a:p>
        </p:txBody>
      </p:sp>
      <p:sp>
        <p:nvSpPr>
          <p:cNvPr id="1415" name="TextBox 1414"/>
          <p:cNvSpPr txBox="1"/>
          <p:nvPr/>
        </p:nvSpPr>
        <p:spPr>
          <a:xfrm>
            <a:off x="1152140" y="3299228"/>
            <a:ext cx="15087600" cy="8229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3200" b="1" i="0">
                <a:solidFill>
                  <a:srgbClr val="1B2F6B"/>
                </a:solidFill>
                <a:latin typeface="Georgia"/>
              </a:rPr>
              <a:t>“Which reviews mention the SIM card?”</a:t>
            </a:r>
          </a:p>
        </p:txBody>
      </p:sp>
      <p:sp>
        <p:nvSpPr>
          <p:cNvPr id="1418" name="Rounded Rectangle 1417"/>
          <p:cNvSpPr/>
          <p:nvPr/>
        </p:nvSpPr>
        <p:spPr>
          <a:xfrm>
            <a:off x="1152140" y="4499609"/>
            <a:ext cx="3847011" cy="3076576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9" name="TextBox 1418"/>
          <p:cNvSpPr txBox="1"/>
          <p:nvPr/>
        </p:nvSpPr>
        <p:spPr>
          <a:xfrm>
            <a:off x="1426460" y="4524162"/>
            <a:ext cx="750636" cy="1093894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5400" b="1" i="0" dirty="0">
                <a:solidFill>
                  <a:srgbClr val="7895F9"/>
                </a:solidFill>
                <a:latin typeface="Georgia"/>
              </a:rPr>
              <a:t>1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2007105" y="4838156"/>
            <a:ext cx="2721056" cy="683684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800" b="1" i="0" dirty="0">
                <a:solidFill>
                  <a:srgbClr val="1B2F6B"/>
                </a:solidFill>
                <a:latin typeface="Arial"/>
              </a:rPr>
              <a:t>Sample</a:t>
            </a:r>
          </a:p>
        </p:txBody>
      </p:sp>
      <p:sp>
        <p:nvSpPr>
          <p:cNvPr id="1421" name="TextBox 1420"/>
          <p:cNvSpPr txBox="1"/>
          <p:nvPr/>
        </p:nvSpPr>
        <p:spPr>
          <a:xfrm>
            <a:off x="1426460" y="5414008"/>
            <a:ext cx="3284034" cy="1640841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0" i="0" dirty="0">
                <a:solidFill>
                  <a:srgbClr val="26314F"/>
                </a:solidFill>
                <a:latin typeface="Arial"/>
              </a:rPr>
              <a:t>Take 10 real reviews: some about the SIM card, some that only look like it</a:t>
            </a:r>
          </a:p>
        </p:txBody>
      </p:sp>
      <p:sp>
        <p:nvSpPr>
          <p:cNvPr id="1422" name="Rounded Rectangle 1421"/>
          <p:cNvSpPr/>
          <p:nvPr/>
        </p:nvSpPr>
        <p:spPr>
          <a:xfrm>
            <a:off x="5239507" y="4499609"/>
            <a:ext cx="3847011" cy="3076576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3" name="TextBox 1422"/>
          <p:cNvSpPr txBox="1"/>
          <p:nvPr/>
        </p:nvSpPr>
        <p:spPr>
          <a:xfrm>
            <a:off x="5513827" y="4533702"/>
            <a:ext cx="750636" cy="1093894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5400" b="1" i="0" dirty="0">
                <a:solidFill>
                  <a:srgbClr val="7895F9"/>
                </a:solidFill>
                <a:latin typeface="Georgia"/>
              </a:rPr>
              <a:t>2</a:t>
            </a:r>
          </a:p>
        </p:txBody>
      </p:sp>
      <p:sp>
        <p:nvSpPr>
          <p:cNvPr id="1424" name="TextBox 1423"/>
          <p:cNvSpPr txBox="1"/>
          <p:nvPr/>
        </p:nvSpPr>
        <p:spPr>
          <a:xfrm>
            <a:off x="6170634" y="4838156"/>
            <a:ext cx="2721056" cy="683684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800" b="1" i="0" dirty="0">
                <a:solidFill>
                  <a:srgbClr val="1B2F6B"/>
                </a:solidFill>
                <a:latin typeface="Arial"/>
              </a:rPr>
              <a:t>Label</a:t>
            </a:r>
          </a:p>
        </p:txBody>
      </p:sp>
      <p:sp>
        <p:nvSpPr>
          <p:cNvPr id="1425" name="TextBox 1424"/>
          <p:cNvSpPr txBox="1"/>
          <p:nvPr/>
        </p:nvSpPr>
        <p:spPr>
          <a:xfrm>
            <a:off x="5513827" y="5497512"/>
            <a:ext cx="3284034" cy="1640841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0" i="0" dirty="0">
                <a:solidFill>
                  <a:srgbClr val="26314F"/>
                </a:solidFill>
                <a:latin typeface="Arial"/>
              </a:rPr>
              <a:t>A human reads each review and writes yes / no: the ground truth</a:t>
            </a:r>
          </a:p>
        </p:txBody>
      </p:sp>
      <p:sp>
        <p:nvSpPr>
          <p:cNvPr id="1426" name="Rounded Rectangle 1425"/>
          <p:cNvSpPr/>
          <p:nvPr/>
        </p:nvSpPr>
        <p:spPr>
          <a:xfrm>
            <a:off x="9326874" y="4499609"/>
            <a:ext cx="3847011" cy="3076576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7" name="TextBox 1426"/>
          <p:cNvSpPr txBox="1"/>
          <p:nvPr/>
        </p:nvSpPr>
        <p:spPr>
          <a:xfrm>
            <a:off x="9601194" y="4636769"/>
            <a:ext cx="750636" cy="1093894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4400" b="1" i="0">
                <a:solidFill>
                  <a:srgbClr val="7895F9"/>
                </a:solidFill>
                <a:latin typeface="Georgia"/>
              </a:rPr>
              <a:t>3</a:t>
            </a:r>
          </a:p>
        </p:txBody>
      </p:sp>
      <p:sp>
        <p:nvSpPr>
          <p:cNvPr id="1428" name="TextBox 1427"/>
          <p:cNvSpPr txBox="1"/>
          <p:nvPr/>
        </p:nvSpPr>
        <p:spPr>
          <a:xfrm>
            <a:off x="10258001" y="4850130"/>
            <a:ext cx="2721056" cy="683684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800" b="1" i="0" dirty="0">
                <a:solidFill>
                  <a:srgbClr val="1B2F6B"/>
                </a:solidFill>
                <a:latin typeface="Arial"/>
              </a:rPr>
              <a:t>Write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9608362" y="5552483"/>
            <a:ext cx="3284034" cy="1640841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0" i="0" dirty="0">
                <a:solidFill>
                  <a:srgbClr val="26314F"/>
                </a:solidFill>
                <a:latin typeface="Arial"/>
              </a:rPr>
              <a:t>Write a regex, run it on all 10 reviews</a:t>
            </a:r>
          </a:p>
        </p:txBody>
      </p:sp>
      <p:sp>
        <p:nvSpPr>
          <p:cNvPr id="1430" name="Rounded Rectangle 1429"/>
          <p:cNvSpPr/>
          <p:nvPr/>
        </p:nvSpPr>
        <p:spPr>
          <a:xfrm>
            <a:off x="13448205" y="4524162"/>
            <a:ext cx="3847011" cy="3076576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1" name="TextBox 1430"/>
          <p:cNvSpPr txBox="1"/>
          <p:nvPr/>
        </p:nvSpPr>
        <p:spPr>
          <a:xfrm>
            <a:off x="13688561" y="4636769"/>
            <a:ext cx="750636" cy="1093894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4400" b="1" i="0">
                <a:solidFill>
                  <a:srgbClr val="7895F9"/>
                </a:solidFill>
                <a:latin typeface="Georgia"/>
              </a:rPr>
              <a:t>4</a:t>
            </a:r>
          </a:p>
        </p:txBody>
      </p:sp>
      <p:sp>
        <p:nvSpPr>
          <p:cNvPr id="1432" name="TextBox 1431"/>
          <p:cNvSpPr txBox="1"/>
          <p:nvPr/>
        </p:nvSpPr>
        <p:spPr>
          <a:xfrm>
            <a:off x="14251539" y="4876318"/>
            <a:ext cx="2721056" cy="683684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800" b="1" i="0" dirty="0">
                <a:solidFill>
                  <a:srgbClr val="1B2F6B"/>
                </a:solidFill>
                <a:latin typeface="Arial"/>
              </a:rPr>
              <a:t>Measure &amp; fix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13688561" y="5533814"/>
            <a:ext cx="3284034" cy="1640841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0" i="0" dirty="0">
                <a:solidFill>
                  <a:srgbClr val="26314F"/>
                </a:solidFill>
                <a:latin typeface="Arial"/>
              </a:rPr>
              <a:t>Count the errors, compute precision and recall, improve the regex, repeat</a:t>
            </a:r>
          </a:p>
        </p:txBody>
      </p:sp>
      <p:sp>
        <p:nvSpPr>
          <p:cNvPr id="1435" name="TextBox 1434"/>
          <p:cNvSpPr txBox="1"/>
          <p:nvPr/>
        </p:nvSpPr>
        <p:spPr>
          <a:xfrm>
            <a:off x="1152140" y="8703946"/>
            <a:ext cx="160020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1" i="0" dirty="0">
                <a:solidFill>
                  <a:srgbClr val="1B2F6B"/>
                </a:solidFill>
                <a:latin typeface="+mn-lt"/>
              </a:rPr>
              <a:t>Steps 3 and 4 repeat: the regex is written in versions, each one fixing the last one’s errors.</a:t>
            </a:r>
          </a:p>
        </p:txBody>
      </p:sp>
    </p:spTree>
    <p:extLst>
      <p:ext uri="{BB962C8B-B14F-4D97-AF65-F5344CB8AC3E}">
        <p14:creationId xmlns:p14="http://schemas.microsoft.com/office/powerpoint/2010/main" val="2026349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5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The 10 reviews and their ground truth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5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5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5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4" name="Table 1413"/>
          <p:cNvGraphicFramePr>
            <a:graphicFrameLocks noGrp="1"/>
          </p:cNvGraphicFramePr>
          <p:nvPr>
            <p:extLst/>
          </p:nvPr>
        </p:nvGraphicFramePr>
        <p:xfrm>
          <a:off x="1142998" y="2697484"/>
          <a:ext cx="15912928" cy="54537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1633"/>
                <a:gridCol w="10577417"/>
                <a:gridCol w="2808164"/>
                <a:gridCol w="1965714"/>
              </a:tblGrid>
              <a:tr h="495795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4224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4224F"/>
                          </a:solidFill>
                          <a:latin typeface="Arial"/>
                        </a:rPr>
                        <a:t>Review (excerpt)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4224F"/>
                          </a:solidFill>
                          <a:latin typeface="Arial"/>
                        </a:rPr>
                        <a:t>How “sim” appears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4224F"/>
                          </a:solidFill>
                          <a:latin typeface="Arial"/>
                        </a:rPr>
                        <a:t>Mentions SIM?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…We just took the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sim card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 from the old Verizon Samsung and put it in this one…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F4FD8"/>
                          </a:solidFill>
                          <a:latin typeface="Courier New"/>
                        </a:rPr>
                        <a:t>sim card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…My husband put his old iPhones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SIM card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 in it and it now works with AT&amp;T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F4FD8"/>
                          </a:solidFill>
                          <a:latin typeface="Courier New"/>
                        </a:rPr>
                        <a:t>SIM card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I did not get a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Sim card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 with phone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F4FD8"/>
                          </a:solidFill>
                          <a:latin typeface="Courier New"/>
                        </a:rPr>
                        <a:t>Sim card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…a non-verizon machine. which doesn't work with verizon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simcard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F4FD8"/>
                          </a:solidFill>
                          <a:latin typeface="Courier New"/>
                        </a:rPr>
                        <a:t>simcard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…it came with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sims card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, charger, and headphones.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F4FD8"/>
                          </a:solidFill>
                          <a:latin typeface="Courier New"/>
                        </a:rPr>
                        <a:t>sims card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…connected thru Verizon service and their free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SIMM Card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F4FD8"/>
                          </a:solidFill>
                          <a:latin typeface="Courier New"/>
                        </a:rPr>
                        <a:t>SIMM Card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B2F6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…Super reliable and </a:t>
                      </a:r>
                      <a:r>
                        <a:rPr sz="1700" b="1">
                          <a:solidFill>
                            <a:srgbClr val="C2560A"/>
                          </a:solidFill>
                          <a:latin typeface="Arial"/>
                        </a:rPr>
                        <a:t>simple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 to use. Battery life could be better…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C2560A"/>
                          </a:solidFill>
                          <a:latin typeface="Courier New"/>
                        </a:rPr>
                        <a:t>simple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5A6385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Phone purchased as replacement for </a:t>
                      </a:r>
                      <a:r>
                        <a:rPr sz="1700" b="1">
                          <a:solidFill>
                            <a:srgbClr val="C2560A"/>
                          </a:solidFill>
                          <a:latin typeface="Arial"/>
                        </a:rPr>
                        <a:t>similar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 phone…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C2560A"/>
                          </a:solidFill>
                          <a:latin typeface="Courier New"/>
                        </a:rPr>
                        <a:t>similar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5A6385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C2560A"/>
                          </a:solidFill>
                          <a:latin typeface="Arial"/>
                        </a:rPr>
                        <a:t>Simple</a:t>
                      </a:r>
                      <a:r>
                        <a:rPr sz="1700" dirty="0">
                          <a:solidFill>
                            <a:srgbClr val="26314F"/>
                          </a:solidFill>
                          <a:latin typeface="Arial"/>
                        </a:rPr>
                        <a:t> to use. Easy set up. Amazing!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C2560A"/>
                          </a:solidFill>
                          <a:latin typeface="Courier New"/>
                        </a:rPr>
                        <a:t>Simple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5A6385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4957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26314F"/>
                          </a:solidFill>
                          <a:latin typeface="Arial"/>
                        </a:rPr>
                        <a:t>It was </a:t>
                      </a:r>
                      <a:r>
                        <a:rPr sz="1700" b="1" dirty="0">
                          <a:solidFill>
                            <a:srgbClr val="C2560A"/>
                          </a:solidFill>
                          <a:latin typeface="Arial"/>
                        </a:rPr>
                        <a:t>simply</a:t>
                      </a:r>
                      <a:r>
                        <a:rPr sz="1700" dirty="0">
                          <a:solidFill>
                            <a:srgbClr val="26314F"/>
                          </a:solidFill>
                          <a:latin typeface="Arial"/>
                        </a:rPr>
                        <a:t> awesome. No complaints at all.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C2560A"/>
                          </a:solidFill>
                          <a:latin typeface="Courier New"/>
                        </a:rPr>
                        <a:t>simply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5A6385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5" name="TextBox 1414"/>
          <p:cNvSpPr txBox="1"/>
          <p:nvPr/>
        </p:nvSpPr>
        <p:spPr>
          <a:xfrm>
            <a:off x="1112758" y="8400778"/>
            <a:ext cx="160020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800" b="1" i="0" dirty="0">
                <a:solidFill>
                  <a:srgbClr val="2F4FD8"/>
                </a:solidFill>
                <a:latin typeface="Arial"/>
              </a:rPr>
              <a:t>■ </a:t>
            </a:r>
            <a:r>
              <a:rPr sz="1800" b="0" i="0" dirty="0">
                <a:solidFill>
                  <a:srgbClr val="5A6385"/>
                </a:solidFill>
                <a:latin typeface="Arial"/>
              </a:rPr>
              <a:t>the SIM card, in 6 different spellings     </a:t>
            </a:r>
            <a:r>
              <a:rPr sz="1800" b="1" i="0" dirty="0">
                <a:solidFill>
                  <a:srgbClr val="C2560A"/>
                </a:solidFill>
                <a:latin typeface="Arial"/>
              </a:rPr>
              <a:t>■ </a:t>
            </a:r>
            <a:r>
              <a:rPr sz="1800" b="0" i="0" dirty="0">
                <a:solidFill>
                  <a:srgbClr val="5A6385"/>
                </a:solidFill>
                <a:latin typeface="Arial"/>
              </a:rPr>
              <a:t>other words that only contain the letters “</a:t>
            </a:r>
            <a:r>
              <a:rPr sz="1800" b="0" i="0" dirty="0" err="1">
                <a:solidFill>
                  <a:srgbClr val="5A6385"/>
                </a:solidFill>
                <a:latin typeface="Arial"/>
              </a:rPr>
              <a:t>sim</a:t>
            </a:r>
            <a:r>
              <a:rPr sz="1800" b="0" i="0" dirty="0">
                <a:solidFill>
                  <a:srgbClr val="5A6385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2437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5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How we score a regex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5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5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5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1143000" y="2743200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800" b="1" i="0" spc="216">
                <a:solidFill>
                  <a:srgbClr val="5A6385"/>
                </a:solidFill>
                <a:latin typeface="Arial"/>
              </a:rPr>
              <a:t>FOR EVERY REVIEW, TWO QUESTIONS</a:t>
            </a:r>
          </a:p>
        </p:txBody>
      </p:sp>
      <p:sp>
        <p:nvSpPr>
          <p:cNvPr id="1415" name="TextBox 1414"/>
          <p:cNvSpPr txBox="1"/>
          <p:nvPr/>
        </p:nvSpPr>
        <p:spPr>
          <a:xfrm>
            <a:off x="1143000" y="3350895"/>
            <a:ext cx="6949440" cy="12801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2000" b="1" i="0">
                <a:solidFill>
                  <a:srgbClr val="1B2F6B"/>
                </a:solidFill>
                <a:latin typeface="Arial"/>
              </a:rPr>
              <a:t>Did the regex match?  </a:t>
            </a:r>
            <a:r>
              <a:rPr sz="2000" b="0" i="0">
                <a:solidFill>
                  <a:srgbClr val="5A6385"/>
                </a:solidFill>
                <a:latin typeface="Arial"/>
              </a:rPr>
              <a:t>(the regex’s answer)</a:t>
            </a:r>
          </a:p>
          <a:p>
            <a:pPr>
              <a:lnSpc>
                <a:spcPct val="118000"/>
              </a:lnSpc>
            </a:pPr>
            <a:r>
              <a:rPr sz="2000" b="1" i="0">
                <a:solidFill>
                  <a:srgbClr val="1B2F6B"/>
                </a:solidFill>
                <a:latin typeface="Arial"/>
              </a:rPr>
              <a:t>Should it have matched?  </a:t>
            </a:r>
            <a:r>
              <a:rPr sz="2000" b="0" i="0">
                <a:solidFill>
                  <a:srgbClr val="5A6385"/>
                </a:solidFill>
                <a:latin typeface="Arial"/>
              </a:rPr>
              <a:t>(the ground truth)</a:t>
            </a:r>
          </a:p>
        </p:txBody>
      </p:sp>
      <p:sp>
        <p:nvSpPr>
          <p:cNvPr id="1416" name="TextBox 1415"/>
          <p:cNvSpPr txBox="1"/>
          <p:nvPr/>
        </p:nvSpPr>
        <p:spPr>
          <a:xfrm>
            <a:off x="3063240" y="4608195"/>
            <a:ext cx="475488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1700" b="1" i="0">
                <a:solidFill>
                  <a:srgbClr val="5A6385"/>
                </a:solidFill>
                <a:latin typeface="Arial"/>
              </a:rPr>
              <a:t>Ground truth: mentions SIM?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3063240" y="5019675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1700" b="1" i="0">
                <a:solidFill>
                  <a:srgbClr val="1B2F6B"/>
                </a:solidFill>
                <a:latin typeface="Arial"/>
              </a:rPr>
              <a:t>yes</a:t>
            </a:r>
          </a:p>
        </p:txBody>
      </p:sp>
      <p:sp>
        <p:nvSpPr>
          <p:cNvPr id="1418" name="TextBox 1417"/>
          <p:cNvSpPr txBox="1"/>
          <p:nvPr/>
        </p:nvSpPr>
        <p:spPr>
          <a:xfrm>
            <a:off x="5440680" y="5019675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1700" b="1" i="0">
                <a:solidFill>
                  <a:srgbClr val="1B2F6B"/>
                </a:solidFill>
                <a:latin typeface="Arial"/>
              </a:rPr>
              <a:t>no</a:t>
            </a:r>
          </a:p>
        </p:txBody>
      </p:sp>
      <p:sp>
        <p:nvSpPr>
          <p:cNvPr id="1419" name="TextBox 1418"/>
          <p:cNvSpPr txBox="1"/>
          <p:nvPr/>
        </p:nvSpPr>
        <p:spPr>
          <a:xfrm>
            <a:off x="1143000" y="5796915"/>
            <a:ext cx="18288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700" b="1" i="0">
                <a:solidFill>
                  <a:srgbClr val="1B2F6B"/>
                </a:solidFill>
                <a:latin typeface="Arial"/>
              </a:rPr>
              <a:t>Regex matched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1143000" y="6848475"/>
            <a:ext cx="18288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700" b="1" i="0">
                <a:solidFill>
                  <a:srgbClr val="1B2F6B"/>
                </a:solidFill>
                <a:latin typeface="Arial"/>
              </a:rPr>
              <a:t>Regex silent</a:t>
            </a:r>
          </a:p>
        </p:txBody>
      </p:sp>
      <p:sp>
        <p:nvSpPr>
          <p:cNvPr id="1421" name="Rounded Rectangle 1420"/>
          <p:cNvSpPr/>
          <p:nvPr/>
        </p:nvSpPr>
        <p:spPr>
          <a:xfrm>
            <a:off x="3108960" y="5476875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2" name="TextBox 1421"/>
          <p:cNvSpPr txBox="1"/>
          <p:nvPr/>
        </p:nvSpPr>
        <p:spPr>
          <a:xfrm>
            <a:off x="3108960" y="5550027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1B2F6B"/>
                </a:solidFill>
                <a:latin typeface="Georgia"/>
              </a:rPr>
              <a:t>TP</a:t>
            </a:r>
          </a:p>
        </p:txBody>
      </p:sp>
      <p:sp>
        <p:nvSpPr>
          <p:cNvPr id="1423" name="TextBox 1422"/>
          <p:cNvSpPr txBox="1"/>
          <p:nvPr/>
        </p:nvSpPr>
        <p:spPr>
          <a:xfrm>
            <a:off x="3108960" y="6007227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26314F"/>
                </a:solidFill>
                <a:latin typeface="Arial"/>
              </a:rPr>
              <a:t>found it, correct</a:t>
            </a:r>
          </a:p>
        </p:txBody>
      </p:sp>
      <p:sp>
        <p:nvSpPr>
          <p:cNvPr id="1424" name="Rounded Rectangle 1423"/>
          <p:cNvSpPr/>
          <p:nvPr/>
        </p:nvSpPr>
        <p:spPr>
          <a:xfrm>
            <a:off x="5486400" y="5476875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5" name="TextBox 1424"/>
          <p:cNvSpPr txBox="1"/>
          <p:nvPr/>
        </p:nvSpPr>
        <p:spPr>
          <a:xfrm>
            <a:off x="5486400" y="5550027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C2560A"/>
                </a:solidFill>
                <a:latin typeface="Georgia"/>
              </a:rPr>
              <a:t>FP</a:t>
            </a:r>
          </a:p>
        </p:txBody>
      </p:sp>
      <p:sp>
        <p:nvSpPr>
          <p:cNvPr id="1426" name="TextBox 1425"/>
          <p:cNvSpPr txBox="1"/>
          <p:nvPr/>
        </p:nvSpPr>
        <p:spPr>
          <a:xfrm>
            <a:off x="5486400" y="6007227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26314F"/>
                </a:solidFill>
                <a:latin typeface="Arial"/>
              </a:rPr>
              <a:t>found it, wrong</a:t>
            </a:r>
          </a:p>
        </p:txBody>
      </p:sp>
      <p:sp>
        <p:nvSpPr>
          <p:cNvPr id="1427" name="Rounded Rectangle 1426"/>
          <p:cNvSpPr/>
          <p:nvPr/>
        </p:nvSpPr>
        <p:spPr>
          <a:xfrm>
            <a:off x="3108960" y="6528435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8" name="TextBox 1427"/>
          <p:cNvSpPr txBox="1"/>
          <p:nvPr/>
        </p:nvSpPr>
        <p:spPr>
          <a:xfrm>
            <a:off x="3108960" y="6601587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C2560A"/>
                </a:solidFill>
                <a:latin typeface="Georgia"/>
              </a:rPr>
              <a:t>FN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3108960" y="7058787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26314F"/>
                </a:solidFill>
                <a:latin typeface="Arial"/>
              </a:rPr>
              <a:t>missed it</a:t>
            </a:r>
          </a:p>
        </p:txBody>
      </p:sp>
      <p:sp>
        <p:nvSpPr>
          <p:cNvPr id="1430" name="Rounded Rectangle 1429"/>
          <p:cNvSpPr/>
          <p:nvPr/>
        </p:nvSpPr>
        <p:spPr>
          <a:xfrm>
            <a:off x="5486400" y="6528435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1" name="TextBox 1430"/>
          <p:cNvSpPr txBox="1"/>
          <p:nvPr/>
        </p:nvSpPr>
        <p:spPr>
          <a:xfrm>
            <a:off x="5486400" y="6601587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5A6385"/>
                </a:solidFill>
                <a:latin typeface="Georgia"/>
              </a:rPr>
              <a:t>TN</a:t>
            </a:r>
          </a:p>
        </p:txBody>
      </p:sp>
      <p:sp>
        <p:nvSpPr>
          <p:cNvPr id="1432" name="TextBox 1431"/>
          <p:cNvSpPr txBox="1"/>
          <p:nvPr/>
        </p:nvSpPr>
        <p:spPr>
          <a:xfrm>
            <a:off x="5486400" y="7058787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26314F"/>
                </a:solidFill>
                <a:latin typeface="Arial"/>
              </a:rPr>
              <a:t>ignored, correct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9287691" y="2713127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800" b="1" i="0" spc="216" dirty="0">
                <a:solidFill>
                  <a:srgbClr val="5A6385"/>
                </a:solidFill>
                <a:latin typeface="Arial"/>
              </a:rPr>
              <a:t>TWO NUMBERS FROM THE COUNTS</a:t>
            </a:r>
          </a:p>
        </p:txBody>
      </p:sp>
      <p:sp>
        <p:nvSpPr>
          <p:cNvPr id="1434" name="Rounded Rectangle 1433"/>
          <p:cNvSpPr/>
          <p:nvPr/>
        </p:nvSpPr>
        <p:spPr>
          <a:xfrm>
            <a:off x="9287691" y="3239343"/>
            <a:ext cx="7132320" cy="2103120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5" name="TextBox 1434"/>
          <p:cNvSpPr txBox="1"/>
          <p:nvPr/>
        </p:nvSpPr>
        <p:spPr>
          <a:xfrm>
            <a:off x="9607731" y="3313366"/>
            <a:ext cx="6583680" cy="19202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2600" b="1" i="0" dirty="0">
                <a:solidFill>
                  <a:srgbClr val="1B2F6B"/>
                </a:solidFill>
                <a:latin typeface="Georgia"/>
              </a:rPr>
              <a:t>Precision</a:t>
            </a:r>
            <a:r>
              <a:rPr sz="2200" b="1" i="0" dirty="0">
                <a:solidFill>
                  <a:srgbClr val="1B2F6B"/>
                </a:solidFill>
                <a:latin typeface="Courier New"/>
              </a:rPr>
              <a:t>  =  TP / (TP + FP)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900" b="0" i="0" dirty="0">
                <a:solidFill>
                  <a:srgbClr val="26314F"/>
                </a:solidFill>
                <a:latin typeface="Arial"/>
              </a:rPr>
              <a:t>Of everything the regex found, how much was right?</a:t>
            </a:r>
          </a:p>
          <a:p>
            <a:pPr>
              <a:lnSpc>
                <a:spcPct val="118000"/>
              </a:lnSpc>
            </a:pPr>
            <a:r>
              <a:rPr sz="1800" b="0" i="0" dirty="0">
                <a:solidFill>
                  <a:srgbClr val="5A6385"/>
                </a:solidFill>
                <a:latin typeface="Arial"/>
              </a:rPr>
              <a:t>Hurt by false positives: “simple” counted as SIM</a:t>
            </a:r>
          </a:p>
        </p:txBody>
      </p:sp>
      <p:sp>
        <p:nvSpPr>
          <p:cNvPr id="1436" name="Rounded Rectangle 1435"/>
          <p:cNvSpPr/>
          <p:nvPr/>
        </p:nvSpPr>
        <p:spPr>
          <a:xfrm>
            <a:off x="9287691" y="5525833"/>
            <a:ext cx="7132320" cy="2103120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7" name="TextBox 1436"/>
          <p:cNvSpPr txBox="1"/>
          <p:nvPr/>
        </p:nvSpPr>
        <p:spPr>
          <a:xfrm>
            <a:off x="9607731" y="5645086"/>
            <a:ext cx="6583680" cy="19202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2600" b="1" i="0" dirty="0">
                <a:solidFill>
                  <a:srgbClr val="1B2F6B"/>
                </a:solidFill>
                <a:latin typeface="Georgia"/>
              </a:rPr>
              <a:t>Recall</a:t>
            </a:r>
            <a:r>
              <a:rPr sz="2200" b="1" i="0" dirty="0">
                <a:solidFill>
                  <a:srgbClr val="1B2F6B"/>
                </a:solidFill>
                <a:latin typeface="Courier New"/>
              </a:rPr>
              <a:t>  =  TP / (TP + FN)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900" b="0" i="0" dirty="0">
                <a:solidFill>
                  <a:srgbClr val="26314F"/>
                </a:solidFill>
                <a:latin typeface="Arial"/>
              </a:rPr>
              <a:t>Of everything that should be found, how much did it find?</a:t>
            </a:r>
          </a:p>
          <a:p>
            <a:pPr>
              <a:lnSpc>
                <a:spcPct val="118000"/>
              </a:lnSpc>
            </a:pPr>
            <a:r>
              <a:rPr sz="1800" b="0" i="0" dirty="0">
                <a:solidFill>
                  <a:srgbClr val="5A6385"/>
                </a:solidFill>
                <a:latin typeface="Arial"/>
              </a:rPr>
              <a:t>Hurt by false negatives: “SIM card” missed</a:t>
            </a:r>
          </a:p>
        </p:txBody>
      </p:sp>
      <p:sp>
        <p:nvSpPr>
          <p:cNvPr id="1438" name="TextBox 1437"/>
          <p:cNvSpPr txBox="1"/>
          <p:nvPr/>
        </p:nvSpPr>
        <p:spPr>
          <a:xfrm>
            <a:off x="1143000" y="7973187"/>
            <a:ext cx="7589520" cy="4572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700" b="0" i="1" dirty="0">
                <a:solidFill>
                  <a:srgbClr val="5A6385"/>
                </a:solidFill>
                <a:latin typeface="Arial"/>
              </a:rPr>
              <a:t>TN is not used: in search tasks most texts are TN, so it says little.</a:t>
            </a:r>
          </a:p>
        </p:txBody>
      </p:sp>
    </p:spTree>
    <p:extLst>
      <p:ext uri="{BB962C8B-B14F-4D97-AF65-F5344CB8AC3E}">
        <p14:creationId xmlns:p14="http://schemas.microsoft.com/office/powerpoint/2010/main" val="4169353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5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Case study 1: </a:t>
            </a:r>
            <a:r>
              <a:rPr lang="en-US" sz="45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The iterative process of writing regex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5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55"/>
          <p:cNvSpPr/>
          <p:nvPr/>
        </p:nvSpPr>
        <p:spPr>
          <a:xfrm>
            <a:off x="1143000" y="2762250"/>
            <a:ext cx="17602200" cy="47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Task: find every review that mentions the SIM card.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55"/>
          <p:cNvSpPr/>
          <p:nvPr/>
        </p:nvSpPr>
        <p:spPr>
          <a:xfrm>
            <a:off x="1143000" y="7286179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55"/>
          <p:cNvSpPr/>
          <p:nvPr/>
        </p:nvSpPr>
        <p:spPr>
          <a:xfrm>
            <a:off x="1143000" y="3451771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55"/>
          <p:cNvSpPr/>
          <p:nvPr/>
        </p:nvSpPr>
        <p:spPr>
          <a:xfrm>
            <a:off x="1143000" y="3670846"/>
            <a:ext cx="62865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sim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55"/>
          <p:cNvSpPr/>
          <p:nvPr/>
        </p:nvSpPr>
        <p:spPr>
          <a:xfrm>
            <a:off x="7315200" y="3689896"/>
            <a:ext cx="1081278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Misses “SIM card”, “Sim card”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5"/>
          <p:cNvSpPr/>
          <p:nvPr/>
        </p:nvSpPr>
        <p:spPr>
          <a:xfrm>
            <a:off x="7315200" y="4133701"/>
            <a:ext cx="1081278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Finds “simple”, “similar”, “simply”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55"/>
          <p:cNvSpPr/>
          <p:nvPr/>
        </p:nvSpPr>
        <p:spPr>
          <a:xfrm>
            <a:off x="1143000" y="4729907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55"/>
          <p:cNvSpPr/>
          <p:nvPr/>
        </p:nvSpPr>
        <p:spPr>
          <a:xfrm>
            <a:off x="1143000" y="4948982"/>
            <a:ext cx="62865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[sS][iI][mM]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55"/>
          <p:cNvSpPr/>
          <p:nvPr/>
        </p:nvSpPr>
        <p:spPr>
          <a:xfrm>
            <a:off x="7315200" y="4968032"/>
            <a:ext cx="1081278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Finds every SIM review, in any case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55"/>
          <p:cNvSpPr/>
          <p:nvPr/>
        </p:nvSpPr>
        <p:spPr>
          <a:xfrm>
            <a:off x="7315200" y="5411837"/>
            <a:ext cx="1081278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Still finds “simple”, “Simple”, “similar”, “simply”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55"/>
          <p:cNvSpPr/>
          <p:nvPr/>
        </p:nvSpPr>
        <p:spPr>
          <a:xfrm>
            <a:off x="1143000" y="6008043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1143000" y="6227118"/>
            <a:ext cx="62865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Courier New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\b[sS][iI][mM][sS]?\b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5"/>
          <p:cNvSpPr/>
          <p:nvPr/>
        </p:nvSpPr>
        <p:spPr>
          <a:xfrm>
            <a:off x="7315200" y="6246168"/>
            <a:ext cx="1081278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No more “simple” or “similar”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55"/>
          <p:cNvSpPr/>
          <p:nvPr/>
        </p:nvSpPr>
        <p:spPr>
          <a:xfrm>
            <a:off x="7315200" y="6689973"/>
            <a:ext cx="10812780" cy="42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But now misses “verizon simcard” and “free SIMM Card”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55"/>
          <p:cNvSpPr/>
          <p:nvPr/>
        </p:nvSpPr>
        <p:spPr>
          <a:xfrm>
            <a:off x="1143000" y="7744644"/>
            <a:ext cx="17602200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Georgia"/>
              <a:buNone/>
            </a:pPr>
            <a:r>
              <a:rPr lang="en-US" sz="2400" b="1" i="0" u="none" strike="noStrike" cap="none" dirty="0">
                <a:solidFill>
                  <a:srgbClr val="1B2F6B"/>
                </a:solidFill>
                <a:latin typeface="+mn-lt"/>
                <a:ea typeface="Georgia"/>
                <a:cs typeface="Georgia"/>
                <a:sym typeface="Georgia"/>
              </a:rPr>
              <a:t>Each fix removes one kind of error, and can let in the other.</a:t>
            </a:r>
            <a:endParaRPr sz="24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55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5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357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5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Case study 1: the reasoning behind each version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5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5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5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Rounded Rectangle 1413"/>
          <p:cNvSpPr/>
          <p:nvPr/>
        </p:nvSpPr>
        <p:spPr>
          <a:xfrm>
            <a:off x="1143000" y="2647950"/>
            <a:ext cx="5029200" cy="6211389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5" name="TextBox 1414"/>
          <p:cNvSpPr txBox="1"/>
          <p:nvPr/>
        </p:nvSpPr>
        <p:spPr>
          <a:xfrm>
            <a:off x="1417320" y="2785111"/>
            <a:ext cx="914400" cy="671502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3000" b="1" i="0">
                <a:solidFill>
                  <a:srgbClr val="7895F9"/>
                </a:solidFill>
                <a:latin typeface="Georgia"/>
              </a:rPr>
              <a:t>v1</a:t>
            </a:r>
          </a:p>
        </p:txBody>
      </p:sp>
      <p:sp>
        <p:nvSpPr>
          <p:cNvPr id="1416" name="TextBox 1415"/>
          <p:cNvSpPr txBox="1"/>
          <p:nvPr/>
        </p:nvSpPr>
        <p:spPr>
          <a:xfrm>
            <a:off x="2259874" y="2902911"/>
            <a:ext cx="3749040" cy="559585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1" i="0" dirty="0" err="1">
                <a:solidFill>
                  <a:srgbClr val="1B2F6B"/>
                </a:solidFill>
                <a:latin typeface="Courier New"/>
              </a:rPr>
              <a:t>sim</a:t>
            </a:r>
            <a:endParaRPr sz="2400" b="1" i="0" dirty="0">
              <a:solidFill>
                <a:srgbClr val="1B2F6B"/>
              </a:solidFill>
              <a:latin typeface="Courier New"/>
            </a:endParaRPr>
          </a:p>
        </p:txBody>
      </p:sp>
      <p:sp>
        <p:nvSpPr>
          <p:cNvPr id="1417" name="TextBox 1416"/>
          <p:cNvSpPr txBox="1"/>
          <p:nvPr/>
        </p:nvSpPr>
        <p:spPr>
          <a:xfrm>
            <a:off x="1417320" y="3589907"/>
            <a:ext cx="4480560" cy="39170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000" b="1" i="0" dirty="0">
                <a:solidFill>
                  <a:srgbClr val="5A6385"/>
                </a:solidFill>
                <a:latin typeface="Arial"/>
              </a:rPr>
              <a:t>THOUGHT</a:t>
            </a:r>
          </a:p>
        </p:txBody>
      </p:sp>
      <p:sp>
        <p:nvSpPr>
          <p:cNvPr id="1418" name="TextBox 1417"/>
          <p:cNvSpPr txBox="1"/>
          <p:nvPr/>
        </p:nvSpPr>
        <p:spPr>
          <a:xfrm>
            <a:off x="1417320" y="4003229"/>
            <a:ext cx="4480560" cy="559585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200" b="1" i="0" dirty="0">
                <a:solidFill>
                  <a:srgbClr val="1B2F6B"/>
                </a:solidFill>
                <a:latin typeface="Arial"/>
              </a:rPr>
              <a:t>Start with the obvious</a:t>
            </a:r>
          </a:p>
        </p:txBody>
      </p:sp>
      <p:sp>
        <p:nvSpPr>
          <p:cNvPr id="1419" name="TextBox 1418"/>
          <p:cNvSpPr txBox="1"/>
          <p:nvPr/>
        </p:nvSpPr>
        <p:spPr>
          <a:xfrm>
            <a:off x="1417320" y="4430699"/>
            <a:ext cx="4480560" cy="111916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200" b="0" i="0" dirty="0">
                <a:solidFill>
                  <a:srgbClr val="26314F"/>
                </a:solidFill>
                <a:latin typeface="Arial"/>
              </a:rPr>
              <a:t>The word we want is “</a:t>
            </a:r>
            <a:r>
              <a:rPr sz="2200" b="0" i="0" dirty="0" err="1">
                <a:solidFill>
                  <a:srgbClr val="26314F"/>
                </a:solidFill>
                <a:latin typeface="Arial"/>
              </a:rPr>
              <a:t>sim</a:t>
            </a:r>
            <a:r>
              <a:rPr sz="2200" b="0" i="0" dirty="0">
                <a:solidFill>
                  <a:srgbClr val="26314F"/>
                </a:solidFill>
                <a:latin typeface="Arial"/>
              </a:rPr>
              <a:t>”, so search for exactly that text.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1417320" y="5652245"/>
            <a:ext cx="4480560" cy="39170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000" b="1" i="0" dirty="0">
                <a:solidFill>
                  <a:srgbClr val="5A6385"/>
                </a:solidFill>
                <a:latin typeface="Arial"/>
              </a:rPr>
              <a:t>RESULT</a:t>
            </a:r>
          </a:p>
        </p:txBody>
      </p:sp>
      <p:sp>
        <p:nvSpPr>
          <p:cNvPr id="1421" name="TextBox 1420"/>
          <p:cNvSpPr txBox="1"/>
          <p:nvPr/>
        </p:nvSpPr>
        <p:spPr>
          <a:xfrm>
            <a:off x="1417320" y="5995592"/>
            <a:ext cx="4480560" cy="123108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200" b="0" i="0" dirty="0">
                <a:solidFill>
                  <a:srgbClr val="26314F"/>
                </a:solidFill>
                <a:latin typeface="Arial"/>
              </a:rPr>
              <a:t>Regex is case-sensitive and does not know about words: misses “SIM”, finds “simple”.</a:t>
            </a:r>
          </a:p>
        </p:txBody>
      </p:sp>
      <p:sp>
        <p:nvSpPr>
          <p:cNvPr id="1422" name="TextBox 1421"/>
          <p:cNvSpPr txBox="1"/>
          <p:nvPr/>
        </p:nvSpPr>
        <p:spPr>
          <a:xfrm>
            <a:off x="1417320" y="7600329"/>
            <a:ext cx="4480560" cy="1007252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700" b="1" i="0" dirty="0">
                <a:solidFill>
                  <a:srgbClr val="5A6385"/>
                </a:solidFill>
                <a:latin typeface="Arial"/>
              </a:rPr>
              <a:t>TP 3 · FP 3 · FN 3</a:t>
            </a:r>
          </a:p>
          <a:p>
            <a:pPr>
              <a:lnSpc>
                <a:spcPct val="118000"/>
              </a:lnSpc>
            </a:pPr>
            <a:r>
              <a:rPr sz="2000" b="1" i="0" dirty="0">
                <a:solidFill>
                  <a:srgbClr val="1B2F6B"/>
                </a:solidFill>
                <a:latin typeface="Arial"/>
              </a:rPr>
              <a:t>P 50% · R 50%</a:t>
            </a:r>
          </a:p>
        </p:txBody>
      </p:sp>
      <p:sp>
        <p:nvSpPr>
          <p:cNvPr id="1423" name="Rounded Rectangle 1422"/>
          <p:cNvSpPr/>
          <p:nvPr/>
        </p:nvSpPr>
        <p:spPr>
          <a:xfrm>
            <a:off x="6629400" y="2647950"/>
            <a:ext cx="5029200" cy="6211389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4" name="TextBox 1423"/>
          <p:cNvSpPr txBox="1"/>
          <p:nvPr/>
        </p:nvSpPr>
        <p:spPr>
          <a:xfrm>
            <a:off x="6903720" y="2785111"/>
            <a:ext cx="914400" cy="671502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3000" b="1" i="0">
                <a:solidFill>
                  <a:srgbClr val="7895F9"/>
                </a:solidFill>
                <a:latin typeface="Georgia"/>
              </a:rPr>
              <a:t>v2</a:t>
            </a:r>
          </a:p>
        </p:txBody>
      </p:sp>
      <p:sp>
        <p:nvSpPr>
          <p:cNvPr id="1425" name="TextBox 1424"/>
          <p:cNvSpPr txBox="1"/>
          <p:nvPr/>
        </p:nvSpPr>
        <p:spPr>
          <a:xfrm>
            <a:off x="7604998" y="2876550"/>
            <a:ext cx="3749040" cy="559585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1" i="0" dirty="0">
                <a:solidFill>
                  <a:srgbClr val="1B2F6B"/>
                </a:solidFill>
                <a:latin typeface="Courier New"/>
              </a:rPr>
              <a:t>[</a:t>
            </a:r>
            <a:r>
              <a:rPr sz="2400" b="1" i="0" dirty="0" err="1">
                <a:solidFill>
                  <a:srgbClr val="1B2F6B"/>
                </a:solidFill>
                <a:latin typeface="Courier New"/>
              </a:rPr>
              <a:t>sS</a:t>
            </a:r>
            <a:r>
              <a:rPr sz="2400" b="1" i="0" dirty="0">
                <a:solidFill>
                  <a:srgbClr val="1B2F6B"/>
                </a:solidFill>
                <a:latin typeface="Courier New"/>
              </a:rPr>
              <a:t>][</a:t>
            </a:r>
            <a:r>
              <a:rPr sz="2400" b="1" i="0" dirty="0" err="1">
                <a:solidFill>
                  <a:srgbClr val="1B2F6B"/>
                </a:solidFill>
                <a:latin typeface="Courier New"/>
              </a:rPr>
              <a:t>iI</a:t>
            </a:r>
            <a:r>
              <a:rPr sz="2400" b="1" i="0" dirty="0">
                <a:solidFill>
                  <a:srgbClr val="1B2F6B"/>
                </a:solidFill>
                <a:latin typeface="Courier New"/>
              </a:rPr>
              <a:t>][</a:t>
            </a:r>
            <a:r>
              <a:rPr sz="2400" b="1" i="0" dirty="0" err="1">
                <a:solidFill>
                  <a:srgbClr val="1B2F6B"/>
                </a:solidFill>
                <a:latin typeface="Courier New"/>
              </a:rPr>
              <a:t>mM</a:t>
            </a:r>
            <a:r>
              <a:rPr sz="2400" b="1" i="0" dirty="0">
                <a:solidFill>
                  <a:srgbClr val="1B2F6B"/>
                </a:solidFill>
                <a:latin typeface="Courier New"/>
              </a:rPr>
              <a:t>]</a:t>
            </a:r>
          </a:p>
        </p:txBody>
      </p:sp>
      <p:sp>
        <p:nvSpPr>
          <p:cNvPr id="1426" name="TextBox 1425"/>
          <p:cNvSpPr txBox="1"/>
          <p:nvPr/>
        </p:nvSpPr>
        <p:spPr>
          <a:xfrm>
            <a:off x="6873478" y="3613440"/>
            <a:ext cx="4480560" cy="39170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000" b="1" i="0" dirty="0">
                <a:solidFill>
                  <a:srgbClr val="5A6385"/>
                </a:solidFill>
                <a:latin typeface="Arial"/>
              </a:rPr>
              <a:t>THOUGHT</a:t>
            </a:r>
          </a:p>
        </p:txBody>
      </p:sp>
      <p:sp>
        <p:nvSpPr>
          <p:cNvPr id="1427" name="TextBox 1426"/>
          <p:cNvSpPr txBox="1"/>
          <p:nvPr/>
        </p:nvSpPr>
        <p:spPr>
          <a:xfrm>
            <a:off x="6873478" y="4012959"/>
            <a:ext cx="4480560" cy="559585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200" b="1" i="0" dirty="0">
                <a:solidFill>
                  <a:srgbClr val="1B2F6B"/>
                </a:solidFill>
                <a:latin typeface="Arial"/>
              </a:rPr>
              <a:t>The misses are about letter case</a:t>
            </a:r>
          </a:p>
        </p:txBody>
      </p:sp>
      <p:sp>
        <p:nvSpPr>
          <p:cNvPr id="1428" name="TextBox 1427"/>
          <p:cNvSpPr txBox="1"/>
          <p:nvPr/>
        </p:nvSpPr>
        <p:spPr>
          <a:xfrm>
            <a:off x="6903720" y="4401625"/>
            <a:ext cx="4480560" cy="111916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200" b="0" i="0" dirty="0">
                <a:solidFill>
                  <a:srgbClr val="26314F"/>
                </a:solidFill>
                <a:latin typeface="Arial"/>
              </a:rPr>
              <a:t>Allow each letter in both cases with a set: [</a:t>
            </a:r>
            <a:r>
              <a:rPr sz="2200" b="0" i="0" dirty="0" err="1">
                <a:solidFill>
                  <a:srgbClr val="26314F"/>
                </a:solidFill>
                <a:latin typeface="Arial"/>
              </a:rPr>
              <a:t>sS</a:t>
            </a:r>
            <a:r>
              <a:rPr sz="2200" b="0" i="0" dirty="0">
                <a:solidFill>
                  <a:srgbClr val="26314F"/>
                </a:solidFill>
                <a:latin typeface="Arial"/>
              </a:rPr>
              <a:t>] = s or S.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6903720" y="5612627"/>
            <a:ext cx="4480560" cy="39170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000" b="1" i="0" dirty="0" smtClean="0">
                <a:solidFill>
                  <a:srgbClr val="5A6385"/>
                </a:solidFill>
                <a:latin typeface="Arial"/>
              </a:rPr>
              <a:t>RESULT</a:t>
            </a:r>
            <a:endParaRPr sz="2000" b="1" i="0" dirty="0">
              <a:solidFill>
                <a:srgbClr val="5A6385"/>
              </a:solidFill>
              <a:latin typeface="Arial"/>
            </a:endParaRPr>
          </a:p>
        </p:txBody>
      </p:sp>
      <p:sp>
        <p:nvSpPr>
          <p:cNvPr id="1430" name="TextBox 1429"/>
          <p:cNvSpPr txBox="1"/>
          <p:nvPr/>
        </p:nvSpPr>
        <p:spPr>
          <a:xfrm>
            <a:off x="6903720" y="5975701"/>
            <a:ext cx="4480560" cy="123108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200" b="0" i="0" dirty="0">
                <a:solidFill>
                  <a:srgbClr val="26314F"/>
                </a:solidFill>
                <a:latin typeface="Arial"/>
              </a:rPr>
              <a:t>All six SIM reviews found. But “Simple” now matches too.</a:t>
            </a:r>
          </a:p>
        </p:txBody>
      </p:sp>
      <p:sp>
        <p:nvSpPr>
          <p:cNvPr id="1431" name="TextBox 1430"/>
          <p:cNvSpPr txBox="1"/>
          <p:nvPr/>
        </p:nvSpPr>
        <p:spPr>
          <a:xfrm>
            <a:off x="6903720" y="7541227"/>
            <a:ext cx="4480560" cy="1007252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700" b="1" i="0" dirty="0">
                <a:solidFill>
                  <a:srgbClr val="5A6385"/>
                </a:solidFill>
                <a:latin typeface="Arial"/>
              </a:rPr>
              <a:t>TP 6 · FP 4 · FN 0</a:t>
            </a:r>
          </a:p>
          <a:p>
            <a:pPr>
              <a:lnSpc>
                <a:spcPct val="118000"/>
              </a:lnSpc>
            </a:pPr>
            <a:r>
              <a:rPr sz="2000" b="1" i="0" dirty="0">
                <a:solidFill>
                  <a:srgbClr val="1B2F6B"/>
                </a:solidFill>
                <a:latin typeface="Arial"/>
              </a:rPr>
              <a:t>P 60% · R 100%</a:t>
            </a:r>
          </a:p>
        </p:txBody>
      </p:sp>
      <p:sp>
        <p:nvSpPr>
          <p:cNvPr id="1432" name="Rounded Rectangle 1431"/>
          <p:cNvSpPr/>
          <p:nvPr/>
        </p:nvSpPr>
        <p:spPr>
          <a:xfrm>
            <a:off x="12115800" y="2647950"/>
            <a:ext cx="5029200" cy="6211389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3" name="TextBox 1432"/>
          <p:cNvSpPr txBox="1"/>
          <p:nvPr/>
        </p:nvSpPr>
        <p:spPr>
          <a:xfrm>
            <a:off x="12390120" y="2785111"/>
            <a:ext cx="914400" cy="671502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3000" b="1" i="0">
                <a:solidFill>
                  <a:srgbClr val="7895F9"/>
                </a:solidFill>
                <a:latin typeface="Georgia"/>
              </a:rPr>
              <a:t>v3</a:t>
            </a:r>
          </a:p>
        </p:txBody>
      </p:sp>
      <p:sp>
        <p:nvSpPr>
          <p:cNvPr id="1434" name="TextBox 1433"/>
          <p:cNvSpPr txBox="1"/>
          <p:nvPr/>
        </p:nvSpPr>
        <p:spPr>
          <a:xfrm>
            <a:off x="12926076" y="2902911"/>
            <a:ext cx="3964577" cy="559585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400" b="1" i="0" dirty="0">
                <a:solidFill>
                  <a:srgbClr val="1B2F6B"/>
                </a:solidFill>
                <a:latin typeface="Courier New"/>
              </a:rPr>
              <a:t>\b[</a:t>
            </a:r>
            <a:r>
              <a:rPr sz="2400" b="1" i="0" dirty="0" err="1">
                <a:solidFill>
                  <a:srgbClr val="1B2F6B"/>
                </a:solidFill>
                <a:latin typeface="Courier New"/>
              </a:rPr>
              <a:t>sS</a:t>
            </a:r>
            <a:r>
              <a:rPr sz="2400" b="1" i="0" dirty="0">
                <a:solidFill>
                  <a:srgbClr val="1B2F6B"/>
                </a:solidFill>
                <a:latin typeface="Courier New"/>
              </a:rPr>
              <a:t>][</a:t>
            </a:r>
            <a:r>
              <a:rPr sz="2400" b="1" i="0" dirty="0" err="1">
                <a:solidFill>
                  <a:srgbClr val="1B2F6B"/>
                </a:solidFill>
                <a:latin typeface="Courier New"/>
              </a:rPr>
              <a:t>iI</a:t>
            </a:r>
            <a:r>
              <a:rPr sz="2400" b="1" i="0" dirty="0">
                <a:solidFill>
                  <a:srgbClr val="1B2F6B"/>
                </a:solidFill>
                <a:latin typeface="Courier New"/>
              </a:rPr>
              <a:t>][</a:t>
            </a:r>
            <a:r>
              <a:rPr sz="2400" b="1" i="0" dirty="0" err="1">
                <a:solidFill>
                  <a:srgbClr val="1B2F6B"/>
                </a:solidFill>
                <a:latin typeface="Courier New"/>
              </a:rPr>
              <a:t>mM</a:t>
            </a:r>
            <a:r>
              <a:rPr sz="2400" b="1" i="0" dirty="0">
                <a:solidFill>
                  <a:srgbClr val="1B2F6B"/>
                </a:solidFill>
                <a:latin typeface="Courier New"/>
              </a:rPr>
              <a:t>][</a:t>
            </a:r>
            <a:r>
              <a:rPr sz="2400" b="1" i="0" dirty="0" err="1">
                <a:solidFill>
                  <a:srgbClr val="1B2F6B"/>
                </a:solidFill>
                <a:latin typeface="Courier New"/>
              </a:rPr>
              <a:t>sS</a:t>
            </a:r>
            <a:r>
              <a:rPr sz="2400" b="1" i="0" dirty="0">
                <a:solidFill>
                  <a:srgbClr val="1B2F6B"/>
                </a:solidFill>
                <a:latin typeface="Courier New"/>
              </a:rPr>
              <a:t>]?\b</a:t>
            </a:r>
          </a:p>
        </p:txBody>
      </p:sp>
      <p:sp>
        <p:nvSpPr>
          <p:cNvPr id="1435" name="TextBox 1434"/>
          <p:cNvSpPr txBox="1"/>
          <p:nvPr/>
        </p:nvSpPr>
        <p:spPr>
          <a:xfrm>
            <a:off x="12390120" y="3613439"/>
            <a:ext cx="4480560" cy="39170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000" b="1" i="0" dirty="0">
                <a:solidFill>
                  <a:srgbClr val="5A6385"/>
                </a:solidFill>
                <a:latin typeface="Arial"/>
              </a:rPr>
              <a:t>THOUGHT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12390120" y="4064176"/>
            <a:ext cx="4480560" cy="559585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000" b="1" i="0" dirty="0">
                <a:solidFill>
                  <a:srgbClr val="1B2F6B"/>
                </a:solidFill>
                <a:latin typeface="Arial"/>
              </a:rPr>
              <a:t>The false hits are longer words</a:t>
            </a:r>
          </a:p>
        </p:txBody>
      </p:sp>
      <p:sp>
        <p:nvSpPr>
          <p:cNvPr id="1437" name="TextBox 1436"/>
          <p:cNvSpPr txBox="1"/>
          <p:nvPr/>
        </p:nvSpPr>
        <p:spPr>
          <a:xfrm>
            <a:off x="12410093" y="4446678"/>
            <a:ext cx="4480560" cy="111916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200" b="0" i="0" dirty="0">
                <a:solidFill>
                  <a:srgbClr val="26314F"/>
                </a:solidFill>
                <a:latin typeface="Arial"/>
              </a:rPr>
              <a:t>“</a:t>
            </a:r>
            <a:r>
              <a:rPr sz="2200" b="0" i="0" dirty="0" err="1">
                <a:solidFill>
                  <a:srgbClr val="26314F"/>
                </a:solidFill>
                <a:latin typeface="Arial"/>
              </a:rPr>
              <a:t>sim</a:t>
            </a:r>
            <a:r>
              <a:rPr sz="2200" b="0" i="0" dirty="0">
                <a:solidFill>
                  <a:srgbClr val="26314F"/>
                </a:solidFill>
                <a:latin typeface="Arial"/>
              </a:rPr>
              <a:t>” must be a whole word: \b on both sides, and [</a:t>
            </a:r>
            <a:r>
              <a:rPr sz="2200" b="0" i="0" dirty="0" err="1">
                <a:solidFill>
                  <a:srgbClr val="26314F"/>
                </a:solidFill>
                <a:latin typeface="Arial"/>
              </a:rPr>
              <a:t>sS</a:t>
            </a:r>
            <a:r>
              <a:rPr sz="2200" b="0" i="0" dirty="0">
                <a:solidFill>
                  <a:srgbClr val="26314F"/>
                </a:solidFill>
                <a:latin typeface="Arial"/>
              </a:rPr>
              <a:t>]? for “</a:t>
            </a:r>
            <a:r>
              <a:rPr sz="2200" b="0" i="0" dirty="0" err="1">
                <a:solidFill>
                  <a:srgbClr val="26314F"/>
                </a:solidFill>
                <a:latin typeface="Arial"/>
              </a:rPr>
              <a:t>sims</a:t>
            </a:r>
            <a:r>
              <a:rPr sz="2200" b="0" i="0" dirty="0">
                <a:solidFill>
                  <a:srgbClr val="26314F"/>
                </a:solidFill>
                <a:latin typeface="Arial"/>
              </a:rPr>
              <a:t>”.</a:t>
            </a:r>
          </a:p>
        </p:txBody>
      </p:sp>
      <p:sp>
        <p:nvSpPr>
          <p:cNvPr id="1438" name="TextBox 1437"/>
          <p:cNvSpPr txBox="1"/>
          <p:nvPr/>
        </p:nvSpPr>
        <p:spPr>
          <a:xfrm>
            <a:off x="12390120" y="5569557"/>
            <a:ext cx="4480560" cy="391709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000" b="1" i="0" dirty="0">
                <a:solidFill>
                  <a:srgbClr val="5A6385"/>
                </a:solidFill>
                <a:latin typeface="Arial"/>
              </a:rPr>
              <a:t>RESULT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12390120" y="5908377"/>
            <a:ext cx="4480560" cy="123108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2200" b="0" i="0" dirty="0">
                <a:solidFill>
                  <a:srgbClr val="26314F"/>
                </a:solidFill>
                <a:latin typeface="Arial"/>
              </a:rPr>
              <a:t>No more simple / similar. But “</a:t>
            </a:r>
            <a:r>
              <a:rPr sz="2200" b="0" i="0" dirty="0" err="1">
                <a:solidFill>
                  <a:srgbClr val="26314F"/>
                </a:solidFill>
                <a:latin typeface="Arial"/>
              </a:rPr>
              <a:t>simcard</a:t>
            </a:r>
            <a:r>
              <a:rPr sz="2200" b="0" i="0" dirty="0">
                <a:solidFill>
                  <a:srgbClr val="26314F"/>
                </a:solidFill>
                <a:latin typeface="Arial"/>
              </a:rPr>
              <a:t>” and “SIMM” are no longer whole words.</a:t>
            </a:r>
          </a:p>
        </p:txBody>
      </p:sp>
      <p:sp>
        <p:nvSpPr>
          <p:cNvPr id="1440" name="TextBox 1439"/>
          <p:cNvSpPr txBox="1"/>
          <p:nvPr/>
        </p:nvSpPr>
        <p:spPr>
          <a:xfrm>
            <a:off x="12468497" y="7463563"/>
            <a:ext cx="4480560" cy="1007252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5A6385"/>
                </a:solidFill>
                <a:latin typeface="Arial"/>
              </a:rPr>
              <a:t>TP 4 · FP 0 · FN 2</a:t>
            </a:r>
          </a:p>
          <a:p>
            <a:pPr>
              <a:lnSpc>
                <a:spcPct val="118000"/>
              </a:lnSpc>
            </a:pPr>
            <a:r>
              <a:rPr sz="2000" b="1" i="0">
                <a:solidFill>
                  <a:srgbClr val="1B2F6B"/>
                </a:solidFill>
                <a:latin typeface="Arial"/>
              </a:rPr>
              <a:t>P 100% · R 67%</a:t>
            </a:r>
          </a:p>
        </p:txBody>
      </p:sp>
      <p:sp>
        <p:nvSpPr>
          <p:cNvPr id="1441" name="Right Arrow 1440"/>
          <p:cNvSpPr/>
          <p:nvPr/>
        </p:nvSpPr>
        <p:spPr>
          <a:xfrm>
            <a:off x="6245352" y="4979671"/>
            <a:ext cx="310896" cy="447668"/>
          </a:xfrm>
          <a:prstGeom prst="rightArrow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" name="Right Arrow 1441"/>
          <p:cNvSpPr/>
          <p:nvPr/>
        </p:nvSpPr>
        <p:spPr>
          <a:xfrm>
            <a:off x="11731752" y="4979671"/>
            <a:ext cx="310896" cy="447668"/>
          </a:xfrm>
          <a:prstGeom prst="rightArrow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01419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56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False positives and false negatives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56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56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p56"/>
          <p:cNvSpPr/>
          <p:nvPr/>
        </p:nvSpPr>
        <p:spPr>
          <a:xfrm>
            <a:off x="1143000" y="2705100"/>
            <a:ext cx="12615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v1 = sim v2 = [sS][iI][mM] v3 = \b[sS][iI][mM][sS]?\b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6"/>
          <p:cNvSpPr/>
          <p:nvPr/>
        </p:nvSpPr>
        <p:spPr>
          <a:xfrm>
            <a:off x="1143000" y="3190875"/>
            <a:ext cx="533400" cy="3619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56"/>
          <p:cNvSpPr/>
          <p:nvPr/>
        </p:nvSpPr>
        <p:spPr>
          <a:xfrm>
            <a:off x="1657350" y="3190875"/>
            <a:ext cx="19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56"/>
          <p:cNvSpPr/>
          <p:nvPr/>
        </p:nvSpPr>
        <p:spPr>
          <a:xfrm>
            <a:off x="1238250" y="3238500"/>
            <a:ext cx="37719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56"/>
          <p:cNvSpPr/>
          <p:nvPr/>
        </p:nvSpPr>
        <p:spPr>
          <a:xfrm>
            <a:off x="1676400" y="3190875"/>
            <a:ext cx="8020050" cy="3619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56"/>
          <p:cNvSpPr/>
          <p:nvPr/>
        </p:nvSpPr>
        <p:spPr>
          <a:xfrm>
            <a:off x="9677400" y="3190875"/>
            <a:ext cx="19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56"/>
          <p:cNvSpPr/>
          <p:nvPr/>
        </p:nvSpPr>
        <p:spPr>
          <a:xfrm>
            <a:off x="1771650" y="3238500"/>
            <a:ext cx="861250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Review (excerpt)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56"/>
          <p:cNvSpPr/>
          <p:nvPr/>
        </p:nvSpPr>
        <p:spPr>
          <a:xfrm>
            <a:off x="9696450" y="3190875"/>
            <a:ext cx="857250" cy="3619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56"/>
          <p:cNvSpPr/>
          <p:nvPr/>
        </p:nvSpPr>
        <p:spPr>
          <a:xfrm>
            <a:off x="10534650" y="3190875"/>
            <a:ext cx="19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56"/>
          <p:cNvSpPr/>
          <p:nvPr/>
        </p:nvSpPr>
        <p:spPr>
          <a:xfrm>
            <a:off x="9791700" y="3238500"/>
            <a:ext cx="73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SIM?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56"/>
          <p:cNvSpPr/>
          <p:nvPr/>
        </p:nvSpPr>
        <p:spPr>
          <a:xfrm>
            <a:off x="10553700" y="3190875"/>
            <a:ext cx="685800" cy="3619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56"/>
          <p:cNvSpPr/>
          <p:nvPr/>
        </p:nvSpPr>
        <p:spPr>
          <a:xfrm>
            <a:off x="11220450" y="3190875"/>
            <a:ext cx="19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56"/>
          <p:cNvSpPr/>
          <p:nvPr/>
        </p:nvSpPr>
        <p:spPr>
          <a:xfrm>
            <a:off x="10648950" y="3238500"/>
            <a:ext cx="5448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56"/>
          <p:cNvSpPr/>
          <p:nvPr/>
        </p:nvSpPr>
        <p:spPr>
          <a:xfrm>
            <a:off x="11239500" y="3190875"/>
            <a:ext cx="685800" cy="3619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56"/>
          <p:cNvSpPr/>
          <p:nvPr/>
        </p:nvSpPr>
        <p:spPr>
          <a:xfrm>
            <a:off x="11906250" y="3190875"/>
            <a:ext cx="19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56"/>
          <p:cNvSpPr/>
          <p:nvPr/>
        </p:nvSpPr>
        <p:spPr>
          <a:xfrm>
            <a:off x="11334750" y="3238500"/>
            <a:ext cx="5448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56"/>
          <p:cNvSpPr/>
          <p:nvPr/>
        </p:nvSpPr>
        <p:spPr>
          <a:xfrm>
            <a:off x="11925300" y="3190875"/>
            <a:ext cx="685800" cy="3619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56"/>
          <p:cNvSpPr/>
          <p:nvPr/>
        </p:nvSpPr>
        <p:spPr>
          <a:xfrm>
            <a:off x="12592050" y="3190875"/>
            <a:ext cx="1905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56"/>
          <p:cNvSpPr/>
          <p:nvPr/>
        </p:nvSpPr>
        <p:spPr>
          <a:xfrm>
            <a:off x="12020550" y="3238500"/>
            <a:ext cx="5448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56"/>
          <p:cNvSpPr/>
          <p:nvPr/>
        </p:nvSpPr>
        <p:spPr>
          <a:xfrm>
            <a:off x="1143000" y="3552825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56"/>
          <p:cNvSpPr/>
          <p:nvPr/>
        </p:nvSpPr>
        <p:spPr>
          <a:xfrm>
            <a:off x="1143000" y="3956596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56"/>
          <p:cNvSpPr/>
          <p:nvPr/>
        </p:nvSpPr>
        <p:spPr>
          <a:xfrm>
            <a:off x="1657350" y="3552825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56"/>
          <p:cNvSpPr/>
          <p:nvPr/>
        </p:nvSpPr>
        <p:spPr>
          <a:xfrm>
            <a:off x="1238250" y="3600450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56"/>
          <p:cNvSpPr/>
          <p:nvPr/>
        </p:nvSpPr>
        <p:spPr>
          <a:xfrm>
            <a:off x="1676400" y="3552825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56"/>
          <p:cNvSpPr/>
          <p:nvPr/>
        </p:nvSpPr>
        <p:spPr>
          <a:xfrm>
            <a:off x="1676400" y="3956596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56"/>
          <p:cNvSpPr/>
          <p:nvPr/>
        </p:nvSpPr>
        <p:spPr>
          <a:xfrm>
            <a:off x="9677400" y="3552825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56"/>
          <p:cNvSpPr/>
          <p:nvPr/>
        </p:nvSpPr>
        <p:spPr>
          <a:xfrm>
            <a:off x="1771650" y="3600450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…took the sim card from the old Verizon Samsung…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56"/>
          <p:cNvSpPr/>
          <p:nvPr/>
        </p:nvSpPr>
        <p:spPr>
          <a:xfrm>
            <a:off x="9696450" y="3552825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0" name="Google Shape;1450;p56"/>
          <p:cNvSpPr/>
          <p:nvPr/>
        </p:nvSpPr>
        <p:spPr>
          <a:xfrm>
            <a:off x="9696450" y="3956596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1" name="Google Shape;1451;p56"/>
          <p:cNvSpPr/>
          <p:nvPr/>
        </p:nvSpPr>
        <p:spPr>
          <a:xfrm>
            <a:off x="10534650" y="3552825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56"/>
          <p:cNvSpPr/>
          <p:nvPr/>
        </p:nvSpPr>
        <p:spPr>
          <a:xfrm>
            <a:off x="9791700" y="3600450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56"/>
          <p:cNvSpPr/>
          <p:nvPr/>
        </p:nvSpPr>
        <p:spPr>
          <a:xfrm>
            <a:off x="10553700" y="3552825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56"/>
          <p:cNvSpPr/>
          <p:nvPr/>
        </p:nvSpPr>
        <p:spPr>
          <a:xfrm>
            <a:off x="10553700" y="3956596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56"/>
          <p:cNvSpPr/>
          <p:nvPr/>
        </p:nvSpPr>
        <p:spPr>
          <a:xfrm>
            <a:off x="11220450" y="3552825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6" name="Google Shape;1456;p56"/>
          <p:cNvSpPr/>
          <p:nvPr/>
        </p:nvSpPr>
        <p:spPr>
          <a:xfrm>
            <a:off x="10648950" y="3600450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56"/>
          <p:cNvSpPr/>
          <p:nvPr/>
        </p:nvSpPr>
        <p:spPr>
          <a:xfrm>
            <a:off x="11239500" y="3552825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56"/>
          <p:cNvSpPr/>
          <p:nvPr/>
        </p:nvSpPr>
        <p:spPr>
          <a:xfrm>
            <a:off x="11239500" y="3956596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56"/>
          <p:cNvSpPr/>
          <p:nvPr/>
        </p:nvSpPr>
        <p:spPr>
          <a:xfrm>
            <a:off x="11906250" y="3552825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56"/>
          <p:cNvSpPr/>
          <p:nvPr/>
        </p:nvSpPr>
        <p:spPr>
          <a:xfrm>
            <a:off x="11334750" y="3600450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56"/>
          <p:cNvSpPr/>
          <p:nvPr/>
        </p:nvSpPr>
        <p:spPr>
          <a:xfrm>
            <a:off x="11925300" y="3552825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2" name="Google Shape;1462;p56"/>
          <p:cNvSpPr/>
          <p:nvPr/>
        </p:nvSpPr>
        <p:spPr>
          <a:xfrm>
            <a:off x="11925300" y="3956596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56"/>
          <p:cNvSpPr/>
          <p:nvPr/>
        </p:nvSpPr>
        <p:spPr>
          <a:xfrm>
            <a:off x="12592050" y="3552825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56"/>
          <p:cNvSpPr/>
          <p:nvPr/>
        </p:nvSpPr>
        <p:spPr>
          <a:xfrm>
            <a:off x="12020550" y="3600450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56"/>
          <p:cNvSpPr/>
          <p:nvPr/>
        </p:nvSpPr>
        <p:spPr>
          <a:xfrm>
            <a:off x="1143000" y="3975646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6" name="Google Shape;1466;p56"/>
          <p:cNvSpPr/>
          <p:nvPr/>
        </p:nvSpPr>
        <p:spPr>
          <a:xfrm>
            <a:off x="1143000" y="4379416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56"/>
          <p:cNvSpPr/>
          <p:nvPr/>
        </p:nvSpPr>
        <p:spPr>
          <a:xfrm>
            <a:off x="1657350" y="397564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8" name="Google Shape;1468;p56"/>
          <p:cNvSpPr/>
          <p:nvPr/>
        </p:nvSpPr>
        <p:spPr>
          <a:xfrm>
            <a:off x="1238250" y="4023271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56"/>
          <p:cNvSpPr/>
          <p:nvPr/>
        </p:nvSpPr>
        <p:spPr>
          <a:xfrm>
            <a:off x="1676400" y="3975646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56"/>
          <p:cNvSpPr/>
          <p:nvPr/>
        </p:nvSpPr>
        <p:spPr>
          <a:xfrm>
            <a:off x="1676400" y="4379416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56"/>
          <p:cNvSpPr/>
          <p:nvPr/>
        </p:nvSpPr>
        <p:spPr>
          <a:xfrm>
            <a:off x="9677400" y="397564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56"/>
          <p:cNvSpPr/>
          <p:nvPr/>
        </p:nvSpPr>
        <p:spPr>
          <a:xfrm>
            <a:off x="1771650" y="4023271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…put his old iPhones SIM card in it…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56"/>
          <p:cNvSpPr/>
          <p:nvPr/>
        </p:nvSpPr>
        <p:spPr>
          <a:xfrm>
            <a:off x="9696450" y="3975646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4" name="Google Shape;1474;p56"/>
          <p:cNvSpPr/>
          <p:nvPr/>
        </p:nvSpPr>
        <p:spPr>
          <a:xfrm>
            <a:off x="9696450" y="4379416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5" name="Google Shape;1475;p56"/>
          <p:cNvSpPr/>
          <p:nvPr/>
        </p:nvSpPr>
        <p:spPr>
          <a:xfrm>
            <a:off x="10534650" y="397564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56"/>
          <p:cNvSpPr/>
          <p:nvPr/>
        </p:nvSpPr>
        <p:spPr>
          <a:xfrm>
            <a:off x="9791700" y="4023271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56"/>
          <p:cNvSpPr/>
          <p:nvPr/>
        </p:nvSpPr>
        <p:spPr>
          <a:xfrm>
            <a:off x="10553700" y="3975646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56"/>
          <p:cNvSpPr/>
          <p:nvPr/>
        </p:nvSpPr>
        <p:spPr>
          <a:xfrm>
            <a:off x="10553700" y="4379416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56"/>
          <p:cNvSpPr/>
          <p:nvPr/>
        </p:nvSpPr>
        <p:spPr>
          <a:xfrm>
            <a:off x="11220450" y="397564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56"/>
          <p:cNvSpPr/>
          <p:nvPr/>
        </p:nvSpPr>
        <p:spPr>
          <a:xfrm>
            <a:off x="10648950" y="4023271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6"/>
          <p:cNvSpPr/>
          <p:nvPr/>
        </p:nvSpPr>
        <p:spPr>
          <a:xfrm>
            <a:off x="11239500" y="3975646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56"/>
          <p:cNvSpPr/>
          <p:nvPr/>
        </p:nvSpPr>
        <p:spPr>
          <a:xfrm>
            <a:off x="11239500" y="4379416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56"/>
          <p:cNvSpPr/>
          <p:nvPr/>
        </p:nvSpPr>
        <p:spPr>
          <a:xfrm>
            <a:off x="11906250" y="397564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56"/>
          <p:cNvSpPr/>
          <p:nvPr/>
        </p:nvSpPr>
        <p:spPr>
          <a:xfrm>
            <a:off x="11334750" y="4023271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56"/>
          <p:cNvSpPr/>
          <p:nvPr/>
        </p:nvSpPr>
        <p:spPr>
          <a:xfrm>
            <a:off x="11925300" y="3975646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56"/>
          <p:cNvSpPr/>
          <p:nvPr/>
        </p:nvSpPr>
        <p:spPr>
          <a:xfrm>
            <a:off x="11925300" y="4379416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7" name="Google Shape;1487;p56"/>
          <p:cNvSpPr/>
          <p:nvPr/>
        </p:nvSpPr>
        <p:spPr>
          <a:xfrm>
            <a:off x="12592050" y="397564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p56"/>
          <p:cNvSpPr/>
          <p:nvPr/>
        </p:nvSpPr>
        <p:spPr>
          <a:xfrm>
            <a:off x="12020550" y="4023271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56"/>
          <p:cNvSpPr/>
          <p:nvPr/>
        </p:nvSpPr>
        <p:spPr>
          <a:xfrm>
            <a:off x="1143000" y="4398466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56"/>
          <p:cNvSpPr/>
          <p:nvPr/>
        </p:nvSpPr>
        <p:spPr>
          <a:xfrm>
            <a:off x="1143000" y="4802237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56"/>
          <p:cNvSpPr/>
          <p:nvPr/>
        </p:nvSpPr>
        <p:spPr>
          <a:xfrm>
            <a:off x="1657350" y="439846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56"/>
          <p:cNvSpPr/>
          <p:nvPr/>
        </p:nvSpPr>
        <p:spPr>
          <a:xfrm>
            <a:off x="1238250" y="4446091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56"/>
          <p:cNvSpPr/>
          <p:nvPr/>
        </p:nvSpPr>
        <p:spPr>
          <a:xfrm>
            <a:off x="1676400" y="4398466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56"/>
          <p:cNvSpPr/>
          <p:nvPr/>
        </p:nvSpPr>
        <p:spPr>
          <a:xfrm>
            <a:off x="1676400" y="4802237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56"/>
          <p:cNvSpPr/>
          <p:nvPr/>
        </p:nvSpPr>
        <p:spPr>
          <a:xfrm>
            <a:off x="9677400" y="439846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56"/>
          <p:cNvSpPr/>
          <p:nvPr/>
        </p:nvSpPr>
        <p:spPr>
          <a:xfrm>
            <a:off x="1771650" y="4446091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I did not get a Sim card with phone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56"/>
          <p:cNvSpPr/>
          <p:nvPr/>
        </p:nvSpPr>
        <p:spPr>
          <a:xfrm>
            <a:off x="9696450" y="4398466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56"/>
          <p:cNvSpPr/>
          <p:nvPr/>
        </p:nvSpPr>
        <p:spPr>
          <a:xfrm>
            <a:off x="9696450" y="4802237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56"/>
          <p:cNvSpPr/>
          <p:nvPr/>
        </p:nvSpPr>
        <p:spPr>
          <a:xfrm>
            <a:off x="10534650" y="439846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56"/>
          <p:cNvSpPr/>
          <p:nvPr/>
        </p:nvSpPr>
        <p:spPr>
          <a:xfrm>
            <a:off x="9791700" y="4446091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56"/>
          <p:cNvSpPr/>
          <p:nvPr/>
        </p:nvSpPr>
        <p:spPr>
          <a:xfrm>
            <a:off x="10553700" y="4398466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56"/>
          <p:cNvSpPr/>
          <p:nvPr/>
        </p:nvSpPr>
        <p:spPr>
          <a:xfrm>
            <a:off x="10553700" y="4802237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3" name="Google Shape;1503;p56"/>
          <p:cNvSpPr/>
          <p:nvPr/>
        </p:nvSpPr>
        <p:spPr>
          <a:xfrm>
            <a:off x="11220450" y="439846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p56"/>
          <p:cNvSpPr/>
          <p:nvPr/>
        </p:nvSpPr>
        <p:spPr>
          <a:xfrm>
            <a:off x="10648950" y="4446091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56"/>
          <p:cNvSpPr/>
          <p:nvPr/>
        </p:nvSpPr>
        <p:spPr>
          <a:xfrm>
            <a:off x="11239500" y="4398466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6" name="Google Shape;1506;p56"/>
          <p:cNvSpPr/>
          <p:nvPr/>
        </p:nvSpPr>
        <p:spPr>
          <a:xfrm>
            <a:off x="11239500" y="4802237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56"/>
          <p:cNvSpPr/>
          <p:nvPr/>
        </p:nvSpPr>
        <p:spPr>
          <a:xfrm>
            <a:off x="11906250" y="439846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56"/>
          <p:cNvSpPr/>
          <p:nvPr/>
        </p:nvSpPr>
        <p:spPr>
          <a:xfrm>
            <a:off x="11334750" y="4446091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56"/>
          <p:cNvSpPr/>
          <p:nvPr/>
        </p:nvSpPr>
        <p:spPr>
          <a:xfrm>
            <a:off x="11925300" y="4398466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56"/>
          <p:cNvSpPr/>
          <p:nvPr/>
        </p:nvSpPr>
        <p:spPr>
          <a:xfrm>
            <a:off x="11925300" y="4802237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56"/>
          <p:cNvSpPr/>
          <p:nvPr/>
        </p:nvSpPr>
        <p:spPr>
          <a:xfrm>
            <a:off x="12592050" y="4398466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56"/>
          <p:cNvSpPr/>
          <p:nvPr/>
        </p:nvSpPr>
        <p:spPr>
          <a:xfrm>
            <a:off x="12020550" y="4446091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56"/>
          <p:cNvSpPr/>
          <p:nvPr/>
        </p:nvSpPr>
        <p:spPr>
          <a:xfrm>
            <a:off x="1143000" y="4821287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56"/>
          <p:cNvSpPr/>
          <p:nvPr/>
        </p:nvSpPr>
        <p:spPr>
          <a:xfrm>
            <a:off x="1143000" y="5225058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5" name="Google Shape;1515;p56"/>
          <p:cNvSpPr/>
          <p:nvPr/>
        </p:nvSpPr>
        <p:spPr>
          <a:xfrm>
            <a:off x="1657350" y="4821287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56"/>
          <p:cNvSpPr/>
          <p:nvPr/>
        </p:nvSpPr>
        <p:spPr>
          <a:xfrm>
            <a:off x="1238250" y="4868912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56"/>
          <p:cNvSpPr/>
          <p:nvPr/>
        </p:nvSpPr>
        <p:spPr>
          <a:xfrm>
            <a:off x="1676400" y="4821287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56"/>
          <p:cNvSpPr/>
          <p:nvPr/>
        </p:nvSpPr>
        <p:spPr>
          <a:xfrm>
            <a:off x="1676400" y="5225058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56"/>
          <p:cNvSpPr/>
          <p:nvPr/>
        </p:nvSpPr>
        <p:spPr>
          <a:xfrm>
            <a:off x="9677400" y="4821287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56"/>
          <p:cNvSpPr/>
          <p:nvPr/>
        </p:nvSpPr>
        <p:spPr>
          <a:xfrm>
            <a:off x="1771650" y="4868912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…doesn't work with verizon simcard…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56"/>
          <p:cNvSpPr/>
          <p:nvPr/>
        </p:nvSpPr>
        <p:spPr>
          <a:xfrm>
            <a:off x="9696450" y="4821287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56"/>
          <p:cNvSpPr/>
          <p:nvPr/>
        </p:nvSpPr>
        <p:spPr>
          <a:xfrm>
            <a:off x="9696450" y="5225058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56"/>
          <p:cNvSpPr/>
          <p:nvPr/>
        </p:nvSpPr>
        <p:spPr>
          <a:xfrm>
            <a:off x="10534650" y="4821287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56"/>
          <p:cNvSpPr/>
          <p:nvPr/>
        </p:nvSpPr>
        <p:spPr>
          <a:xfrm>
            <a:off x="9791700" y="4868912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56"/>
          <p:cNvSpPr/>
          <p:nvPr/>
        </p:nvSpPr>
        <p:spPr>
          <a:xfrm>
            <a:off x="10553700" y="4821287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56"/>
          <p:cNvSpPr/>
          <p:nvPr/>
        </p:nvSpPr>
        <p:spPr>
          <a:xfrm>
            <a:off x="10553700" y="5225058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56"/>
          <p:cNvSpPr/>
          <p:nvPr/>
        </p:nvSpPr>
        <p:spPr>
          <a:xfrm>
            <a:off x="11220450" y="4821287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56"/>
          <p:cNvSpPr/>
          <p:nvPr/>
        </p:nvSpPr>
        <p:spPr>
          <a:xfrm>
            <a:off x="10648950" y="4868912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56"/>
          <p:cNvSpPr/>
          <p:nvPr/>
        </p:nvSpPr>
        <p:spPr>
          <a:xfrm>
            <a:off x="11239500" y="4821287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56"/>
          <p:cNvSpPr/>
          <p:nvPr/>
        </p:nvSpPr>
        <p:spPr>
          <a:xfrm>
            <a:off x="11239500" y="5225058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56"/>
          <p:cNvSpPr/>
          <p:nvPr/>
        </p:nvSpPr>
        <p:spPr>
          <a:xfrm>
            <a:off x="11906250" y="4821287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56"/>
          <p:cNvSpPr/>
          <p:nvPr/>
        </p:nvSpPr>
        <p:spPr>
          <a:xfrm>
            <a:off x="11334750" y="4868912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56"/>
          <p:cNvSpPr/>
          <p:nvPr/>
        </p:nvSpPr>
        <p:spPr>
          <a:xfrm>
            <a:off x="11925300" y="4821287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56"/>
          <p:cNvSpPr/>
          <p:nvPr/>
        </p:nvSpPr>
        <p:spPr>
          <a:xfrm>
            <a:off x="11925300" y="5225058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5" name="Google Shape;1535;p56"/>
          <p:cNvSpPr/>
          <p:nvPr/>
        </p:nvSpPr>
        <p:spPr>
          <a:xfrm>
            <a:off x="12592050" y="4821287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56"/>
          <p:cNvSpPr/>
          <p:nvPr/>
        </p:nvSpPr>
        <p:spPr>
          <a:xfrm>
            <a:off x="12020550" y="4868912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56"/>
          <p:cNvSpPr/>
          <p:nvPr/>
        </p:nvSpPr>
        <p:spPr>
          <a:xfrm>
            <a:off x="1143000" y="5244108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56"/>
          <p:cNvSpPr/>
          <p:nvPr/>
        </p:nvSpPr>
        <p:spPr>
          <a:xfrm>
            <a:off x="1143000" y="5647879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56"/>
          <p:cNvSpPr/>
          <p:nvPr/>
        </p:nvSpPr>
        <p:spPr>
          <a:xfrm>
            <a:off x="1657350" y="5244108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56"/>
          <p:cNvSpPr/>
          <p:nvPr/>
        </p:nvSpPr>
        <p:spPr>
          <a:xfrm>
            <a:off x="1238250" y="5291733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56"/>
          <p:cNvSpPr/>
          <p:nvPr/>
        </p:nvSpPr>
        <p:spPr>
          <a:xfrm>
            <a:off x="1676400" y="5244108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56"/>
          <p:cNvSpPr/>
          <p:nvPr/>
        </p:nvSpPr>
        <p:spPr>
          <a:xfrm>
            <a:off x="1676400" y="5647879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6"/>
          <p:cNvSpPr/>
          <p:nvPr/>
        </p:nvSpPr>
        <p:spPr>
          <a:xfrm>
            <a:off x="9677400" y="5244108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6"/>
          <p:cNvSpPr/>
          <p:nvPr/>
        </p:nvSpPr>
        <p:spPr>
          <a:xfrm>
            <a:off x="1771650" y="5291733"/>
            <a:ext cx="80511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…it came with sims card, charger…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56"/>
          <p:cNvSpPr/>
          <p:nvPr/>
        </p:nvSpPr>
        <p:spPr>
          <a:xfrm>
            <a:off x="9696450" y="5244108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6"/>
          <p:cNvSpPr/>
          <p:nvPr/>
        </p:nvSpPr>
        <p:spPr>
          <a:xfrm>
            <a:off x="9696450" y="5647879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6"/>
          <p:cNvSpPr/>
          <p:nvPr/>
        </p:nvSpPr>
        <p:spPr>
          <a:xfrm>
            <a:off x="10534650" y="5244108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56"/>
          <p:cNvSpPr/>
          <p:nvPr/>
        </p:nvSpPr>
        <p:spPr>
          <a:xfrm>
            <a:off x="9791700" y="5291733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56"/>
          <p:cNvSpPr/>
          <p:nvPr/>
        </p:nvSpPr>
        <p:spPr>
          <a:xfrm>
            <a:off x="10553700" y="5244108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56"/>
          <p:cNvSpPr/>
          <p:nvPr/>
        </p:nvSpPr>
        <p:spPr>
          <a:xfrm>
            <a:off x="10553700" y="5647879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56"/>
          <p:cNvSpPr/>
          <p:nvPr/>
        </p:nvSpPr>
        <p:spPr>
          <a:xfrm>
            <a:off x="11220450" y="5244108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56"/>
          <p:cNvSpPr/>
          <p:nvPr/>
        </p:nvSpPr>
        <p:spPr>
          <a:xfrm>
            <a:off x="10648950" y="5291733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56"/>
          <p:cNvSpPr/>
          <p:nvPr/>
        </p:nvSpPr>
        <p:spPr>
          <a:xfrm>
            <a:off x="11239500" y="5244108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56"/>
          <p:cNvSpPr/>
          <p:nvPr/>
        </p:nvSpPr>
        <p:spPr>
          <a:xfrm>
            <a:off x="11239500" y="5647879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56"/>
          <p:cNvSpPr/>
          <p:nvPr/>
        </p:nvSpPr>
        <p:spPr>
          <a:xfrm>
            <a:off x="11906250" y="5244108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56"/>
          <p:cNvSpPr/>
          <p:nvPr/>
        </p:nvSpPr>
        <p:spPr>
          <a:xfrm>
            <a:off x="11334750" y="5291733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56"/>
          <p:cNvSpPr/>
          <p:nvPr/>
        </p:nvSpPr>
        <p:spPr>
          <a:xfrm>
            <a:off x="11925300" y="5244108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56"/>
          <p:cNvSpPr/>
          <p:nvPr/>
        </p:nvSpPr>
        <p:spPr>
          <a:xfrm>
            <a:off x="11925300" y="5647879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56"/>
          <p:cNvSpPr/>
          <p:nvPr/>
        </p:nvSpPr>
        <p:spPr>
          <a:xfrm>
            <a:off x="12592050" y="5244108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56"/>
          <p:cNvSpPr/>
          <p:nvPr/>
        </p:nvSpPr>
        <p:spPr>
          <a:xfrm>
            <a:off x="12020550" y="5291733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6"/>
          <p:cNvSpPr/>
          <p:nvPr/>
        </p:nvSpPr>
        <p:spPr>
          <a:xfrm>
            <a:off x="1143000" y="5666929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56"/>
          <p:cNvSpPr/>
          <p:nvPr/>
        </p:nvSpPr>
        <p:spPr>
          <a:xfrm>
            <a:off x="1143000" y="6070699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56"/>
          <p:cNvSpPr/>
          <p:nvPr/>
        </p:nvSpPr>
        <p:spPr>
          <a:xfrm>
            <a:off x="1657350" y="566692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56"/>
          <p:cNvSpPr/>
          <p:nvPr/>
        </p:nvSpPr>
        <p:spPr>
          <a:xfrm>
            <a:off x="1238250" y="5714554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56"/>
          <p:cNvSpPr/>
          <p:nvPr/>
        </p:nvSpPr>
        <p:spPr>
          <a:xfrm>
            <a:off x="1676400" y="5666929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56"/>
          <p:cNvSpPr/>
          <p:nvPr/>
        </p:nvSpPr>
        <p:spPr>
          <a:xfrm>
            <a:off x="1676400" y="6070699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7" name="Google Shape;1567;p56"/>
          <p:cNvSpPr/>
          <p:nvPr/>
        </p:nvSpPr>
        <p:spPr>
          <a:xfrm>
            <a:off x="9677400" y="566692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56"/>
          <p:cNvSpPr/>
          <p:nvPr/>
        </p:nvSpPr>
        <p:spPr>
          <a:xfrm>
            <a:off x="1771650" y="5714554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…their free SIMM Card…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56"/>
          <p:cNvSpPr/>
          <p:nvPr/>
        </p:nvSpPr>
        <p:spPr>
          <a:xfrm>
            <a:off x="9696450" y="5666929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56"/>
          <p:cNvSpPr/>
          <p:nvPr/>
        </p:nvSpPr>
        <p:spPr>
          <a:xfrm>
            <a:off x="9696450" y="6070699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56"/>
          <p:cNvSpPr/>
          <p:nvPr/>
        </p:nvSpPr>
        <p:spPr>
          <a:xfrm>
            <a:off x="10534650" y="566692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56"/>
          <p:cNvSpPr/>
          <p:nvPr/>
        </p:nvSpPr>
        <p:spPr>
          <a:xfrm>
            <a:off x="9791700" y="5714554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56"/>
          <p:cNvSpPr/>
          <p:nvPr/>
        </p:nvSpPr>
        <p:spPr>
          <a:xfrm>
            <a:off x="10553700" y="5666929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56"/>
          <p:cNvSpPr/>
          <p:nvPr/>
        </p:nvSpPr>
        <p:spPr>
          <a:xfrm>
            <a:off x="10553700" y="6070699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56"/>
          <p:cNvSpPr/>
          <p:nvPr/>
        </p:nvSpPr>
        <p:spPr>
          <a:xfrm>
            <a:off x="11220450" y="566692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6" name="Google Shape;1576;p56"/>
          <p:cNvSpPr/>
          <p:nvPr/>
        </p:nvSpPr>
        <p:spPr>
          <a:xfrm>
            <a:off x="10648950" y="5714554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56"/>
          <p:cNvSpPr/>
          <p:nvPr/>
        </p:nvSpPr>
        <p:spPr>
          <a:xfrm>
            <a:off x="11239500" y="5666929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8" name="Google Shape;1578;p56"/>
          <p:cNvSpPr/>
          <p:nvPr/>
        </p:nvSpPr>
        <p:spPr>
          <a:xfrm>
            <a:off x="11239500" y="6070699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9" name="Google Shape;1579;p56"/>
          <p:cNvSpPr/>
          <p:nvPr/>
        </p:nvSpPr>
        <p:spPr>
          <a:xfrm>
            <a:off x="11906250" y="566692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0" name="Google Shape;1580;p56"/>
          <p:cNvSpPr/>
          <p:nvPr/>
        </p:nvSpPr>
        <p:spPr>
          <a:xfrm>
            <a:off x="11334750" y="5714554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56"/>
          <p:cNvSpPr/>
          <p:nvPr/>
        </p:nvSpPr>
        <p:spPr>
          <a:xfrm>
            <a:off x="11925300" y="5666929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56"/>
          <p:cNvSpPr/>
          <p:nvPr/>
        </p:nvSpPr>
        <p:spPr>
          <a:xfrm>
            <a:off x="11925300" y="6070699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56"/>
          <p:cNvSpPr/>
          <p:nvPr/>
        </p:nvSpPr>
        <p:spPr>
          <a:xfrm>
            <a:off x="12592050" y="566692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4" name="Google Shape;1584;p56"/>
          <p:cNvSpPr/>
          <p:nvPr/>
        </p:nvSpPr>
        <p:spPr>
          <a:xfrm>
            <a:off x="12020550" y="5714554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56"/>
          <p:cNvSpPr/>
          <p:nvPr/>
        </p:nvSpPr>
        <p:spPr>
          <a:xfrm>
            <a:off x="1143000" y="6089749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56"/>
          <p:cNvSpPr/>
          <p:nvPr/>
        </p:nvSpPr>
        <p:spPr>
          <a:xfrm>
            <a:off x="1143000" y="6493520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7" name="Google Shape;1587;p56"/>
          <p:cNvSpPr/>
          <p:nvPr/>
        </p:nvSpPr>
        <p:spPr>
          <a:xfrm>
            <a:off x="1657350" y="608974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56"/>
          <p:cNvSpPr/>
          <p:nvPr/>
        </p:nvSpPr>
        <p:spPr>
          <a:xfrm>
            <a:off x="1238250" y="6137374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56"/>
          <p:cNvSpPr/>
          <p:nvPr/>
        </p:nvSpPr>
        <p:spPr>
          <a:xfrm>
            <a:off x="1676400" y="6089749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56"/>
          <p:cNvSpPr/>
          <p:nvPr/>
        </p:nvSpPr>
        <p:spPr>
          <a:xfrm>
            <a:off x="1676400" y="6493520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1" name="Google Shape;1591;p56"/>
          <p:cNvSpPr/>
          <p:nvPr/>
        </p:nvSpPr>
        <p:spPr>
          <a:xfrm>
            <a:off x="9677400" y="608974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56"/>
          <p:cNvSpPr/>
          <p:nvPr/>
        </p:nvSpPr>
        <p:spPr>
          <a:xfrm>
            <a:off x="1771650" y="6137374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…Super reliable and simple to use…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56"/>
          <p:cNvSpPr/>
          <p:nvPr/>
        </p:nvSpPr>
        <p:spPr>
          <a:xfrm>
            <a:off x="9696450" y="6089749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56"/>
          <p:cNvSpPr/>
          <p:nvPr/>
        </p:nvSpPr>
        <p:spPr>
          <a:xfrm>
            <a:off x="9696450" y="6493520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5" name="Google Shape;1595;p56"/>
          <p:cNvSpPr/>
          <p:nvPr/>
        </p:nvSpPr>
        <p:spPr>
          <a:xfrm>
            <a:off x="10534650" y="608974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6" name="Google Shape;1596;p56"/>
          <p:cNvSpPr/>
          <p:nvPr/>
        </p:nvSpPr>
        <p:spPr>
          <a:xfrm>
            <a:off x="9791700" y="6137374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56"/>
          <p:cNvSpPr/>
          <p:nvPr/>
        </p:nvSpPr>
        <p:spPr>
          <a:xfrm>
            <a:off x="10553700" y="6089749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8" name="Google Shape;1598;p56"/>
          <p:cNvSpPr/>
          <p:nvPr/>
        </p:nvSpPr>
        <p:spPr>
          <a:xfrm>
            <a:off x="10553700" y="6493520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56"/>
          <p:cNvSpPr/>
          <p:nvPr/>
        </p:nvSpPr>
        <p:spPr>
          <a:xfrm>
            <a:off x="11220450" y="608974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0" name="Google Shape;1600;p56"/>
          <p:cNvSpPr/>
          <p:nvPr/>
        </p:nvSpPr>
        <p:spPr>
          <a:xfrm>
            <a:off x="10648950" y="6137374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56"/>
          <p:cNvSpPr/>
          <p:nvPr/>
        </p:nvSpPr>
        <p:spPr>
          <a:xfrm>
            <a:off x="11239500" y="6089749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56"/>
          <p:cNvSpPr/>
          <p:nvPr/>
        </p:nvSpPr>
        <p:spPr>
          <a:xfrm>
            <a:off x="11239500" y="6493520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56"/>
          <p:cNvSpPr/>
          <p:nvPr/>
        </p:nvSpPr>
        <p:spPr>
          <a:xfrm>
            <a:off x="11906250" y="608974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p56"/>
          <p:cNvSpPr/>
          <p:nvPr/>
        </p:nvSpPr>
        <p:spPr>
          <a:xfrm>
            <a:off x="11334750" y="6137374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56"/>
          <p:cNvSpPr/>
          <p:nvPr/>
        </p:nvSpPr>
        <p:spPr>
          <a:xfrm>
            <a:off x="11925300" y="6089749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56"/>
          <p:cNvSpPr/>
          <p:nvPr/>
        </p:nvSpPr>
        <p:spPr>
          <a:xfrm>
            <a:off x="11925300" y="6493520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56"/>
          <p:cNvSpPr/>
          <p:nvPr/>
        </p:nvSpPr>
        <p:spPr>
          <a:xfrm>
            <a:off x="12592050" y="6089749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56"/>
          <p:cNvSpPr/>
          <p:nvPr/>
        </p:nvSpPr>
        <p:spPr>
          <a:xfrm>
            <a:off x="12020550" y="6137374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56"/>
          <p:cNvSpPr/>
          <p:nvPr/>
        </p:nvSpPr>
        <p:spPr>
          <a:xfrm>
            <a:off x="1143000" y="6512570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0" name="Google Shape;1610;p56"/>
          <p:cNvSpPr/>
          <p:nvPr/>
        </p:nvSpPr>
        <p:spPr>
          <a:xfrm>
            <a:off x="1143000" y="6916341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1" name="Google Shape;1611;p56"/>
          <p:cNvSpPr/>
          <p:nvPr/>
        </p:nvSpPr>
        <p:spPr>
          <a:xfrm>
            <a:off x="1657350" y="6512570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56"/>
          <p:cNvSpPr/>
          <p:nvPr/>
        </p:nvSpPr>
        <p:spPr>
          <a:xfrm>
            <a:off x="1238250" y="6560195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56"/>
          <p:cNvSpPr/>
          <p:nvPr/>
        </p:nvSpPr>
        <p:spPr>
          <a:xfrm>
            <a:off x="1676400" y="6512570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56"/>
          <p:cNvSpPr/>
          <p:nvPr/>
        </p:nvSpPr>
        <p:spPr>
          <a:xfrm>
            <a:off x="1676400" y="6916341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56"/>
          <p:cNvSpPr/>
          <p:nvPr/>
        </p:nvSpPr>
        <p:spPr>
          <a:xfrm>
            <a:off x="9677400" y="6512570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p56"/>
          <p:cNvSpPr/>
          <p:nvPr/>
        </p:nvSpPr>
        <p:spPr>
          <a:xfrm>
            <a:off x="1771650" y="6560195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…replacement for similar phone…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56"/>
          <p:cNvSpPr/>
          <p:nvPr/>
        </p:nvSpPr>
        <p:spPr>
          <a:xfrm>
            <a:off x="9696450" y="6512570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56"/>
          <p:cNvSpPr/>
          <p:nvPr/>
        </p:nvSpPr>
        <p:spPr>
          <a:xfrm>
            <a:off x="9696450" y="6916341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56"/>
          <p:cNvSpPr/>
          <p:nvPr/>
        </p:nvSpPr>
        <p:spPr>
          <a:xfrm>
            <a:off x="10534650" y="6512570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56"/>
          <p:cNvSpPr/>
          <p:nvPr/>
        </p:nvSpPr>
        <p:spPr>
          <a:xfrm>
            <a:off x="9791700" y="6560195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6"/>
          <p:cNvSpPr/>
          <p:nvPr/>
        </p:nvSpPr>
        <p:spPr>
          <a:xfrm>
            <a:off x="10553700" y="6512570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56"/>
          <p:cNvSpPr/>
          <p:nvPr/>
        </p:nvSpPr>
        <p:spPr>
          <a:xfrm>
            <a:off x="10553700" y="6916341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56"/>
          <p:cNvSpPr/>
          <p:nvPr/>
        </p:nvSpPr>
        <p:spPr>
          <a:xfrm>
            <a:off x="11220450" y="6512570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56"/>
          <p:cNvSpPr/>
          <p:nvPr/>
        </p:nvSpPr>
        <p:spPr>
          <a:xfrm>
            <a:off x="10648950" y="6560195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56"/>
          <p:cNvSpPr/>
          <p:nvPr/>
        </p:nvSpPr>
        <p:spPr>
          <a:xfrm>
            <a:off x="11239500" y="6512570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56"/>
          <p:cNvSpPr/>
          <p:nvPr/>
        </p:nvSpPr>
        <p:spPr>
          <a:xfrm>
            <a:off x="11239500" y="6916341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56"/>
          <p:cNvSpPr/>
          <p:nvPr/>
        </p:nvSpPr>
        <p:spPr>
          <a:xfrm>
            <a:off x="11906250" y="6512570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56"/>
          <p:cNvSpPr/>
          <p:nvPr/>
        </p:nvSpPr>
        <p:spPr>
          <a:xfrm>
            <a:off x="11334750" y="6560195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56"/>
          <p:cNvSpPr/>
          <p:nvPr/>
        </p:nvSpPr>
        <p:spPr>
          <a:xfrm>
            <a:off x="11925300" y="6512570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0" name="Google Shape;1630;p56"/>
          <p:cNvSpPr/>
          <p:nvPr/>
        </p:nvSpPr>
        <p:spPr>
          <a:xfrm>
            <a:off x="11925300" y="6916341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56"/>
          <p:cNvSpPr/>
          <p:nvPr/>
        </p:nvSpPr>
        <p:spPr>
          <a:xfrm>
            <a:off x="12592050" y="6512570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56"/>
          <p:cNvSpPr/>
          <p:nvPr/>
        </p:nvSpPr>
        <p:spPr>
          <a:xfrm>
            <a:off x="12020550" y="6560195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56"/>
          <p:cNvSpPr/>
          <p:nvPr/>
        </p:nvSpPr>
        <p:spPr>
          <a:xfrm>
            <a:off x="1143000" y="6935391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4" name="Google Shape;1634;p56"/>
          <p:cNvSpPr/>
          <p:nvPr/>
        </p:nvSpPr>
        <p:spPr>
          <a:xfrm>
            <a:off x="1143000" y="7339161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5" name="Google Shape;1635;p56"/>
          <p:cNvSpPr/>
          <p:nvPr/>
        </p:nvSpPr>
        <p:spPr>
          <a:xfrm>
            <a:off x="1657350" y="693539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56"/>
          <p:cNvSpPr/>
          <p:nvPr/>
        </p:nvSpPr>
        <p:spPr>
          <a:xfrm>
            <a:off x="1238250" y="6983016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6"/>
          <p:cNvSpPr/>
          <p:nvPr/>
        </p:nvSpPr>
        <p:spPr>
          <a:xfrm>
            <a:off x="1676400" y="6935391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56"/>
          <p:cNvSpPr/>
          <p:nvPr/>
        </p:nvSpPr>
        <p:spPr>
          <a:xfrm>
            <a:off x="1676400" y="7339161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9" name="Google Shape;1639;p56"/>
          <p:cNvSpPr/>
          <p:nvPr/>
        </p:nvSpPr>
        <p:spPr>
          <a:xfrm>
            <a:off x="9677400" y="693539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56"/>
          <p:cNvSpPr/>
          <p:nvPr/>
        </p:nvSpPr>
        <p:spPr>
          <a:xfrm>
            <a:off x="1771650" y="6983016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Simple to use. Easy set up. Amazing!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56"/>
          <p:cNvSpPr/>
          <p:nvPr/>
        </p:nvSpPr>
        <p:spPr>
          <a:xfrm>
            <a:off x="9696450" y="6935391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56"/>
          <p:cNvSpPr/>
          <p:nvPr/>
        </p:nvSpPr>
        <p:spPr>
          <a:xfrm>
            <a:off x="9696450" y="7339161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56"/>
          <p:cNvSpPr/>
          <p:nvPr/>
        </p:nvSpPr>
        <p:spPr>
          <a:xfrm>
            <a:off x="10534650" y="693539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56"/>
          <p:cNvSpPr/>
          <p:nvPr/>
        </p:nvSpPr>
        <p:spPr>
          <a:xfrm>
            <a:off x="9791700" y="6983016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56"/>
          <p:cNvSpPr/>
          <p:nvPr/>
        </p:nvSpPr>
        <p:spPr>
          <a:xfrm>
            <a:off x="10553700" y="6935391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6" name="Google Shape;1646;p56"/>
          <p:cNvSpPr/>
          <p:nvPr/>
        </p:nvSpPr>
        <p:spPr>
          <a:xfrm>
            <a:off x="10553700" y="7339161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56"/>
          <p:cNvSpPr/>
          <p:nvPr/>
        </p:nvSpPr>
        <p:spPr>
          <a:xfrm>
            <a:off x="11220450" y="693539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56"/>
          <p:cNvSpPr/>
          <p:nvPr/>
        </p:nvSpPr>
        <p:spPr>
          <a:xfrm>
            <a:off x="10648950" y="6983016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56"/>
          <p:cNvSpPr/>
          <p:nvPr/>
        </p:nvSpPr>
        <p:spPr>
          <a:xfrm>
            <a:off x="11239500" y="6935391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56"/>
          <p:cNvSpPr/>
          <p:nvPr/>
        </p:nvSpPr>
        <p:spPr>
          <a:xfrm>
            <a:off x="11239500" y="7339161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56"/>
          <p:cNvSpPr/>
          <p:nvPr/>
        </p:nvSpPr>
        <p:spPr>
          <a:xfrm>
            <a:off x="11906250" y="693539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56"/>
          <p:cNvSpPr/>
          <p:nvPr/>
        </p:nvSpPr>
        <p:spPr>
          <a:xfrm>
            <a:off x="11334750" y="6983016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56"/>
          <p:cNvSpPr/>
          <p:nvPr/>
        </p:nvSpPr>
        <p:spPr>
          <a:xfrm>
            <a:off x="11925300" y="6935391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4" name="Google Shape;1654;p56"/>
          <p:cNvSpPr/>
          <p:nvPr/>
        </p:nvSpPr>
        <p:spPr>
          <a:xfrm>
            <a:off x="11925300" y="7339161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5" name="Google Shape;1655;p56"/>
          <p:cNvSpPr/>
          <p:nvPr/>
        </p:nvSpPr>
        <p:spPr>
          <a:xfrm>
            <a:off x="12592050" y="693539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56"/>
          <p:cNvSpPr/>
          <p:nvPr/>
        </p:nvSpPr>
        <p:spPr>
          <a:xfrm>
            <a:off x="12020550" y="6983016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56"/>
          <p:cNvSpPr/>
          <p:nvPr/>
        </p:nvSpPr>
        <p:spPr>
          <a:xfrm>
            <a:off x="1143000" y="7358211"/>
            <a:ext cx="5334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56"/>
          <p:cNvSpPr/>
          <p:nvPr/>
        </p:nvSpPr>
        <p:spPr>
          <a:xfrm>
            <a:off x="1143000" y="7761982"/>
            <a:ext cx="5334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56"/>
          <p:cNvSpPr/>
          <p:nvPr/>
        </p:nvSpPr>
        <p:spPr>
          <a:xfrm>
            <a:off x="1657350" y="735821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56"/>
          <p:cNvSpPr/>
          <p:nvPr/>
        </p:nvSpPr>
        <p:spPr>
          <a:xfrm>
            <a:off x="1238250" y="7405836"/>
            <a:ext cx="4000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56"/>
          <p:cNvSpPr/>
          <p:nvPr/>
        </p:nvSpPr>
        <p:spPr>
          <a:xfrm>
            <a:off x="1676400" y="7358211"/>
            <a:ext cx="80200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p56"/>
          <p:cNvSpPr/>
          <p:nvPr/>
        </p:nvSpPr>
        <p:spPr>
          <a:xfrm>
            <a:off x="1676400" y="7761982"/>
            <a:ext cx="8020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56"/>
          <p:cNvSpPr/>
          <p:nvPr/>
        </p:nvSpPr>
        <p:spPr>
          <a:xfrm>
            <a:off x="9677400" y="735821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56"/>
          <p:cNvSpPr/>
          <p:nvPr/>
        </p:nvSpPr>
        <p:spPr>
          <a:xfrm>
            <a:off x="1771650" y="7405836"/>
            <a:ext cx="8051102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It was simply awesome. No complaints at all.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56"/>
          <p:cNvSpPr/>
          <p:nvPr/>
        </p:nvSpPr>
        <p:spPr>
          <a:xfrm>
            <a:off x="9696450" y="7358211"/>
            <a:ext cx="85725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56"/>
          <p:cNvSpPr/>
          <p:nvPr/>
        </p:nvSpPr>
        <p:spPr>
          <a:xfrm>
            <a:off x="9696450" y="7761982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56"/>
          <p:cNvSpPr/>
          <p:nvPr/>
        </p:nvSpPr>
        <p:spPr>
          <a:xfrm>
            <a:off x="10534650" y="735821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56"/>
          <p:cNvSpPr/>
          <p:nvPr/>
        </p:nvSpPr>
        <p:spPr>
          <a:xfrm>
            <a:off x="9791700" y="7405836"/>
            <a:ext cx="72390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56"/>
          <p:cNvSpPr/>
          <p:nvPr/>
        </p:nvSpPr>
        <p:spPr>
          <a:xfrm>
            <a:off x="10553700" y="7358211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56"/>
          <p:cNvSpPr/>
          <p:nvPr/>
        </p:nvSpPr>
        <p:spPr>
          <a:xfrm>
            <a:off x="10553700" y="7761982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56"/>
          <p:cNvSpPr/>
          <p:nvPr/>
        </p:nvSpPr>
        <p:spPr>
          <a:xfrm>
            <a:off x="11220450" y="735821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2" name="Google Shape;1672;p56"/>
          <p:cNvSpPr/>
          <p:nvPr/>
        </p:nvSpPr>
        <p:spPr>
          <a:xfrm>
            <a:off x="10648950" y="7405836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56"/>
          <p:cNvSpPr/>
          <p:nvPr/>
        </p:nvSpPr>
        <p:spPr>
          <a:xfrm>
            <a:off x="11239500" y="7358211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56"/>
          <p:cNvSpPr/>
          <p:nvPr/>
        </p:nvSpPr>
        <p:spPr>
          <a:xfrm>
            <a:off x="11239500" y="7761982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56"/>
          <p:cNvSpPr/>
          <p:nvPr/>
        </p:nvSpPr>
        <p:spPr>
          <a:xfrm>
            <a:off x="11906250" y="735821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56"/>
          <p:cNvSpPr/>
          <p:nvPr/>
        </p:nvSpPr>
        <p:spPr>
          <a:xfrm>
            <a:off x="11334750" y="7405836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56"/>
          <p:cNvSpPr/>
          <p:nvPr/>
        </p:nvSpPr>
        <p:spPr>
          <a:xfrm>
            <a:off x="11925300" y="7358211"/>
            <a:ext cx="685800" cy="422821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56"/>
          <p:cNvSpPr/>
          <p:nvPr/>
        </p:nvSpPr>
        <p:spPr>
          <a:xfrm>
            <a:off x="11925300" y="7761982"/>
            <a:ext cx="685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56"/>
          <p:cNvSpPr/>
          <p:nvPr/>
        </p:nvSpPr>
        <p:spPr>
          <a:xfrm>
            <a:off x="12592050" y="7358211"/>
            <a:ext cx="19050" cy="4228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56"/>
          <p:cNvSpPr/>
          <p:nvPr/>
        </p:nvSpPr>
        <p:spPr>
          <a:xfrm>
            <a:off x="12020550" y="7405836"/>
            <a:ext cx="552450" cy="34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56"/>
          <p:cNvSpPr/>
          <p:nvPr/>
        </p:nvSpPr>
        <p:spPr>
          <a:xfrm>
            <a:off x="13107414" y="4071275"/>
            <a:ext cx="44010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667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False negative (FN)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56"/>
          <p:cNvSpPr/>
          <p:nvPr/>
        </p:nvSpPr>
        <p:spPr>
          <a:xfrm>
            <a:off x="13107414" y="4532197"/>
            <a:ext cx="41205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613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Not matching a review we should have matched: “SIM card” in v1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6"/>
          <p:cNvSpPr/>
          <p:nvPr/>
        </p:nvSpPr>
        <p:spPr>
          <a:xfrm>
            <a:off x="13107414" y="5593046"/>
            <a:ext cx="44010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667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False positive (FP)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56"/>
          <p:cNvSpPr/>
          <p:nvPr/>
        </p:nvSpPr>
        <p:spPr>
          <a:xfrm>
            <a:off x="13107414" y="6053968"/>
            <a:ext cx="41205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613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Matching a review we should not have matched: “simple” in v1 and v2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56"/>
          <p:cNvSpPr/>
          <p:nvPr/>
        </p:nvSpPr>
        <p:spPr>
          <a:xfrm>
            <a:off x="13107414" y="7114818"/>
            <a:ext cx="4120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Data: 10 real reviews from Amazon Unlocked Mobile (Kaggle)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56"/>
          <p:cNvSpPr/>
          <p:nvPr/>
        </p:nvSpPr>
        <p:spPr>
          <a:xfrm>
            <a:off x="1142991" y="9363075"/>
            <a:ext cx="16002000" cy="9600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7" name="Google Shape;1687;p56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56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6741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57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Characterizing work on NLP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57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57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57"/>
          <p:cNvSpPr/>
          <p:nvPr/>
        </p:nvSpPr>
        <p:spPr>
          <a:xfrm>
            <a:off x="1143000" y="2762250"/>
            <a:ext cx="5968901" cy="4857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57"/>
          <p:cNvSpPr/>
          <p:nvPr/>
        </p:nvSpPr>
        <p:spPr>
          <a:xfrm>
            <a:off x="7092851" y="2762250"/>
            <a:ext cx="1905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57"/>
          <p:cNvSpPr/>
          <p:nvPr/>
        </p:nvSpPr>
        <p:spPr>
          <a:xfrm>
            <a:off x="1314450" y="2857500"/>
            <a:ext cx="578601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57"/>
          <p:cNvSpPr/>
          <p:nvPr/>
        </p:nvSpPr>
        <p:spPr>
          <a:xfrm>
            <a:off x="7111901" y="2762250"/>
            <a:ext cx="857250" cy="4857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57"/>
          <p:cNvSpPr/>
          <p:nvPr/>
        </p:nvSpPr>
        <p:spPr>
          <a:xfrm>
            <a:off x="7950101" y="2762250"/>
            <a:ext cx="1905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2" name="Google Shape;1702;p57"/>
          <p:cNvSpPr/>
          <p:nvPr/>
        </p:nvSpPr>
        <p:spPr>
          <a:xfrm>
            <a:off x="7283351" y="2857500"/>
            <a:ext cx="571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57"/>
          <p:cNvSpPr/>
          <p:nvPr/>
        </p:nvSpPr>
        <p:spPr>
          <a:xfrm>
            <a:off x="7969151" y="2762250"/>
            <a:ext cx="857250" cy="4857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p57"/>
          <p:cNvSpPr/>
          <p:nvPr/>
        </p:nvSpPr>
        <p:spPr>
          <a:xfrm>
            <a:off x="8807351" y="2762250"/>
            <a:ext cx="1905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57"/>
          <p:cNvSpPr/>
          <p:nvPr/>
        </p:nvSpPr>
        <p:spPr>
          <a:xfrm>
            <a:off x="8140601" y="2857500"/>
            <a:ext cx="571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57"/>
          <p:cNvSpPr/>
          <p:nvPr/>
        </p:nvSpPr>
        <p:spPr>
          <a:xfrm>
            <a:off x="8826401" y="2762250"/>
            <a:ext cx="857250" cy="4857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57"/>
          <p:cNvSpPr/>
          <p:nvPr/>
        </p:nvSpPr>
        <p:spPr>
          <a:xfrm>
            <a:off x="9664601" y="2762250"/>
            <a:ext cx="1905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8" name="Google Shape;1708;p57"/>
          <p:cNvSpPr/>
          <p:nvPr/>
        </p:nvSpPr>
        <p:spPr>
          <a:xfrm>
            <a:off x="8997851" y="2857500"/>
            <a:ext cx="571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57"/>
          <p:cNvSpPr/>
          <p:nvPr/>
        </p:nvSpPr>
        <p:spPr>
          <a:xfrm>
            <a:off x="9683651" y="2762250"/>
            <a:ext cx="3730675" cy="4857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57"/>
          <p:cNvSpPr/>
          <p:nvPr/>
        </p:nvSpPr>
        <p:spPr>
          <a:xfrm>
            <a:off x="13395275" y="2762250"/>
            <a:ext cx="1905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57"/>
          <p:cNvSpPr/>
          <p:nvPr/>
        </p:nvSpPr>
        <p:spPr>
          <a:xfrm>
            <a:off x="9855101" y="2857500"/>
            <a:ext cx="348064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57"/>
          <p:cNvSpPr/>
          <p:nvPr/>
        </p:nvSpPr>
        <p:spPr>
          <a:xfrm>
            <a:off x="13414325" y="2762250"/>
            <a:ext cx="3730675" cy="485775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" name="Google Shape;1713;p57"/>
          <p:cNvSpPr/>
          <p:nvPr/>
        </p:nvSpPr>
        <p:spPr>
          <a:xfrm>
            <a:off x="17125950" y="2762250"/>
            <a:ext cx="1905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p57"/>
          <p:cNvSpPr/>
          <p:nvPr/>
        </p:nvSpPr>
        <p:spPr>
          <a:xfrm>
            <a:off x="13585775" y="2857500"/>
            <a:ext cx="348064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950"/>
              <a:buFont typeface="Arial"/>
              <a:buNone/>
            </a:pPr>
            <a:r>
              <a:rPr lang="en-US" sz="1950" b="1" i="0" u="none" strike="noStrike" cap="none" spc="78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57"/>
          <p:cNvSpPr/>
          <p:nvPr/>
        </p:nvSpPr>
        <p:spPr>
          <a:xfrm>
            <a:off x="1143000" y="3248025"/>
            <a:ext cx="5968901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57"/>
          <p:cNvSpPr/>
          <p:nvPr/>
        </p:nvSpPr>
        <p:spPr>
          <a:xfrm>
            <a:off x="1143000" y="3772793"/>
            <a:ext cx="5968901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7" name="Google Shape;1717;p57"/>
          <p:cNvSpPr/>
          <p:nvPr/>
        </p:nvSpPr>
        <p:spPr>
          <a:xfrm>
            <a:off x="7092851" y="3248025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57"/>
          <p:cNvSpPr/>
          <p:nvPr/>
        </p:nvSpPr>
        <p:spPr>
          <a:xfrm>
            <a:off x="1314450" y="3343275"/>
            <a:ext cx="5786018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v1 sim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57"/>
          <p:cNvSpPr/>
          <p:nvPr/>
        </p:nvSpPr>
        <p:spPr>
          <a:xfrm>
            <a:off x="7111901" y="3248025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57"/>
          <p:cNvSpPr/>
          <p:nvPr/>
        </p:nvSpPr>
        <p:spPr>
          <a:xfrm>
            <a:off x="7111901" y="3772793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57"/>
          <p:cNvSpPr/>
          <p:nvPr/>
        </p:nvSpPr>
        <p:spPr>
          <a:xfrm>
            <a:off x="7950101" y="3248025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57"/>
          <p:cNvSpPr/>
          <p:nvPr/>
        </p:nvSpPr>
        <p:spPr>
          <a:xfrm>
            <a:off x="7283351" y="3343275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57"/>
          <p:cNvSpPr/>
          <p:nvPr/>
        </p:nvSpPr>
        <p:spPr>
          <a:xfrm>
            <a:off x="7969151" y="3248025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4" name="Google Shape;1724;p57"/>
          <p:cNvSpPr/>
          <p:nvPr/>
        </p:nvSpPr>
        <p:spPr>
          <a:xfrm>
            <a:off x="7969151" y="3772793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57"/>
          <p:cNvSpPr/>
          <p:nvPr/>
        </p:nvSpPr>
        <p:spPr>
          <a:xfrm>
            <a:off x="8807351" y="3248025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p57"/>
          <p:cNvSpPr/>
          <p:nvPr/>
        </p:nvSpPr>
        <p:spPr>
          <a:xfrm>
            <a:off x="8140601" y="3343275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57"/>
          <p:cNvSpPr/>
          <p:nvPr/>
        </p:nvSpPr>
        <p:spPr>
          <a:xfrm>
            <a:off x="8826401" y="3248025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57"/>
          <p:cNvSpPr/>
          <p:nvPr/>
        </p:nvSpPr>
        <p:spPr>
          <a:xfrm>
            <a:off x="8826401" y="3772793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57"/>
          <p:cNvSpPr/>
          <p:nvPr/>
        </p:nvSpPr>
        <p:spPr>
          <a:xfrm>
            <a:off x="9664601" y="3248025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0" name="Google Shape;1730;p57"/>
          <p:cNvSpPr/>
          <p:nvPr/>
        </p:nvSpPr>
        <p:spPr>
          <a:xfrm>
            <a:off x="8997851" y="3343275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57"/>
          <p:cNvSpPr/>
          <p:nvPr/>
        </p:nvSpPr>
        <p:spPr>
          <a:xfrm>
            <a:off x="9683651" y="3248025"/>
            <a:ext cx="3730675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2" name="Google Shape;1732;p57"/>
          <p:cNvSpPr/>
          <p:nvPr/>
        </p:nvSpPr>
        <p:spPr>
          <a:xfrm>
            <a:off x="9683651" y="3772793"/>
            <a:ext cx="37306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3" name="Google Shape;1733;p57"/>
          <p:cNvSpPr/>
          <p:nvPr/>
        </p:nvSpPr>
        <p:spPr>
          <a:xfrm>
            <a:off x="13395275" y="3248025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4" name="Google Shape;1734;p57"/>
          <p:cNvSpPr/>
          <p:nvPr/>
        </p:nvSpPr>
        <p:spPr>
          <a:xfrm>
            <a:off x="9855101" y="3343275"/>
            <a:ext cx="348064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3/6 = 50%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7"/>
          <p:cNvSpPr/>
          <p:nvPr/>
        </p:nvSpPr>
        <p:spPr>
          <a:xfrm>
            <a:off x="13414325" y="3248025"/>
            <a:ext cx="3730675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57"/>
          <p:cNvSpPr/>
          <p:nvPr/>
        </p:nvSpPr>
        <p:spPr>
          <a:xfrm>
            <a:off x="13414325" y="3772793"/>
            <a:ext cx="37306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57"/>
          <p:cNvSpPr/>
          <p:nvPr/>
        </p:nvSpPr>
        <p:spPr>
          <a:xfrm>
            <a:off x="17125950" y="3248025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57"/>
          <p:cNvSpPr/>
          <p:nvPr/>
        </p:nvSpPr>
        <p:spPr>
          <a:xfrm>
            <a:off x="13585775" y="3343275"/>
            <a:ext cx="348064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3/6 = 50%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57"/>
          <p:cNvSpPr/>
          <p:nvPr/>
        </p:nvSpPr>
        <p:spPr>
          <a:xfrm>
            <a:off x="1143000" y="3791843"/>
            <a:ext cx="5968901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57"/>
          <p:cNvSpPr/>
          <p:nvPr/>
        </p:nvSpPr>
        <p:spPr>
          <a:xfrm>
            <a:off x="1143000" y="4316611"/>
            <a:ext cx="5968901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57"/>
          <p:cNvSpPr/>
          <p:nvPr/>
        </p:nvSpPr>
        <p:spPr>
          <a:xfrm>
            <a:off x="7092851" y="3791843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57"/>
          <p:cNvSpPr/>
          <p:nvPr/>
        </p:nvSpPr>
        <p:spPr>
          <a:xfrm>
            <a:off x="1314450" y="3887093"/>
            <a:ext cx="5786018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v2 [sS][iI][mM]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57"/>
          <p:cNvSpPr/>
          <p:nvPr/>
        </p:nvSpPr>
        <p:spPr>
          <a:xfrm>
            <a:off x="7111901" y="3791843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57"/>
          <p:cNvSpPr/>
          <p:nvPr/>
        </p:nvSpPr>
        <p:spPr>
          <a:xfrm>
            <a:off x="7111901" y="4316611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57"/>
          <p:cNvSpPr/>
          <p:nvPr/>
        </p:nvSpPr>
        <p:spPr>
          <a:xfrm>
            <a:off x="7950101" y="3791843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p57"/>
          <p:cNvSpPr/>
          <p:nvPr/>
        </p:nvSpPr>
        <p:spPr>
          <a:xfrm>
            <a:off x="7283351" y="3887093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57"/>
          <p:cNvSpPr/>
          <p:nvPr/>
        </p:nvSpPr>
        <p:spPr>
          <a:xfrm>
            <a:off x="7969151" y="3791843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8" name="Google Shape;1748;p57"/>
          <p:cNvSpPr/>
          <p:nvPr/>
        </p:nvSpPr>
        <p:spPr>
          <a:xfrm>
            <a:off x="7969151" y="4316611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p57"/>
          <p:cNvSpPr/>
          <p:nvPr/>
        </p:nvSpPr>
        <p:spPr>
          <a:xfrm>
            <a:off x="8807351" y="3791843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57"/>
          <p:cNvSpPr/>
          <p:nvPr/>
        </p:nvSpPr>
        <p:spPr>
          <a:xfrm>
            <a:off x="8140601" y="3887093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57"/>
          <p:cNvSpPr/>
          <p:nvPr/>
        </p:nvSpPr>
        <p:spPr>
          <a:xfrm>
            <a:off x="8826401" y="3791843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57"/>
          <p:cNvSpPr/>
          <p:nvPr/>
        </p:nvSpPr>
        <p:spPr>
          <a:xfrm>
            <a:off x="8826401" y="4316611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57"/>
          <p:cNvSpPr/>
          <p:nvPr/>
        </p:nvSpPr>
        <p:spPr>
          <a:xfrm>
            <a:off x="9664601" y="3791843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57"/>
          <p:cNvSpPr/>
          <p:nvPr/>
        </p:nvSpPr>
        <p:spPr>
          <a:xfrm>
            <a:off x="8997851" y="3887093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57"/>
          <p:cNvSpPr/>
          <p:nvPr/>
        </p:nvSpPr>
        <p:spPr>
          <a:xfrm>
            <a:off x="9683651" y="3791843"/>
            <a:ext cx="3730675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p57"/>
          <p:cNvSpPr/>
          <p:nvPr/>
        </p:nvSpPr>
        <p:spPr>
          <a:xfrm>
            <a:off x="9683651" y="4316611"/>
            <a:ext cx="37306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7" name="Google Shape;1757;p57"/>
          <p:cNvSpPr/>
          <p:nvPr/>
        </p:nvSpPr>
        <p:spPr>
          <a:xfrm>
            <a:off x="13395275" y="3791843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8" name="Google Shape;1758;p57"/>
          <p:cNvSpPr/>
          <p:nvPr/>
        </p:nvSpPr>
        <p:spPr>
          <a:xfrm>
            <a:off x="9855101" y="3887093"/>
            <a:ext cx="348064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6/10 = 60%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57"/>
          <p:cNvSpPr/>
          <p:nvPr/>
        </p:nvSpPr>
        <p:spPr>
          <a:xfrm>
            <a:off x="13414325" y="3791843"/>
            <a:ext cx="3730675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57"/>
          <p:cNvSpPr/>
          <p:nvPr/>
        </p:nvSpPr>
        <p:spPr>
          <a:xfrm>
            <a:off x="13414325" y="4316611"/>
            <a:ext cx="37306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1" name="Google Shape;1761;p57"/>
          <p:cNvSpPr/>
          <p:nvPr/>
        </p:nvSpPr>
        <p:spPr>
          <a:xfrm>
            <a:off x="17125950" y="3791843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" name="Google Shape;1762;p57"/>
          <p:cNvSpPr/>
          <p:nvPr/>
        </p:nvSpPr>
        <p:spPr>
          <a:xfrm>
            <a:off x="13585775" y="3887093"/>
            <a:ext cx="348064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6/6 = 100%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57"/>
          <p:cNvSpPr/>
          <p:nvPr/>
        </p:nvSpPr>
        <p:spPr>
          <a:xfrm>
            <a:off x="1143000" y="4335661"/>
            <a:ext cx="5968901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4" name="Google Shape;1764;p57"/>
          <p:cNvSpPr/>
          <p:nvPr/>
        </p:nvSpPr>
        <p:spPr>
          <a:xfrm>
            <a:off x="1143000" y="4860429"/>
            <a:ext cx="5968901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5" name="Google Shape;1765;p57"/>
          <p:cNvSpPr/>
          <p:nvPr/>
        </p:nvSpPr>
        <p:spPr>
          <a:xfrm>
            <a:off x="7092851" y="4335661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6" name="Google Shape;1766;p57"/>
          <p:cNvSpPr/>
          <p:nvPr/>
        </p:nvSpPr>
        <p:spPr>
          <a:xfrm>
            <a:off x="1314450" y="4430911"/>
            <a:ext cx="5786018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v3 \b[sS][iI][mM][sS]?\b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57"/>
          <p:cNvSpPr/>
          <p:nvPr/>
        </p:nvSpPr>
        <p:spPr>
          <a:xfrm>
            <a:off x="7111901" y="4335661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8" name="Google Shape;1768;p57"/>
          <p:cNvSpPr/>
          <p:nvPr/>
        </p:nvSpPr>
        <p:spPr>
          <a:xfrm>
            <a:off x="7111901" y="4860429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57"/>
          <p:cNvSpPr/>
          <p:nvPr/>
        </p:nvSpPr>
        <p:spPr>
          <a:xfrm>
            <a:off x="7950101" y="4335661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p57"/>
          <p:cNvSpPr/>
          <p:nvPr/>
        </p:nvSpPr>
        <p:spPr>
          <a:xfrm>
            <a:off x="7283351" y="4430911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57"/>
          <p:cNvSpPr/>
          <p:nvPr/>
        </p:nvSpPr>
        <p:spPr>
          <a:xfrm>
            <a:off x="7969151" y="4335661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57"/>
          <p:cNvSpPr/>
          <p:nvPr/>
        </p:nvSpPr>
        <p:spPr>
          <a:xfrm>
            <a:off x="7969151" y="4860429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57"/>
          <p:cNvSpPr/>
          <p:nvPr/>
        </p:nvSpPr>
        <p:spPr>
          <a:xfrm>
            <a:off x="8807351" y="4335661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4" name="Google Shape;1774;p57"/>
          <p:cNvSpPr/>
          <p:nvPr/>
        </p:nvSpPr>
        <p:spPr>
          <a:xfrm>
            <a:off x="8140601" y="4430911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57"/>
          <p:cNvSpPr/>
          <p:nvPr/>
        </p:nvSpPr>
        <p:spPr>
          <a:xfrm>
            <a:off x="8826401" y="4335661"/>
            <a:ext cx="857250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6" name="Google Shape;1776;p57"/>
          <p:cNvSpPr/>
          <p:nvPr/>
        </p:nvSpPr>
        <p:spPr>
          <a:xfrm>
            <a:off x="8826401" y="4860429"/>
            <a:ext cx="857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7" name="Google Shape;1777;p57"/>
          <p:cNvSpPr/>
          <p:nvPr/>
        </p:nvSpPr>
        <p:spPr>
          <a:xfrm>
            <a:off x="9664601" y="4335661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8" name="Google Shape;1778;p57"/>
          <p:cNvSpPr/>
          <p:nvPr/>
        </p:nvSpPr>
        <p:spPr>
          <a:xfrm>
            <a:off x="8997851" y="4430911"/>
            <a:ext cx="571500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57"/>
          <p:cNvSpPr/>
          <p:nvPr/>
        </p:nvSpPr>
        <p:spPr>
          <a:xfrm>
            <a:off x="9683651" y="4335661"/>
            <a:ext cx="3730675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57"/>
          <p:cNvSpPr/>
          <p:nvPr/>
        </p:nvSpPr>
        <p:spPr>
          <a:xfrm>
            <a:off x="9683651" y="4860429"/>
            <a:ext cx="37306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57"/>
          <p:cNvSpPr/>
          <p:nvPr/>
        </p:nvSpPr>
        <p:spPr>
          <a:xfrm>
            <a:off x="13395275" y="4335661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57"/>
          <p:cNvSpPr/>
          <p:nvPr/>
        </p:nvSpPr>
        <p:spPr>
          <a:xfrm>
            <a:off x="9855101" y="4430911"/>
            <a:ext cx="348064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4/4 = 100%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57"/>
          <p:cNvSpPr/>
          <p:nvPr/>
        </p:nvSpPr>
        <p:spPr>
          <a:xfrm>
            <a:off x="13414325" y="4335661"/>
            <a:ext cx="3730675" cy="543818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4" name="Google Shape;1784;p57"/>
          <p:cNvSpPr/>
          <p:nvPr/>
        </p:nvSpPr>
        <p:spPr>
          <a:xfrm>
            <a:off x="13414325" y="4860429"/>
            <a:ext cx="37306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5" name="Google Shape;1785;p57"/>
          <p:cNvSpPr/>
          <p:nvPr/>
        </p:nvSpPr>
        <p:spPr>
          <a:xfrm>
            <a:off x="17125950" y="4335661"/>
            <a:ext cx="19050" cy="54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6" name="Google Shape;1786;p57"/>
          <p:cNvSpPr/>
          <p:nvPr/>
        </p:nvSpPr>
        <p:spPr>
          <a:xfrm>
            <a:off x="13585775" y="4430911"/>
            <a:ext cx="3480645" cy="37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4/6 = 67%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57"/>
          <p:cNvSpPr/>
          <p:nvPr/>
        </p:nvSpPr>
        <p:spPr>
          <a:xfrm>
            <a:off x="1143000" y="5459004"/>
            <a:ext cx="176022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Reducing errors means two antagonistic efforts: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57"/>
          <p:cNvSpPr/>
          <p:nvPr/>
        </p:nvSpPr>
        <p:spPr>
          <a:xfrm>
            <a:off x="1143000" y="6102834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9" name="Google Shape;1789;p57"/>
          <p:cNvSpPr/>
          <p:nvPr/>
        </p:nvSpPr>
        <p:spPr>
          <a:xfrm>
            <a:off x="1524000" y="6036159"/>
            <a:ext cx="110454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Arial"/>
              <a:buNone/>
            </a:pPr>
            <a:r>
              <a:rPr lang="en-US" sz="1950" b="1" i="0" u="none" strike="noStrike" cap="none" dirty="0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Recall </a:t>
            </a:r>
            <a:r>
              <a:rPr lang="en-US" sz="1950" b="0" i="0" u="none" strike="noStrike" cap="none" dirty="0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(coverage) = minimizing false negatives. v1 → v2 fixed the FNs: recall 50% → 100%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57"/>
          <p:cNvSpPr/>
          <p:nvPr/>
        </p:nvSpPr>
        <p:spPr>
          <a:xfrm>
            <a:off x="1143000" y="6544705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57"/>
          <p:cNvSpPr/>
          <p:nvPr/>
        </p:nvSpPr>
        <p:spPr>
          <a:xfrm>
            <a:off x="1524000" y="6478030"/>
            <a:ext cx="117567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41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Arial"/>
              <a:buNone/>
            </a:pPr>
            <a:r>
              <a:rPr lang="en-US" sz="1950" b="1" i="0" u="none" strike="noStrike" cap="none" dirty="0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Precision </a:t>
            </a:r>
            <a:r>
              <a:rPr lang="en-US" sz="1950" b="0" i="0" u="none" strike="noStrike" cap="none" dirty="0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(accuracy) = minimizing false positives. v2 → v3 fixed the FPs: precision 60% → 100%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57"/>
          <p:cNvSpPr/>
          <p:nvPr/>
        </p:nvSpPr>
        <p:spPr>
          <a:xfrm>
            <a:off x="1524000" y="7005626"/>
            <a:ext cx="85800" cy="85800"/>
          </a:xfrm>
          <a:prstGeom prst="ellipse">
            <a:avLst/>
          </a:prstGeom>
          <a:solidFill>
            <a:srgbClr val="5A63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57"/>
          <p:cNvSpPr/>
          <p:nvPr/>
        </p:nvSpPr>
        <p:spPr>
          <a:xfrm>
            <a:off x="1819275" y="6919901"/>
            <a:ext cx="99093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…and recall fell back to 67%. simcard and SIMM are typos: chase them, or accept them?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57"/>
          <p:cNvSpPr/>
          <p:nvPr/>
        </p:nvSpPr>
        <p:spPr>
          <a:xfrm>
            <a:off x="1133475" y="7680041"/>
            <a:ext cx="16002000" cy="192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57"/>
          <p:cNvSpPr/>
          <p:nvPr/>
        </p:nvSpPr>
        <p:spPr>
          <a:xfrm>
            <a:off x="1143000" y="7933706"/>
            <a:ext cx="176022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Georgia"/>
              <a:buNone/>
            </a:pPr>
            <a:r>
              <a:rPr lang="en-US" sz="2100" b="1" i="0" u="none" strike="noStrike" cap="none" dirty="0">
                <a:solidFill>
                  <a:srgbClr val="1B2F6B"/>
                </a:solidFill>
                <a:latin typeface="+mn-lt"/>
                <a:ea typeface="Georgia"/>
                <a:cs typeface="Georgia"/>
                <a:sym typeface="Georgia"/>
              </a:rPr>
              <a:t>Which one matters more depends on the task. Decide first, then tune the regex.</a:t>
            </a:r>
            <a:endParaRPr sz="21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57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7" name="Google Shape;1797;p57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3·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57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3347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58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Case study 2: storage in customer reviews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58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58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7" name="Google Shape;1807;p58"/>
          <p:cNvSpPr/>
          <p:nvPr/>
        </p:nvSpPr>
        <p:spPr>
          <a:xfrm>
            <a:off x="1143000" y="2800350"/>
            <a:ext cx="9639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1" i="0" u="none" strike="noStrike" cap="none" spc="216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THE PRODUCT MANAGER ASKS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58"/>
          <p:cNvSpPr/>
          <p:nvPr/>
        </p:nvSpPr>
        <p:spPr>
          <a:xfrm>
            <a:off x="1143000" y="3276600"/>
            <a:ext cx="902589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3000"/>
              <a:buFont typeface="Georgia"/>
              <a:buNone/>
            </a:pPr>
            <a:r>
              <a:rPr lang="en-US" sz="3600" b="1" i="0" u="none" strike="noStrike" cap="none" dirty="0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“Find out which storage size each customer mentions in their review, so we can see which phones</a:t>
            </a:r>
            <a:r>
              <a:rPr lang="en-US" sz="3600" b="1" dirty="0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 appeal more to customers</a:t>
            </a:r>
            <a:r>
              <a:rPr lang="en-US" sz="3600" b="1" i="0" u="none" strike="noStrike" cap="none" dirty="0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.”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58"/>
          <p:cNvSpPr/>
          <p:nvPr/>
        </p:nvSpPr>
        <p:spPr>
          <a:xfrm>
            <a:off x="1143000" y="6486780"/>
            <a:ext cx="9025890" cy="75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613"/>
              </a:lnSpc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95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5A6385"/>
                </a:solidFill>
                <a:sym typeface="Arial"/>
              </a:rPr>
              <a:t>30 real reviews from Amazon Unlocked Mobile (</a:t>
            </a:r>
            <a:r>
              <a:rPr lang="en-US" sz="2400" b="0" i="0" u="none" strike="noStrike" cap="none" dirty="0" err="1">
                <a:solidFill>
                  <a:srgbClr val="5A6385"/>
                </a:solidFill>
                <a:sym typeface="Arial"/>
              </a:rPr>
              <a:t>Kaggle</a:t>
            </a:r>
            <a:r>
              <a:rPr lang="en-US" sz="2400" b="0" i="0" u="none" strike="noStrike" cap="none" dirty="0">
                <a:solidFill>
                  <a:srgbClr val="5A6385"/>
                </a:solidFill>
                <a:sym typeface="Arial"/>
              </a:rPr>
              <a:t>), the same data as our SIM-card example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58"/>
          <p:cNvSpPr/>
          <p:nvPr/>
        </p:nvSpPr>
        <p:spPr>
          <a:xfrm>
            <a:off x="1143000" y="7824787"/>
            <a:ext cx="9639300" cy="45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7941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1B2F6B"/>
                </a:solidFill>
                <a:sym typeface="Arial"/>
              </a:rPr>
              <a:t>Your job: </a:t>
            </a:r>
            <a:r>
              <a:rPr lang="en-US" sz="2400" b="0" i="0" u="none" strike="noStrike" cap="none" dirty="0">
                <a:solidFill>
                  <a:srgbClr val="26314F"/>
                </a:solidFill>
                <a:sym typeface="Arial"/>
              </a:rPr>
              <a:t>one regex that finds the storage size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58"/>
          <p:cNvSpPr/>
          <p:nvPr/>
        </p:nvSpPr>
        <p:spPr>
          <a:xfrm>
            <a:off x="10668000" y="2762250"/>
            <a:ext cx="7124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1" i="0" u="none" strike="noStrike" cap="none" spc="216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STORAGE OR NOT?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58"/>
          <p:cNvSpPr/>
          <p:nvPr/>
        </p:nvSpPr>
        <p:spPr>
          <a:xfrm>
            <a:off x="10668000" y="6172200"/>
            <a:ext cx="6477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58"/>
          <p:cNvSpPr/>
          <p:nvPr/>
        </p:nvSpPr>
        <p:spPr>
          <a:xfrm>
            <a:off x="10668000" y="3219450"/>
            <a:ext cx="6477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6" name="Google Shape;1816;p58"/>
          <p:cNvSpPr/>
          <p:nvPr/>
        </p:nvSpPr>
        <p:spPr>
          <a:xfrm>
            <a:off x="10668000" y="3362325"/>
            <a:ext cx="667131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...unlocked iPhone 5s 16gb!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58"/>
          <p:cNvSpPr/>
          <p:nvPr/>
        </p:nvSpPr>
        <p:spPr>
          <a:xfrm>
            <a:off x="10668000" y="3810000"/>
            <a:ext cx="6477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58"/>
          <p:cNvSpPr/>
          <p:nvPr/>
        </p:nvSpPr>
        <p:spPr>
          <a:xfrm>
            <a:off x="10668000" y="3952875"/>
            <a:ext cx="667131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...about 38 GB of free space!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58"/>
          <p:cNvSpPr/>
          <p:nvPr/>
        </p:nvSpPr>
        <p:spPr>
          <a:xfrm>
            <a:off x="10668000" y="4400550"/>
            <a:ext cx="6477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0" name="Google Shape;1820;p58"/>
          <p:cNvSpPr/>
          <p:nvPr/>
        </p:nvSpPr>
        <p:spPr>
          <a:xfrm>
            <a:off x="10668000" y="4543425"/>
            <a:ext cx="667131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...six-core GPU, 2GB RAM...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58"/>
          <p:cNvSpPr/>
          <p:nvPr/>
        </p:nvSpPr>
        <p:spPr>
          <a:xfrm>
            <a:off x="10668000" y="4991100"/>
            <a:ext cx="6477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2" name="Google Shape;1822;p58"/>
          <p:cNvSpPr/>
          <p:nvPr/>
        </p:nvSpPr>
        <p:spPr>
          <a:xfrm>
            <a:off x="10668000" y="5133975"/>
            <a:ext cx="667131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...supports AT&amp;T 4G LTE.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58"/>
          <p:cNvSpPr/>
          <p:nvPr/>
        </p:nvSpPr>
        <p:spPr>
          <a:xfrm>
            <a:off x="10668000" y="5581650"/>
            <a:ext cx="6477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p58"/>
          <p:cNvSpPr/>
          <p:nvPr/>
        </p:nvSpPr>
        <p:spPr>
          <a:xfrm>
            <a:off x="10668000" y="5724525"/>
            <a:ext cx="667131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1B2F6B"/>
                </a:solidFill>
                <a:latin typeface="Courier New"/>
                <a:ea typeface="Courier New"/>
                <a:cs typeface="Courier New"/>
                <a:sym typeface="Courier New"/>
              </a:rPr>
              <a:t>...It has 64 gigs, runs fast...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58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6" name="Google Shape;1826;p58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58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716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5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Case study 2: the data and the goal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5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5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5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1143000" y="2743200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800" b="1" i="0" spc="216">
                <a:solidFill>
                  <a:srgbClr val="5A6385"/>
                </a:solidFill>
                <a:latin typeface="Arial"/>
              </a:rPr>
              <a:t>THE DATA: 30 REVIEWS, TWO COLUMNS</a:t>
            </a:r>
          </a:p>
        </p:txBody>
      </p:sp>
      <p:graphicFrame>
        <p:nvGraphicFramePr>
          <p:cNvPr id="1415" name="Table 1414"/>
          <p:cNvGraphicFramePr>
            <a:graphicFrameLocks noGrp="1"/>
          </p:cNvGraphicFramePr>
          <p:nvPr/>
        </p:nvGraphicFramePr>
        <p:xfrm>
          <a:off x="1143000" y="3200396"/>
          <a:ext cx="7498079" cy="38679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/>
                <a:gridCol w="6309359"/>
              </a:tblGrid>
              <a:tr h="644653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4224F"/>
                          </a:solidFill>
                          <a:latin typeface="Arial"/>
                        </a:rPr>
                        <a:t>rating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4224F"/>
                          </a:solidFill>
                          <a:latin typeface="Arial"/>
                        </a:rPr>
                        <a:t>review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</a:tr>
              <a:tr h="644653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…brand new factory GSM unlocked iPhone 5s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16gb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!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644653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…It has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64 gigs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, runs fast…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653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i did not receive </a:t>
                      </a:r>
                      <a:r>
                        <a:rPr sz="1700" b="1">
                          <a:solidFill>
                            <a:srgbClr val="2F4FD8"/>
                          </a:solidFill>
                          <a:latin typeface="Arial"/>
                        </a:rPr>
                        <a:t>32GB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.. but received a 16,,…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644653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…supports AT&amp;T </a:t>
                      </a:r>
                      <a:r>
                        <a:rPr sz="1700" b="1">
                          <a:solidFill>
                            <a:srgbClr val="C2560A"/>
                          </a:solidFill>
                          <a:latin typeface="Arial"/>
                        </a:rPr>
                        <a:t>4G</a:t>
                      </a:r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 LTE.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653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6314F"/>
                          </a:solidFill>
                          <a:latin typeface="Arial"/>
                        </a:rPr>
                        <a:t>…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26314F"/>
                          </a:solidFill>
                          <a:latin typeface="Arial"/>
                        </a:rPr>
                        <a:t>… 30 rows in total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</a:tbl>
          </a:graphicData>
        </a:graphic>
      </p:graphicFrame>
      <p:sp>
        <p:nvSpPr>
          <p:cNvPr id="1416" name="TextBox 1415"/>
          <p:cNvSpPr txBox="1"/>
          <p:nvPr/>
        </p:nvSpPr>
        <p:spPr>
          <a:xfrm>
            <a:off x="1143000" y="7534275"/>
            <a:ext cx="7498079" cy="9144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800" b="0" i="0" dirty="0">
                <a:solidFill>
                  <a:srgbClr val="5A6385"/>
                </a:solidFill>
                <a:latin typeface="Arial"/>
              </a:rPr>
              <a:t>Same </a:t>
            </a:r>
            <a:r>
              <a:rPr sz="1800" b="0" i="0" dirty="0" err="1">
                <a:solidFill>
                  <a:srgbClr val="5A6385"/>
                </a:solidFill>
                <a:latin typeface="Arial"/>
              </a:rPr>
              <a:t>Kaggle</a:t>
            </a:r>
            <a:r>
              <a:rPr sz="1800" b="0" i="0" dirty="0">
                <a:solidFill>
                  <a:srgbClr val="5A6385"/>
                </a:solidFill>
                <a:latin typeface="Arial"/>
              </a:rPr>
              <a:t> dataset as case study 1, but now we also use the </a:t>
            </a:r>
            <a:r>
              <a:rPr sz="1800" b="1" i="0" dirty="0">
                <a:solidFill>
                  <a:srgbClr val="1B2F6B"/>
                </a:solidFill>
                <a:latin typeface="Arial"/>
              </a:rPr>
              <a:t>Rating</a:t>
            </a:r>
            <a:r>
              <a:rPr sz="1800" b="0" i="0" dirty="0">
                <a:solidFill>
                  <a:srgbClr val="5A6385"/>
                </a:solidFill>
                <a:latin typeface="Arial"/>
              </a:rPr>
              <a:t> column (1–5 stars).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9326880" y="2743200"/>
            <a:ext cx="7315200" cy="320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800" b="1" i="0" spc="216">
                <a:solidFill>
                  <a:srgbClr val="5A6385"/>
                </a:solidFill>
                <a:latin typeface="Arial"/>
              </a:rPr>
              <a:t>WHAT THE PRODUCT MANAGER NEEDS</a:t>
            </a:r>
          </a:p>
        </p:txBody>
      </p:sp>
      <p:sp>
        <p:nvSpPr>
          <p:cNvPr id="1418" name="Rounded Rectangle 1417"/>
          <p:cNvSpPr/>
          <p:nvPr/>
        </p:nvSpPr>
        <p:spPr>
          <a:xfrm>
            <a:off x="9326880" y="3200400"/>
            <a:ext cx="7132320" cy="777240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9" name="TextBox 1418"/>
          <p:cNvSpPr txBox="1"/>
          <p:nvPr/>
        </p:nvSpPr>
        <p:spPr>
          <a:xfrm>
            <a:off x="9601200" y="3273552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ctr"/>
          <a:lstStyle/>
          <a:p>
            <a:pPr>
              <a:lnSpc>
                <a:spcPct val="118000"/>
              </a:lnSpc>
            </a:pPr>
            <a:r>
              <a:rPr sz="2000" b="1" i="0">
                <a:solidFill>
                  <a:srgbClr val="1B2F6B"/>
                </a:solidFill>
                <a:latin typeface="Arial"/>
              </a:rPr>
              <a:t>review text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12710160" y="3273552"/>
            <a:ext cx="3657600" cy="640080"/>
          </a:xfrm>
          <a:prstGeom prst="rect">
            <a:avLst/>
          </a:prstGeom>
          <a:noFill/>
        </p:spPr>
        <p:txBody>
          <a:bodyPr wrap="square" lIns="25400" tIns="25400" rIns="25400" bIns="25400" anchor="ctr"/>
          <a:lstStyle/>
          <a:p>
            <a:pPr>
              <a:lnSpc>
                <a:spcPct val="118000"/>
              </a:lnSpc>
            </a:pPr>
            <a:r>
              <a:rPr sz="1800" b="0" i="0">
                <a:solidFill>
                  <a:srgbClr val="26314F"/>
                </a:solidFill>
                <a:latin typeface="Arial"/>
              </a:rPr>
              <a:t>free text, any spelling</a:t>
            </a:r>
          </a:p>
        </p:txBody>
      </p:sp>
      <p:sp>
        <p:nvSpPr>
          <p:cNvPr id="1421" name="Down Arrow 1420"/>
          <p:cNvSpPr/>
          <p:nvPr/>
        </p:nvSpPr>
        <p:spPr>
          <a:xfrm>
            <a:off x="10058400" y="3995928"/>
            <a:ext cx="274320" cy="237744"/>
          </a:xfrm>
          <a:prstGeom prst="downArrow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2" name="Rounded Rectangle 1421"/>
          <p:cNvSpPr/>
          <p:nvPr/>
        </p:nvSpPr>
        <p:spPr>
          <a:xfrm>
            <a:off x="9326880" y="4251960"/>
            <a:ext cx="7132320" cy="777240"/>
          </a:xfrm>
          <a:prstGeom prst="roundRect">
            <a:avLst>
              <a:gd name="adj" fmla="val 8000"/>
            </a:avLst>
          </a:prstGeom>
          <a:solidFill>
            <a:srgbClr val="E3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3" name="TextBox 1422"/>
          <p:cNvSpPr txBox="1"/>
          <p:nvPr/>
        </p:nvSpPr>
        <p:spPr>
          <a:xfrm>
            <a:off x="9601200" y="4325112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ctr"/>
          <a:lstStyle/>
          <a:p>
            <a:pPr>
              <a:lnSpc>
                <a:spcPct val="118000"/>
              </a:lnSpc>
            </a:pPr>
            <a:r>
              <a:rPr sz="2000" b="1" i="0">
                <a:solidFill>
                  <a:srgbClr val="1B2F6B"/>
                </a:solidFill>
                <a:latin typeface="Arial"/>
              </a:rPr>
              <a:t>regex</a:t>
            </a:r>
          </a:p>
        </p:txBody>
      </p:sp>
      <p:sp>
        <p:nvSpPr>
          <p:cNvPr id="1424" name="TextBox 1423"/>
          <p:cNvSpPr txBox="1"/>
          <p:nvPr/>
        </p:nvSpPr>
        <p:spPr>
          <a:xfrm>
            <a:off x="12710160" y="4325112"/>
            <a:ext cx="3657600" cy="640080"/>
          </a:xfrm>
          <a:prstGeom prst="rect">
            <a:avLst/>
          </a:prstGeom>
          <a:noFill/>
        </p:spPr>
        <p:txBody>
          <a:bodyPr wrap="square" lIns="25400" tIns="25400" rIns="25400" bIns="25400" anchor="ctr"/>
          <a:lstStyle/>
          <a:p>
            <a:pPr>
              <a:lnSpc>
                <a:spcPct val="118000"/>
              </a:lnSpc>
            </a:pPr>
            <a:r>
              <a:rPr sz="1800" b="0" i="0">
                <a:solidFill>
                  <a:srgbClr val="26314F"/>
                </a:solidFill>
                <a:latin typeface="Arial"/>
              </a:rPr>
              <a:t>pulls out the storage size</a:t>
            </a:r>
          </a:p>
        </p:txBody>
      </p:sp>
      <p:sp>
        <p:nvSpPr>
          <p:cNvPr id="1425" name="Down Arrow 1424"/>
          <p:cNvSpPr/>
          <p:nvPr/>
        </p:nvSpPr>
        <p:spPr>
          <a:xfrm>
            <a:off x="10058400" y="5047488"/>
            <a:ext cx="274320" cy="237744"/>
          </a:xfrm>
          <a:prstGeom prst="downArrow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6" name="Rounded Rectangle 1425"/>
          <p:cNvSpPr/>
          <p:nvPr/>
        </p:nvSpPr>
        <p:spPr>
          <a:xfrm>
            <a:off x="9326880" y="5303520"/>
            <a:ext cx="7132320" cy="777240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7" name="TextBox 1426"/>
          <p:cNvSpPr txBox="1"/>
          <p:nvPr/>
        </p:nvSpPr>
        <p:spPr>
          <a:xfrm>
            <a:off x="9601200" y="5376672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ctr"/>
          <a:lstStyle/>
          <a:p>
            <a:pPr>
              <a:lnSpc>
                <a:spcPct val="118000"/>
              </a:lnSpc>
            </a:pPr>
            <a:r>
              <a:rPr sz="2000" b="1" i="0">
                <a:solidFill>
                  <a:srgbClr val="1B2F6B"/>
                </a:solidFill>
                <a:latin typeface="Arial"/>
              </a:rPr>
              <a:t>storage column</a:t>
            </a:r>
          </a:p>
        </p:txBody>
      </p:sp>
      <p:sp>
        <p:nvSpPr>
          <p:cNvPr id="1428" name="TextBox 1427"/>
          <p:cNvSpPr txBox="1"/>
          <p:nvPr/>
        </p:nvSpPr>
        <p:spPr>
          <a:xfrm>
            <a:off x="12710160" y="5376672"/>
            <a:ext cx="3657600" cy="640080"/>
          </a:xfrm>
          <a:prstGeom prst="rect">
            <a:avLst/>
          </a:prstGeom>
          <a:noFill/>
        </p:spPr>
        <p:txBody>
          <a:bodyPr wrap="square" lIns="25400" tIns="25400" rIns="25400" bIns="25400" anchor="ctr"/>
          <a:lstStyle/>
          <a:p>
            <a:pPr>
              <a:lnSpc>
                <a:spcPct val="118000"/>
              </a:lnSpc>
            </a:pPr>
            <a:r>
              <a:rPr sz="1800" b="0" i="0">
                <a:solidFill>
                  <a:srgbClr val="26314F"/>
                </a:solidFill>
                <a:latin typeface="Arial"/>
              </a:rPr>
              <a:t>16, 32, 64 … GB</a:t>
            </a:r>
          </a:p>
        </p:txBody>
      </p:sp>
      <p:sp>
        <p:nvSpPr>
          <p:cNvPr id="1429" name="Down Arrow 1428"/>
          <p:cNvSpPr/>
          <p:nvPr/>
        </p:nvSpPr>
        <p:spPr>
          <a:xfrm>
            <a:off x="10058400" y="6099048"/>
            <a:ext cx="274320" cy="237744"/>
          </a:xfrm>
          <a:prstGeom prst="downArrow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0" name="Rounded Rectangle 1429"/>
          <p:cNvSpPr/>
          <p:nvPr/>
        </p:nvSpPr>
        <p:spPr>
          <a:xfrm>
            <a:off x="9326880" y="6355080"/>
            <a:ext cx="7132320" cy="777240"/>
          </a:xfrm>
          <a:prstGeom prst="roundRect">
            <a:avLst>
              <a:gd name="adj" fmla="val 800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1" name="TextBox 1430"/>
          <p:cNvSpPr txBox="1"/>
          <p:nvPr/>
        </p:nvSpPr>
        <p:spPr>
          <a:xfrm>
            <a:off x="9601200" y="6428232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ctr"/>
          <a:lstStyle/>
          <a:p>
            <a:pPr>
              <a:lnSpc>
                <a:spcPct val="118000"/>
              </a:lnSpc>
            </a:pPr>
            <a:r>
              <a:rPr sz="2000" b="1" i="0">
                <a:solidFill>
                  <a:srgbClr val="1B2F6B"/>
                </a:solidFill>
                <a:latin typeface="Arial"/>
              </a:rPr>
              <a:t>group by storage</a:t>
            </a:r>
          </a:p>
        </p:txBody>
      </p:sp>
      <p:sp>
        <p:nvSpPr>
          <p:cNvPr id="1432" name="TextBox 1431"/>
          <p:cNvSpPr txBox="1"/>
          <p:nvPr/>
        </p:nvSpPr>
        <p:spPr>
          <a:xfrm>
            <a:off x="12710160" y="6428232"/>
            <a:ext cx="3657600" cy="640080"/>
          </a:xfrm>
          <a:prstGeom prst="rect">
            <a:avLst/>
          </a:prstGeom>
          <a:noFill/>
        </p:spPr>
        <p:txBody>
          <a:bodyPr wrap="square" lIns="25400" tIns="25400" rIns="25400" bIns="25400" anchor="ctr"/>
          <a:lstStyle/>
          <a:p>
            <a:pPr>
              <a:lnSpc>
                <a:spcPct val="118000"/>
              </a:lnSpc>
            </a:pPr>
            <a:r>
              <a:rPr sz="1800" b="0" i="0">
                <a:solidFill>
                  <a:srgbClr val="26314F"/>
                </a:solidFill>
                <a:latin typeface="Arial"/>
              </a:rPr>
              <a:t>average star rating per size</a:t>
            </a:r>
          </a:p>
        </p:txBody>
      </p:sp>
    </p:spTree>
    <p:extLst>
      <p:ext uri="{BB962C8B-B14F-4D97-AF65-F5344CB8AC3E}">
        <p14:creationId xmlns:p14="http://schemas.microsoft.com/office/powerpoint/2010/main" val="1329341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55"/>
          <p:cNvSpPr/>
          <p:nvPr/>
        </p:nvSpPr>
        <p:spPr>
          <a:xfrm>
            <a:off x="1143000" y="914400"/>
            <a:ext cx="17602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05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4500"/>
              <a:buFont typeface="Georgia"/>
              <a:buNone/>
            </a:pPr>
            <a:r>
              <a:rPr lang="en-US" sz="4500" b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Step 1 · Read the data before you write anything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5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5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5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4" name="Table 1413"/>
          <p:cNvGraphicFramePr>
            <a:graphicFrameLocks noGrp="1"/>
          </p:cNvGraphicFramePr>
          <p:nvPr/>
        </p:nvGraphicFramePr>
        <p:xfrm>
          <a:off x="1143000" y="2606040"/>
          <a:ext cx="11109960" cy="59253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920"/>
                <a:gridCol w="457200"/>
                <a:gridCol w="10149840"/>
              </a:tblGrid>
              <a:tr h="3703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24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24F"/>
                          </a:solidFill>
                          <a:latin typeface="Arial"/>
                        </a:rPr>
                        <a:t>★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24F"/>
                          </a:solidFill>
                          <a:latin typeface="Arial"/>
                        </a:rPr>
                        <a:t>Review (1–15)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7895F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Apple iPhone 5s Verizon Wireless, 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16GB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, Space Gray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The phone was just as described: brand new factory GSM unlocked iPhone 5s 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16gb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!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I purchased the gold 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16 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variation of the iPhone 5s and it is so beautiful for a device.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I bought the iPhone 5s (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16GB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) in Space Gray from Express Mobile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I purchased a refurbished iPhone 5s, 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32gb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. The phone is as good as new.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This is a great Iphone 5S 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64GB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Factory Unlocked, had no problem getting it to fire up on Verizon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I still have about </a:t>
                      </a:r>
                      <a:r>
                        <a:rPr sz="1500" b="1">
                          <a:solidFill>
                            <a:srgbClr val="C2560A"/>
                          </a:solidFill>
                          <a:latin typeface="Arial"/>
                        </a:rPr>
                        <a:t>38 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of free space! I am EXTREMELY pleased!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PowerVR GT7600 six-core GPU, </a:t>
                      </a:r>
                      <a:r>
                        <a:rPr sz="1500" b="1">
                          <a:solidFill>
                            <a:srgbClr val="C2560A"/>
                          </a:solidFill>
                          <a:latin typeface="Arial"/>
                        </a:rPr>
                        <a:t>2GB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RAM, 1624 mAh battery.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...the one I purchased fully supports AT&amp;T </a:t>
                      </a:r>
                      <a:r>
                        <a:rPr sz="1500" b="1">
                          <a:solidFill>
                            <a:srgbClr val="C2560A"/>
                          </a:solidFill>
                          <a:latin typeface="Arial"/>
                        </a:rPr>
                        <a:t>4G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LTE.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Expect </a:t>
                      </a:r>
                      <a:r>
                        <a:rPr sz="1500" b="1">
                          <a:solidFill>
                            <a:srgbClr val="C2560A"/>
                          </a:solidFill>
                          <a:latin typeface="Arial"/>
                        </a:rPr>
                        <a:t>3G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during international use because this phone likely will not be capable of LTE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...they offer the 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16GB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5s at the full retail price of </a:t>
                      </a:r>
                      <a:r>
                        <a:rPr sz="1500" b="1">
                          <a:solidFill>
                            <a:srgbClr val="C2560A"/>
                          </a:solidFill>
                          <a:latin typeface="Arial"/>
                        </a:rPr>
                        <a:t>$649.99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(plus tax, of course).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Great condition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As of November </a:t>
                      </a:r>
                      <a:r>
                        <a:rPr sz="1500" b="1">
                          <a:solidFill>
                            <a:srgbClr val="C2560A"/>
                          </a:solidFill>
                          <a:latin typeface="Arial"/>
                        </a:rPr>
                        <a:t>2015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this phones memory is just about full. 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16 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is simply NOT enough space.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I was fortunate to purchase a like-new </a:t>
                      </a:r>
                      <a:r>
                        <a:rPr sz="1500" b="1">
                          <a:solidFill>
                            <a:srgbClr val="2F4FD8"/>
                          </a:solidFill>
                          <a:latin typeface="Arial"/>
                        </a:rPr>
                        <a:t>64gb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iPhone 5s for </a:t>
                      </a:r>
                      <a:r>
                        <a:rPr sz="1500" b="1">
                          <a:solidFill>
                            <a:srgbClr val="C2560A"/>
                          </a:solidFill>
                          <a:latin typeface="Arial"/>
                        </a:rPr>
                        <a:t>265USD</a:t>
                      </a:r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 in absolutely pristine condition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314F"/>
                          </a:solidFill>
                          <a:latin typeface="Arial"/>
                        </a:rPr>
                        <a:t>Verizon indicates that the phone is not compatible with their system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1FE"/>
                    </a:solidFill>
                  </a:tcPr>
                </a:tc>
              </a:tr>
            </a:tbl>
          </a:graphicData>
        </a:graphic>
      </p:graphicFrame>
      <p:sp>
        <p:nvSpPr>
          <p:cNvPr id="1415" name="TextBox 1414"/>
          <p:cNvSpPr txBox="1"/>
          <p:nvPr/>
        </p:nvSpPr>
        <p:spPr>
          <a:xfrm>
            <a:off x="12481560" y="2651760"/>
            <a:ext cx="4206240" cy="320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</a:pPr>
            <a:r>
              <a:rPr sz="1800" b="1" i="0" spc="216" dirty="0">
                <a:solidFill>
                  <a:srgbClr val="5A6385"/>
                </a:solidFill>
                <a:latin typeface="Arial"/>
              </a:rPr>
              <a:t>STORAGE OR NOT?</a:t>
            </a:r>
          </a:p>
        </p:txBody>
      </p:sp>
      <p:sp>
        <p:nvSpPr>
          <p:cNvPr id="1416" name="TextBox 1415"/>
          <p:cNvSpPr txBox="1"/>
          <p:nvPr/>
        </p:nvSpPr>
        <p:spPr>
          <a:xfrm>
            <a:off x="12481560" y="3262311"/>
            <a:ext cx="4206240" cy="5491163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2000" b="1" i="0" dirty="0">
                <a:solidFill>
                  <a:srgbClr val="2F4FD8"/>
                </a:solidFill>
                <a:latin typeface="Arial"/>
              </a:rPr>
              <a:t>■ </a:t>
            </a:r>
            <a:r>
              <a:rPr sz="2000" b="1" i="0" dirty="0">
                <a:solidFill>
                  <a:srgbClr val="1B2F6B"/>
                </a:solidFill>
                <a:latin typeface="Arial"/>
              </a:rPr>
              <a:t>Storage size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000" b="0" i="0" dirty="0">
                <a:solidFill>
                  <a:srgbClr val="26314F"/>
                </a:solidFill>
                <a:latin typeface="Arial"/>
              </a:rPr>
              <a:t>16GB, 16gb, 16 GB, (16GB), 32gb, 64GB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2000" b="1" i="0" dirty="0">
                <a:solidFill>
                  <a:srgbClr val="C2560A"/>
                </a:solidFill>
                <a:latin typeface="Arial"/>
              </a:rPr>
              <a:t>■ </a:t>
            </a:r>
            <a:r>
              <a:rPr sz="2000" b="1" i="0" dirty="0">
                <a:solidFill>
                  <a:srgbClr val="1B2F6B"/>
                </a:solidFill>
                <a:latin typeface="Arial"/>
              </a:rPr>
              <a:t>Looks like it, but is not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2000" b="1" i="0" dirty="0">
                <a:solidFill>
                  <a:srgbClr val="C2560A"/>
                </a:solidFill>
                <a:latin typeface="Arial"/>
              </a:rPr>
              <a:t>38 GB </a:t>
            </a:r>
            <a:r>
              <a:rPr sz="2000" b="0" i="0" dirty="0">
                <a:solidFill>
                  <a:srgbClr val="26314F"/>
                </a:solidFill>
                <a:latin typeface="Arial"/>
              </a:rPr>
              <a:t>free space left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2000" b="1" i="0" dirty="0">
                <a:solidFill>
                  <a:srgbClr val="C2560A"/>
                </a:solidFill>
                <a:latin typeface="Arial"/>
              </a:rPr>
              <a:t>2GB </a:t>
            </a:r>
            <a:r>
              <a:rPr sz="2000" b="0" i="0" dirty="0">
                <a:solidFill>
                  <a:srgbClr val="26314F"/>
                </a:solidFill>
                <a:latin typeface="Arial"/>
              </a:rPr>
              <a:t>RAM, not storage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2000" b="1" i="0" dirty="0">
                <a:solidFill>
                  <a:srgbClr val="C2560A"/>
                </a:solidFill>
                <a:latin typeface="Arial"/>
              </a:rPr>
              <a:t>4G, 3G </a:t>
            </a:r>
            <a:r>
              <a:rPr sz="2000" b="0" i="0" dirty="0">
                <a:solidFill>
                  <a:srgbClr val="26314F"/>
                </a:solidFill>
                <a:latin typeface="Arial"/>
              </a:rPr>
              <a:t>mobile network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2000" b="1" i="0" dirty="0">
                <a:solidFill>
                  <a:srgbClr val="C2560A"/>
                </a:solidFill>
                <a:latin typeface="Arial"/>
              </a:rPr>
              <a:t>$649.99, 265USD </a:t>
            </a:r>
            <a:r>
              <a:rPr sz="2000" b="0" i="0" dirty="0">
                <a:solidFill>
                  <a:srgbClr val="26314F"/>
                </a:solidFill>
                <a:latin typeface="Arial"/>
              </a:rPr>
              <a:t>prices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2000" b="1" i="0" dirty="0">
                <a:solidFill>
                  <a:srgbClr val="C2560A"/>
                </a:solidFill>
                <a:latin typeface="Arial"/>
              </a:rPr>
              <a:t>2015 </a:t>
            </a:r>
            <a:r>
              <a:rPr sz="2000" b="0" i="0" dirty="0">
                <a:solidFill>
                  <a:srgbClr val="26314F"/>
                </a:solidFill>
                <a:latin typeface="Arial"/>
              </a:rPr>
              <a:t>a year</a:t>
            </a:r>
          </a:p>
          <a:p>
            <a:pPr>
              <a:lnSpc>
                <a:spcPct val="118000"/>
              </a:lnSpc>
            </a:pPr>
            <a:r>
              <a:rPr sz="2000" b="0" i="0" dirty="0">
                <a:solidFill>
                  <a:srgbClr val="5A6385"/>
                </a:solidFill>
                <a:latin typeface="Arial"/>
              </a:rPr>
              <a:t>Reading first tells you which numbers the regex must </a:t>
            </a:r>
            <a:r>
              <a:rPr sz="2000" b="1" i="0" dirty="0">
                <a:solidFill>
                  <a:srgbClr val="5A6385"/>
                </a:solidFill>
                <a:latin typeface="Arial"/>
              </a:rPr>
              <a:t>skip</a:t>
            </a:r>
            <a:r>
              <a:rPr sz="2000" b="0" i="0" dirty="0">
                <a:solidFill>
                  <a:srgbClr val="5A6385"/>
                </a:solidFill>
                <a:latin typeface="Arial"/>
              </a:rPr>
              <a:t>, not only which to find.</a:t>
            </a:r>
          </a:p>
        </p:txBody>
      </p:sp>
    </p:spTree>
    <p:extLst>
      <p:ext uri="{BB962C8B-B14F-4D97-AF65-F5344CB8AC3E}">
        <p14:creationId xmlns:p14="http://schemas.microsoft.com/office/powerpoint/2010/main" val="283248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59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 dirty="0" smtClean="0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Debrief</a:t>
            </a:r>
            <a:endParaRPr sz="5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59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59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6" name="Google Shape;1836;p59" descr="preencoded.png"/>
          <p:cNvPicPr preferRelativeResize="0"/>
          <p:nvPr/>
        </p:nvPicPr>
        <p:blipFill rotWithShape="1">
          <a:blip r:embed="rId3">
            <a:alphaModFix/>
          </a:blip>
          <a:srcRect b="9132"/>
          <a:stretch/>
        </p:blipFill>
        <p:spPr>
          <a:xfrm>
            <a:off x="1692026" y="2851754"/>
            <a:ext cx="11801906" cy="386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59"/>
          <p:cNvSpPr/>
          <p:nvPr/>
        </p:nvSpPr>
        <p:spPr>
          <a:xfrm>
            <a:off x="1692026" y="7880125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59"/>
          <p:cNvSpPr/>
          <p:nvPr/>
        </p:nvSpPr>
        <p:spPr>
          <a:xfrm>
            <a:off x="2042161" y="7778388"/>
            <a:ext cx="75348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The one idea: </a:t>
            </a:r>
            <a:r>
              <a:rPr lang="en-US" sz="2100" b="0" i="0" u="none" strike="noStrike" cap="none" dirty="0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phones are sold only in 8 / 16 / 32 / 64 / 128 / 256 GB. That one list removes 38, 2, 4G, 3G and 1g at once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59"/>
          <p:cNvSpPr/>
          <p:nvPr/>
        </p:nvSpPr>
        <p:spPr>
          <a:xfrm>
            <a:off x="9812796" y="7844018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59"/>
          <p:cNvSpPr/>
          <p:nvPr/>
        </p:nvSpPr>
        <p:spPr>
          <a:xfrm>
            <a:off x="10193796" y="7758293"/>
            <a:ext cx="7534800" cy="11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No regex can tell: </a:t>
            </a:r>
            <a:r>
              <a:rPr lang="en-US" sz="21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review 20, “64GB ... compared to the 8GB I had on my iPhone 4S”. Which phone? That needs meaning: NER, LLMs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59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59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59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dirty="0" smtClean="0">
                <a:solidFill>
                  <a:srgbClr val="5A6385"/>
                </a:solidFill>
              </a:rPr>
              <a:t>36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1922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60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Regex, spaCy or LLM? All three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60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60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2" name="Google Shape;1852;p60"/>
          <p:cNvSpPr/>
          <p:nvPr/>
        </p:nvSpPr>
        <p:spPr>
          <a:xfrm>
            <a:off x="1143000" y="3002013"/>
            <a:ext cx="6156900" cy="9600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3" name="Google Shape;1853;p60"/>
          <p:cNvSpPr/>
          <p:nvPr/>
        </p:nvSpPr>
        <p:spPr>
          <a:xfrm>
            <a:off x="1143000" y="3116313"/>
            <a:ext cx="1219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60"/>
          <p:cNvSpPr/>
          <p:nvPr/>
        </p:nvSpPr>
        <p:spPr>
          <a:xfrm>
            <a:off x="2705100" y="3106788"/>
            <a:ext cx="4732500" cy="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clean &amp; mask: links, e-mails, phones, person data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60"/>
          <p:cNvSpPr/>
          <p:nvPr/>
        </p:nvSpPr>
        <p:spPr>
          <a:xfrm>
            <a:off x="1143000" y="3841999"/>
            <a:ext cx="6156900" cy="9600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60"/>
          <p:cNvSpPr/>
          <p:nvPr/>
        </p:nvSpPr>
        <p:spPr>
          <a:xfrm>
            <a:off x="1143000" y="3956299"/>
            <a:ext cx="1219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spaCy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60"/>
          <p:cNvSpPr/>
          <p:nvPr/>
        </p:nvSpPr>
        <p:spPr>
          <a:xfrm>
            <a:off x="2705100" y="3946774"/>
            <a:ext cx="50541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structure: tokens, lemmas, names, places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60"/>
          <p:cNvSpPr/>
          <p:nvPr/>
        </p:nvSpPr>
        <p:spPr>
          <a:xfrm>
            <a:off x="1143000" y="4362004"/>
            <a:ext cx="6156900" cy="9600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9" name="Google Shape;1859;p60"/>
          <p:cNvSpPr/>
          <p:nvPr/>
        </p:nvSpPr>
        <p:spPr>
          <a:xfrm>
            <a:off x="1143000" y="4476304"/>
            <a:ext cx="1219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60"/>
          <p:cNvSpPr/>
          <p:nvPr/>
        </p:nvSpPr>
        <p:spPr>
          <a:xfrm>
            <a:off x="2705100" y="4466779"/>
            <a:ext cx="50541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meaning: intent, sentiment, summary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60"/>
          <p:cNvSpPr/>
          <p:nvPr/>
        </p:nvSpPr>
        <p:spPr>
          <a:xfrm>
            <a:off x="1143000" y="5721996"/>
            <a:ext cx="6156900" cy="9600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p60"/>
          <p:cNvSpPr/>
          <p:nvPr/>
        </p:nvSpPr>
        <p:spPr>
          <a:xfrm>
            <a:off x="1143000" y="4882010"/>
            <a:ext cx="6156900" cy="9600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p60"/>
          <p:cNvSpPr/>
          <p:nvPr/>
        </p:nvSpPr>
        <p:spPr>
          <a:xfrm>
            <a:off x="1143000" y="4996310"/>
            <a:ext cx="1219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60"/>
          <p:cNvSpPr/>
          <p:nvPr/>
        </p:nvSpPr>
        <p:spPr>
          <a:xfrm>
            <a:off x="2705100" y="4986785"/>
            <a:ext cx="4732500" cy="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validate: check digits, real dates, JSON schema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60"/>
          <p:cNvSpPr/>
          <p:nvPr/>
        </p:nvSpPr>
        <p:spPr>
          <a:xfrm>
            <a:off x="7909471" y="3002013"/>
            <a:ext cx="1809600" cy="48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6" name="Google Shape;1866;p60"/>
          <p:cNvSpPr/>
          <p:nvPr/>
        </p:nvSpPr>
        <p:spPr>
          <a:xfrm>
            <a:off x="9700171" y="3002013"/>
            <a:ext cx="19200" cy="48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7" name="Google Shape;1867;p60"/>
          <p:cNvSpPr/>
          <p:nvPr/>
        </p:nvSpPr>
        <p:spPr>
          <a:xfrm>
            <a:off x="8042821" y="3097263"/>
            <a:ext cx="16002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60"/>
          <p:cNvSpPr/>
          <p:nvPr/>
        </p:nvSpPr>
        <p:spPr>
          <a:xfrm>
            <a:off x="9719221" y="3002013"/>
            <a:ext cx="4197000" cy="48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p60"/>
          <p:cNvSpPr/>
          <p:nvPr/>
        </p:nvSpPr>
        <p:spPr>
          <a:xfrm>
            <a:off x="13897273" y="3002013"/>
            <a:ext cx="19200" cy="48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0" name="Google Shape;1870;p60"/>
          <p:cNvSpPr/>
          <p:nvPr/>
        </p:nvSpPr>
        <p:spPr>
          <a:xfrm>
            <a:off x="9852571" y="3097263"/>
            <a:ext cx="40374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Speed &amp; cost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60"/>
          <p:cNvSpPr/>
          <p:nvPr/>
        </p:nvSpPr>
        <p:spPr>
          <a:xfrm>
            <a:off x="13916323" y="3002013"/>
            <a:ext cx="3228600" cy="48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60"/>
          <p:cNvSpPr/>
          <p:nvPr/>
        </p:nvSpPr>
        <p:spPr>
          <a:xfrm>
            <a:off x="17125950" y="3002013"/>
            <a:ext cx="19200" cy="48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60"/>
          <p:cNvSpPr/>
          <p:nvPr/>
        </p:nvSpPr>
        <p:spPr>
          <a:xfrm>
            <a:off x="14049673" y="3097263"/>
            <a:ext cx="30399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24F"/>
              </a:buClr>
              <a:buSzPts val="1800"/>
              <a:buFont typeface="Arial"/>
              <a:buNone/>
            </a:pPr>
            <a:r>
              <a:rPr lang="en-US" sz="1800" b="1" i="0" u="none" strike="noStrike" cap="none" spc="72">
                <a:solidFill>
                  <a:srgbClr val="14224F"/>
                </a:solidFill>
                <a:latin typeface="Arial"/>
                <a:ea typeface="Arial"/>
                <a:cs typeface="Arial"/>
                <a:sym typeface="Arial"/>
              </a:rPr>
              <a:t>Best at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60"/>
          <p:cNvSpPr/>
          <p:nvPr/>
        </p:nvSpPr>
        <p:spPr>
          <a:xfrm>
            <a:off x="7909471" y="3484364"/>
            <a:ext cx="1809600" cy="8520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p60"/>
          <p:cNvSpPr/>
          <p:nvPr/>
        </p:nvSpPr>
        <p:spPr>
          <a:xfrm>
            <a:off x="7909471" y="4317207"/>
            <a:ext cx="18096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6" name="Google Shape;1876;p60"/>
          <p:cNvSpPr/>
          <p:nvPr/>
        </p:nvSpPr>
        <p:spPr>
          <a:xfrm>
            <a:off x="9700171" y="3484364"/>
            <a:ext cx="19200" cy="8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60"/>
          <p:cNvSpPr/>
          <p:nvPr/>
        </p:nvSpPr>
        <p:spPr>
          <a:xfrm>
            <a:off x="8042821" y="3579614"/>
            <a:ext cx="16002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60"/>
          <p:cNvSpPr/>
          <p:nvPr/>
        </p:nvSpPr>
        <p:spPr>
          <a:xfrm>
            <a:off x="9719221" y="3484364"/>
            <a:ext cx="4197000" cy="8520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60"/>
          <p:cNvSpPr/>
          <p:nvPr/>
        </p:nvSpPr>
        <p:spPr>
          <a:xfrm>
            <a:off x="9719221" y="4317207"/>
            <a:ext cx="41970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60"/>
          <p:cNvSpPr/>
          <p:nvPr/>
        </p:nvSpPr>
        <p:spPr>
          <a:xfrm>
            <a:off x="13897273" y="3484364"/>
            <a:ext cx="19200" cy="8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60"/>
          <p:cNvSpPr/>
          <p:nvPr/>
        </p:nvSpPr>
        <p:spPr>
          <a:xfrm>
            <a:off x="9852571" y="3579614"/>
            <a:ext cx="40374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microseconds · free · same answer every time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60"/>
          <p:cNvSpPr/>
          <p:nvPr/>
        </p:nvSpPr>
        <p:spPr>
          <a:xfrm>
            <a:off x="13916323" y="3484364"/>
            <a:ext cx="3228600" cy="8520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60"/>
          <p:cNvSpPr/>
          <p:nvPr/>
        </p:nvSpPr>
        <p:spPr>
          <a:xfrm>
            <a:off x="13916323" y="4317207"/>
            <a:ext cx="32286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4" name="Google Shape;1884;p60"/>
          <p:cNvSpPr/>
          <p:nvPr/>
        </p:nvSpPr>
        <p:spPr>
          <a:xfrm>
            <a:off x="17125950" y="3484364"/>
            <a:ext cx="19200" cy="8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60"/>
          <p:cNvSpPr/>
          <p:nvPr/>
        </p:nvSpPr>
        <p:spPr>
          <a:xfrm>
            <a:off x="14049673" y="3579614"/>
            <a:ext cx="3039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fixed text formats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60"/>
          <p:cNvSpPr/>
          <p:nvPr/>
        </p:nvSpPr>
        <p:spPr>
          <a:xfrm>
            <a:off x="7909471" y="4336257"/>
            <a:ext cx="1809600" cy="5433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7" name="Google Shape;1887;p60"/>
          <p:cNvSpPr/>
          <p:nvPr/>
        </p:nvSpPr>
        <p:spPr>
          <a:xfrm>
            <a:off x="7909471" y="4860579"/>
            <a:ext cx="18096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8" name="Google Shape;1888;p60"/>
          <p:cNvSpPr/>
          <p:nvPr/>
        </p:nvSpPr>
        <p:spPr>
          <a:xfrm>
            <a:off x="9700171" y="4336257"/>
            <a:ext cx="19200" cy="5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60"/>
          <p:cNvSpPr/>
          <p:nvPr/>
        </p:nvSpPr>
        <p:spPr>
          <a:xfrm>
            <a:off x="8042821" y="4431507"/>
            <a:ext cx="16002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spaCy / NLTK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60"/>
          <p:cNvSpPr/>
          <p:nvPr/>
        </p:nvSpPr>
        <p:spPr>
          <a:xfrm>
            <a:off x="9719221" y="4336257"/>
            <a:ext cx="4197000" cy="5433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p60"/>
          <p:cNvSpPr/>
          <p:nvPr/>
        </p:nvSpPr>
        <p:spPr>
          <a:xfrm>
            <a:off x="9719221" y="4860579"/>
            <a:ext cx="41970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60"/>
          <p:cNvSpPr/>
          <p:nvPr/>
        </p:nvSpPr>
        <p:spPr>
          <a:xfrm>
            <a:off x="13897273" y="4336257"/>
            <a:ext cx="19200" cy="5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60"/>
          <p:cNvSpPr/>
          <p:nvPr/>
        </p:nvSpPr>
        <p:spPr>
          <a:xfrm>
            <a:off x="9852571" y="4431507"/>
            <a:ext cx="40374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milliseconds · free · runs locally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60"/>
          <p:cNvSpPr/>
          <p:nvPr/>
        </p:nvSpPr>
        <p:spPr>
          <a:xfrm>
            <a:off x="13916323" y="4336257"/>
            <a:ext cx="3228600" cy="5433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60"/>
          <p:cNvSpPr/>
          <p:nvPr/>
        </p:nvSpPr>
        <p:spPr>
          <a:xfrm>
            <a:off x="13916323" y="4860579"/>
            <a:ext cx="32286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p60"/>
          <p:cNvSpPr/>
          <p:nvPr/>
        </p:nvSpPr>
        <p:spPr>
          <a:xfrm>
            <a:off x="17125950" y="4336257"/>
            <a:ext cx="19200" cy="5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60"/>
          <p:cNvSpPr/>
          <p:nvPr/>
        </p:nvSpPr>
        <p:spPr>
          <a:xfrm>
            <a:off x="14049673" y="4431507"/>
            <a:ext cx="30399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language structure, entities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60"/>
          <p:cNvSpPr/>
          <p:nvPr/>
        </p:nvSpPr>
        <p:spPr>
          <a:xfrm>
            <a:off x="7909471" y="4879629"/>
            <a:ext cx="1809600" cy="8520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9" name="Google Shape;1899;p60"/>
          <p:cNvSpPr/>
          <p:nvPr/>
        </p:nvSpPr>
        <p:spPr>
          <a:xfrm>
            <a:off x="7909471" y="5712471"/>
            <a:ext cx="18096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0" name="Google Shape;1900;p60"/>
          <p:cNvSpPr/>
          <p:nvPr/>
        </p:nvSpPr>
        <p:spPr>
          <a:xfrm>
            <a:off x="9700171" y="4879629"/>
            <a:ext cx="19200" cy="8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60"/>
          <p:cNvSpPr/>
          <p:nvPr/>
        </p:nvSpPr>
        <p:spPr>
          <a:xfrm>
            <a:off x="8042821" y="4974879"/>
            <a:ext cx="16002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60"/>
          <p:cNvSpPr/>
          <p:nvPr/>
        </p:nvSpPr>
        <p:spPr>
          <a:xfrm>
            <a:off x="9719221" y="4879629"/>
            <a:ext cx="4197000" cy="8520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60"/>
          <p:cNvSpPr/>
          <p:nvPr/>
        </p:nvSpPr>
        <p:spPr>
          <a:xfrm>
            <a:off x="9719221" y="5712471"/>
            <a:ext cx="41970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60"/>
          <p:cNvSpPr/>
          <p:nvPr/>
        </p:nvSpPr>
        <p:spPr>
          <a:xfrm>
            <a:off x="13897273" y="4879629"/>
            <a:ext cx="19200" cy="8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60"/>
          <p:cNvSpPr/>
          <p:nvPr/>
        </p:nvSpPr>
        <p:spPr>
          <a:xfrm>
            <a:off x="9852571" y="4974879"/>
            <a:ext cx="40374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seconds · paid per token · answers can vary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60"/>
          <p:cNvSpPr/>
          <p:nvPr/>
        </p:nvSpPr>
        <p:spPr>
          <a:xfrm>
            <a:off x="13916323" y="4879629"/>
            <a:ext cx="3228600" cy="852000"/>
          </a:xfrm>
          <a:prstGeom prst="rect">
            <a:avLst/>
          </a:prstGeom>
          <a:solidFill>
            <a:srgbClr val="EEF1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7" name="Google Shape;1907;p60"/>
          <p:cNvSpPr/>
          <p:nvPr/>
        </p:nvSpPr>
        <p:spPr>
          <a:xfrm>
            <a:off x="13916323" y="5712471"/>
            <a:ext cx="32286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8" name="Google Shape;1908;p60"/>
          <p:cNvSpPr/>
          <p:nvPr/>
        </p:nvSpPr>
        <p:spPr>
          <a:xfrm>
            <a:off x="17125950" y="4879629"/>
            <a:ext cx="19200" cy="8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9" name="Google Shape;1909;p60"/>
          <p:cNvSpPr/>
          <p:nvPr/>
        </p:nvSpPr>
        <p:spPr>
          <a:xfrm>
            <a:off x="14049673" y="4974879"/>
            <a:ext cx="3039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meaning and context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60"/>
          <p:cNvSpPr/>
          <p:nvPr/>
        </p:nvSpPr>
        <p:spPr>
          <a:xfrm>
            <a:off x="1143000" y="6017271"/>
            <a:ext cx="16482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61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195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10,000 customer e-mails. Regex masks phones and before any text leaves the company, spaCy finds product names, the LLM labels each complaint, code checks the LLM’s JSON.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60"/>
          <p:cNvSpPr/>
          <p:nvPr/>
        </p:nvSpPr>
        <p:spPr>
          <a:xfrm>
            <a:off x="1143000" y="7584580"/>
            <a:ext cx="16002000" cy="192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2" name="Google Shape;1912;p60"/>
          <p:cNvSpPr/>
          <p:nvPr/>
        </p:nvSpPr>
        <p:spPr>
          <a:xfrm>
            <a:off x="1143000" y="7743530"/>
            <a:ext cx="17602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Georgia"/>
              <a:buNone/>
            </a:pPr>
            <a:r>
              <a:rPr lang="en-US" sz="225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Cheapest tool that is good enough goes first. The LLM sees only what the others cannot handle.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60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60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60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7748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62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GPT-2 starts with a regex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62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62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4" name="Google Shape;1954;p62"/>
          <p:cNvSpPr/>
          <p:nvPr/>
        </p:nvSpPr>
        <p:spPr>
          <a:xfrm>
            <a:off x="1143000" y="2762250"/>
            <a:ext cx="16002000" cy="246459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5" name="Google Shape;1955;p62"/>
          <p:cNvSpPr/>
          <p:nvPr/>
        </p:nvSpPr>
        <p:spPr>
          <a:xfrm>
            <a:off x="1562100" y="3105150"/>
            <a:ext cx="15041100" cy="3924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142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EEF1FE"/>
              </a:buClr>
              <a:buSzPts val="1800"/>
              <a:buFont typeface="Courier New"/>
              <a:buNone/>
            </a:pPr>
            <a:r>
              <a:rPr lang="en-US" sz="1800" b="0" i="0" u="none" strike="noStrike" cap="none" dirty="0">
                <a:solidFill>
                  <a:srgbClr val="EEF1FE"/>
                </a:solidFill>
                <a:latin typeface="Courier New"/>
                <a:ea typeface="Courier New"/>
                <a:cs typeface="Courier New"/>
                <a:sym typeface="Courier New"/>
              </a:rPr>
              <a:t>import regex   # not re: it understands \p{L} (any letter) and \p{N} (any number)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62"/>
          <p:cNvSpPr/>
          <p:nvPr/>
        </p:nvSpPr>
        <p:spPr>
          <a:xfrm>
            <a:off x="1562100" y="3640325"/>
            <a:ext cx="15041100" cy="392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EEF1FE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EF1FE"/>
                </a:solidFill>
                <a:latin typeface="Courier New"/>
                <a:ea typeface="Courier New"/>
                <a:cs typeface="Courier New"/>
                <a:sym typeface="Courier New"/>
              </a:rPr>
              <a:t>pat = r"""'s|'t|'re|'ve|'m|'ll|'d| ?\p{L}+| ?\p{N}+| ?[^\s\p{L}\p{N}]+|\s+(?!\S)|\s+"""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62"/>
          <p:cNvSpPr/>
          <p:nvPr/>
        </p:nvSpPr>
        <p:spPr>
          <a:xfrm>
            <a:off x="1562100" y="4175525"/>
            <a:ext cx="15041100" cy="392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EEF1FE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EEF1FE"/>
                </a:solidFill>
                <a:latin typeface="Courier New"/>
                <a:ea typeface="Courier New"/>
                <a:cs typeface="Courier New"/>
                <a:sym typeface="Courier New"/>
              </a:rPr>
              <a:t>regex.findall(pat, "The model's accuracy was 98.5%!   Τέλεια.")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62"/>
          <p:cNvSpPr/>
          <p:nvPr/>
        </p:nvSpPr>
        <p:spPr>
          <a:xfrm>
            <a:off x="1562163" y="4722896"/>
            <a:ext cx="15618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5821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F5821F"/>
                </a:solidFill>
                <a:latin typeface="Courier New"/>
                <a:ea typeface="Courier New"/>
                <a:cs typeface="Courier New"/>
                <a:sym typeface="Courier New"/>
              </a:rPr>
              <a:t># ['The', ' model', "'s", ' accuracy', ' was', ' 98', '.', '5', '%!', '  ', ' Τέλεια', '.']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62"/>
          <p:cNvSpPr/>
          <p:nvPr/>
        </p:nvSpPr>
        <p:spPr>
          <a:xfrm>
            <a:off x="1069125" y="5891257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0" name="Google Shape;1960;p62"/>
          <p:cNvSpPr/>
          <p:nvPr/>
        </p:nvSpPr>
        <p:spPr>
          <a:xfrm>
            <a:off x="1450125" y="5805532"/>
            <a:ext cx="97992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Before GPT-2 sees any text, this regex cuts it into pieces: </a:t>
            </a:r>
            <a:r>
              <a:rPr lang="en-US" sz="210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pre-tokenization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62"/>
          <p:cNvSpPr/>
          <p:nvPr/>
        </p:nvSpPr>
        <p:spPr>
          <a:xfrm>
            <a:off x="1069125" y="6416918"/>
            <a:ext cx="114300" cy="114300"/>
          </a:xfrm>
          <a:prstGeom prst="ellipse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62"/>
          <p:cNvSpPr/>
          <p:nvPr/>
        </p:nvSpPr>
        <p:spPr>
          <a:xfrm>
            <a:off x="1450125" y="6331193"/>
            <a:ext cx="114774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You can read it now: what does </a:t>
            </a:r>
            <a:r>
              <a:rPr lang="en-US" sz="2100" b="0" i="0" u="none" strike="noStrike" cap="none">
                <a:solidFill>
                  <a:srgbClr val="1B2F6B"/>
                </a:solidFill>
                <a:highlight>
                  <a:srgbClr val="EEF1FE"/>
                </a:highlight>
                <a:latin typeface="Courier New"/>
                <a:ea typeface="Courier New"/>
                <a:cs typeface="Courier New"/>
                <a:sym typeface="Courier New"/>
              </a:rPr>
              <a:t>\s+(?!\S) </a:t>
            </a:r>
            <a:r>
              <a:rPr lang="en-US" sz="21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do? Why does 98.5 become three pieces?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62"/>
          <p:cNvSpPr/>
          <p:nvPr/>
        </p:nvSpPr>
        <p:spPr>
          <a:xfrm>
            <a:off x="1069125" y="6990204"/>
            <a:ext cx="16002000" cy="192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p62"/>
          <p:cNvSpPr/>
          <p:nvPr/>
        </p:nvSpPr>
        <p:spPr>
          <a:xfrm>
            <a:off x="1069125" y="7180704"/>
            <a:ext cx="17602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Georgia"/>
              <a:buNone/>
            </a:pPr>
            <a:r>
              <a:rPr lang="en-US" sz="225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Next week: what happens after the cut. Tokens, stop words, lemmas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62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62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62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42326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61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sz="5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61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3" name="Google Shape;1923;p61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4" name="Google Shape;1924;p61"/>
          <p:cNvSpPr/>
          <p:nvPr/>
        </p:nvSpPr>
        <p:spPr>
          <a:xfrm>
            <a:off x="1143000" y="2762250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5" name="Google Shape;1925;p61"/>
          <p:cNvSpPr/>
          <p:nvPr/>
        </p:nvSpPr>
        <p:spPr>
          <a:xfrm>
            <a:off x="1143000" y="2981325"/>
            <a:ext cx="18859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61"/>
          <p:cNvSpPr/>
          <p:nvPr/>
        </p:nvSpPr>
        <p:spPr>
          <a:xfrm>
            <a:off x="3276600" y="2962275"/>
            <a:ext cx="15255240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A regex is a small language for describing text patterns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61"/>
          <p:cNvSpPr/>
          <p:nvPr/>
        </p:nvSpPr>
        <p:spPr>
          <a:xfrm>
            <a:off x="1143000" y="357946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8" name="Google Shape;1928;p61"/>
          <p:cNvSpPr/>
          <p:nvPr/>
        </p:nvSpPr>
        <p:spPr>
          <a:xfrm>
            <a:off x="1143000" y="3798540"/>
            <a:ext cx="18859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61"/>
          <p:cNvSpPr/>
          <p:nvPr/>
        </p:nvSpPr>
        <p:spPr>
          <a:xfrm>
            <a:off x="3276600" y="3779490"/>
            <a:ext cx="15255240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It describes variations where string methods need endless if-statements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61"/>
          <p:cNvSpPr/>
          <p:nvPr/>
        </p:nvSpPr>
        <p:spPr>
          <a:xfrm>
            <a:off x="1143000" y="4396680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1" name="Google Shape;1931;p61"/>
          <p:cNvSpPr/>
          <p:nvPr/>
        </p:nvSpPr>
        <p:spPr>
          <a:xfrm>
            <a:off x="1143000" y="4615755"/>
            <a:ext cx="18859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61"/>
          <p:cNvSpPr/>
          <p:nvPr/>
        </p:nvSpPr>
        <p:spPr>
          <a:xfrm>
            <a:off x="3276600" y="4596705"/>
            <a:ext cx="15255240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Cut, label, say it, check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61"/>
          <p:cNvSpPr/>
          <p:nvPr/>
        </p:nvSpPr>
        <p:spPr>
          <a:xfrm>
            <a:off x="1143000" y="5213896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4" name="Google Shape;1934;p61"/>
          <p:cNvSpPr/>
          <p:nvPr/>
        </p:nvSpPr>
        <p:spPr>
          <a:xfrm>
            <a:off x="1143000" y="5432971"/>
            <a:ext cx="18859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Judge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61"/>
          <p:cNvSpPr/>
          <p:nvPr/>
        </p:nvSpPr>
        <p:spPr>
          <a:xfrm>
            <a:off x="3276600" y="5413921"/>
            <a:ext cx="15255240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Positive and negative tests, then precision and recall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61"/>
          <p:cNvSpPr/>
          <p:nvPr/>
        </p:nvSpPr>
        <p:spPr>
          <a:xfrm>
            <a:off x="1143000" y="6031111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7" name="Google Shape;1937;p61"/>
          <p:cNvSpPr/>
          <p:nvPr/>
        </p:nvSpPr>
        <p:spPr>
          <a:xfrm>
            <a:off x="1143000" y="6250186"/>
            <a:ext cx="18859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61"/>
          <p:cNvSpPr/>
          <p:nvPr/>
        </p:nvSpPr>
        <p:spPr>
          <a:xfrm>
            <a:off x="3276600" y="6231136"/>
            <a:ext cx="15255240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The LLM drafts; you read it, test it and count the fixes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61"/>
          <p:cNvSpPr/>
          <p:nvPr/>
        </p:nvSpPr>
        <p:spPr>
          <a:xfrm>
            <a:off x="1143000" y="7665541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61"/>
          <p:cNvSpPr/>
          <p:nvPr/>
        </p:nvSpPr>
        <p:spPr>
          <a:xfrm>
            <a:off x="1143000" y="6848326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61"/>
          <p:cNvSpPr/>
          <p:nvPr/>
        </p:nvSpPr>
        <p:spPr>
          <a:xfrm>
            <a:off x="1143000" y="7067401"/>
            <a:ext cx="18859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61"/>
          <p:cNvSpPr/>
          <p:nvPr/>
        </p:nvSpPr>
        <p:spPr>
          <a:xfrm>
            <a:off x="3276600" y="7048351"/>
            <a:ext cx="15255240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For text formats.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61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4" name="Google Shape;1944;p61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61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6067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63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7143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5100"/>
              <a:buFont typeface="Georgia"/>
              <a:buNone/>
            </a:pPr>
            <a:r>
              <a:rPr lang="en-US" sz="5100" b="1" i="0" u="none" strike="noStrike" cap="none" dirty="0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Next week</a:t>
            </a:r>
            <a:endParaRPr sz="5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63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5" name="Google Shape;1975;p63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9" name="Google Shape;1979;p63"/>
          <p:cNvSpPr/>
          <p:nvPr/>
        </p:nvSpPr>
        <p:spPr>
          <a:xfrm>
            <a:off x="1143000" y="4821194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0" name="Google Shape;1980;p63"/>
          <p:cNvSpPr/>
          <p:nvPr/>
        </p:nvSpPr>
        <p:spPr>
          <a:xfrm>
            <a:off x="1143000" y="3310588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1" name="Google Shape;1981;p63"/>
          <p:cNvSpPr/>
          <p:nvPr/>
        </p:nvSpPr>
        <p:spPr>
          <a:xfrm>
            <a:off x="1143000" y="3663013"/>
            <a:ext cx="5867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B2F6B"/>
                </a:solidFill>
                <a:latin typeface="Arial"/>
                <a:ea typeface="Arial"/>
                <a:cs typeface="Arial"/>
                <a:sym typeface="Arial"/>
              </a:rPr>
              <a:t>The NLP preprocessing pipeline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63"/>
          <p:cNvSpPr/>
          <p:nvPr/>
        </p:nvSpPr>
        <p:spPr>
          <a:xfrm>
            <a:off x="6896100" y="3643963"/>
            <a:ext cx="10556367" cy="89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26314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26314F"/>
                </a:solidFill>
                <a:latin typeface="Arial"/>
                <a:ea typeface="Arial"/>
                <a:cs typeface="Arial"/>
                <a:sym typeface="Arial"/>
              </a:rPr>
              <a:t>Tokenization with NLTK, stop words, stemming, lemmatization, cleaning real tweets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63"/>
          <p:cNvSpPr/>
          <p:nvPr/>
        </p:nvSpPr>
        <p:spPr>
          <a:xfrm>
            <a:off x="1143000" y="5440319"/>
            <a:ext cx="16002000" cy="1905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" name="Google Shape;1984;p63"/>
          <p:cNvSpPr/>
          <p:nvPr/>
        </p:nvSpPr>
        <p:spPr>
          <a:xfrm>
            <a:off x="1143000" y="6239478"/>
            <a:ext cx="17602200" cy="48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4146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700"/>
              <a:buFont typeface="Georgia"/>
              <a:buNone/>
            </a:pPr>
            <a:r>
              <a:rPr lang="en-US" sz="2700" b="1" i="0" u="none" strike="noStrike" cap="none" dirty="0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Everything next week builds on today’s patterns, groups and </a:t>
            </a:r>
            <a:r>
              <a:rPr lang="en-US" sz="2700" b="1" i="0" u="none" strike="noStrike" cap="none" dirty="0" err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re.sub</a:t>
            </a:r>
            <a:r>
              <a:rPr lang="en-US" sz="2700" b="1" i="0" u="none" strike="noStrike" cap="none" dirty="0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63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63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63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4100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64"/>
          <p:cNvSpPr/>
          <p:nvPr/>
        </p:nvSpPr>
        <p:spPr>
          <a:xfrm>
            <a:off x="1143000" y="914400"/>
            <a:ext cx="17602200" cy="75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lnSpc>
                <a:spcPct val="97143"/>
              </a:lnSpc>
              <a:buClr>
                <a:srgbClr val="1B2F6B"/>
              </a:buClr>
              <a:buSzPts val="5100"/>
            </a:pPr>
            <a:r>
              <a:rPr lang="en-US" sz="5100" b="1" dirty="0">
                <a:solidFill>
                  <a:srgbClr val="1B2F6B"/>
                </a:solidFill>
                <a:latin typeface="Georgia"/>
                <a:ea typeface="Georgia"/>
                <a:cs typeface="Georgia"/>
                <a:sym typeface="Calibri"/>
              </a:rPr>
              <a:t>Regex</a:t>
            </a:r>
            <a:endParaRPr sz="5100" b="1" dirty="0">
              <a:solidFill>
                <a:srgbClr val="1B2F6B"/>
              </a:solidFill>
              <a:latin typeface="Georgia"/>
              <a:ea typeface="Georgia"/>
              <a:cs typeface="Georgia"/>
              <a:sym typeface="Calibri"/>
            </a:endParaRPr>
          </a:p>
        </p:txBody>
      </p:sp>
      <p:sp>
        <p:nvSpPr>
          <p:cNvPr id="1994" name="Google Shape;1994;p64"/>
          <p:cNvSpPr/>
          <p:nvPr/>
        </p:nvSpPr>
        <p:spPr>
          <a:xfrm>
            <a:off x="571500" y="2038350"/>
            <a:ext cx="419100" cy="152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5" name="Google Shape;1995;p64"/>
          <p:cNvSpPr/>
          <p:nvPr/>
        </p:nvSpPr>
        <p:spPr>
          <a:xfrm>
            <a:off x="1143000" y="2038350"/>
            <a:ext cx="17145000" cy="152400"/>
          </a:xfrm>
          <a:prstGeom prst="rect">
            <a:avLst/>
          </a:prstGeom>
          <a:solidFill>
            <a:srgbClr val="789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8" name="Google Shape;1998;p64"/>
          <p:cNvSpPr/>
          <p:nvPr/>
        </p:nvSpPr>
        <p:spPr>
          <a:xfrm>
            <a:off x="1143000" y="4777680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1" name="Google Shape;2001;p64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DDE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2" name="Google Shape;2002;p64"/>
          <p:cNvSpPr/>
          <p:nvPr/>
        </p:nvSpPr>
        <p:spPr>
          <a:xfrm>
            <a:off x="1143000" y="9696450"/>
            <a:ext cx="797075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Web and Text Analytics 2026-27 – Week </a:t>
            </a: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0" i="0" u="none" strike="noStrike" cap="none" dirty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· © Information Systems Lab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64"/>
          <p:cNvSpPr/>
          <p:nvPr/>
        </p:nvSpPr>
        <p:spPr>
          <a:xfrm>
            <a:off x="16890653" y="9696450"/>
            <a:ext cx="3305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385"/>
              </a:buClr>
              <a:buSzPts val="1800"/>
              <a:buFont typeface="Arial"/>
              <a:buNone/>
            </a:pPr>
            <a:r>
              <a:rPr lang="en-US" sz="1800" b="0" i="0" u="none" strike="noStrike" cap="none" dirty="0" smtClean="0">
                <a:solidFill>
                  <a:srgbClr val="5A6385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64"/>
          <p:cNvSpPr/>
          <p:nvPr/>
        </p:nvSpPr>
        <p:spPr>
          <a:xfrm>
            <a:off x="1143000" y="3121275"/>
            <a:ext cx="176022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727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3600"/>
              <a:buFont typeface="Georgia"/>
              <a:buNone/>
            </a:pPr>
            <a:r>
              <a:rPr lang="en-US" sz="2800" b="1" i="1">
                <a:solidFill>
                  <a:srgbClr val="1B2F6B"/>
                </a:solidFill>
                <a:latin typeface="Georgia"/>
                <a:ea typeface="Georgia"/>
                <a:cs typeface="Georgia"/>
                <a:sym typeface="Georgia"/>
              </a:rPr>
              <a:t>More practice on regular expressions (links)</a:t>
            </a:r>
            <a:endParaRPr sz="2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64">
            <a:hlinkClick r:id="rId3"/>
          </p:cNvPr>
          <p:cNvSpPr/>
          <p:nvPr/>
        </p:nvSpPr>
        <p:spPr>
          <a:xfrm>
            <a:off x="1143000" y="3976523"/>
            <a:ext cx="17602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Arial"/>
              <a:buNone/>
            </a:pPr>
            <a:r>
              <a:rPr lang="en-US" sz="2250" u="sng" dirty="0">
                <a:solidFill>
                  <a:schemeClr val="hlink"/>
                </a:solidFill>
              </a:rPr>
              <a:t>https://regexone.com/</a:t>
            </a:r>
            <a:endParaRPr sz="2250" u="sng" dirty="0">
              <a:solidFill>
                <a:schemeClr val="hlink"/>
              </a:solidFill>
            </a:endParaRPr>
          </a:p>
        </p:txBody>
      </p:sp>
      <p:sp>
        <p:nvSpPr>
          <p:cNvPr id="2006" name="Google Shape;2006;p64">
            <a:hlinkClick r:id="rId3"/>
          </p:cNvPr>
          <p:cNvSpPr/>
          <p:nvPr/>
        </p:nvSpPr>
        <p:spPr>
          <a:xfrm>
            <a:off x="1143000" y="4864162"/>
            <a:ext cx="17602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F6B"/>
              </a:buClr>
              <a:buSzPts val="2250"/>
              <a:buFont typeface="Arial"/>
              <a:buNone/>
            </a:pPr>
            <a:r>
              <a:rPr lang="en-US" sz="2250" u="sng" dirty="0">
                <a:solidFill>
                  <a:schemeClr val="hlink"/>
                </a:solidFill>
              </a:rPr>
              <a:t>https://regexlearn.com/learn</a:t>
            </a:r>
            <a:endParaRPr sz="2250" u="sng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523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lvl="0" algn="l" rtl="0"/>
            <a:r>
              <a:rPr lang="en-US" spc="294" dirty="0">
                <a:ea typeface="Arial"/>
                <a:sym typeface="Arial"/>
              </a:rPr>
              <a:t>WEB AND TEXT ANALYTICS 2026-27</a:t>
            </a:r>
            <a:endParaRPr lang="en-US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rtl="0"/>
            <a:r>
              <a:rPr lang="en-US" spc="-240" dirty="0">
                <a:ea typeface="Georgia"/>
                <a:sym typeface="Georgia"/>
              </a:rPr>
              <a:t>Questions</a:t>
            </a:r>
            <a:r>
              <a:rPr lang="en-US" spc="-240" dirty="0" smtClean="0">
                <a:ea typeface="Georgia"/>
                <a:sym typeface="Georgia"/>
              </a:rPr>
              <a:t>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l" rtl="0"/>
            <a:r>
              <a:rPr lang="en-US" dirty="0" err="1">
                <a:ea typeface="Arial"/>
                <a:sym typeface="Arial"/>
              </a:rPr>
              <a:t>Evangelos</a:t>
            </a:r>
            <a:r>
              <a:rPr lang="en-US" dirty="0">
                <a:ea typeface="Arial"/>
                <a:sym typeface="Arial"/>
              </a:rPr>
              <a:t> </a:t>
            </a:r>
            <a:r>
              <a:rPr lang="en-US" dirty="0" err="1">
                <a:ea typeface="Arial"/>
                <a:sym typeface="Arial"/>
              </a:rPr>
              <a:t>Kalampokis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lvl="0" algn="l" rtl="0"/>
            <a:r>
              <a:rPr lang="en-US" dirty="0">
                <a:ea typeface="Arial"/>
                <a:sym typeface="Arial"/>
              </a:rPr>
              <a:t>kalampokis.github.io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738815"/>
      </p:ext>
    </p:extLst>
  </p:cSld>
  <p:clrMapOvr>
    <a:masterClrMapping/>
  </p:clrMapOvr>
</p:sld>
</file>

<file path=ppt/theme/theme1.xml><?xml version="1.0" encoding="utf-8"?>
<a:theme xmlns:a="http://schemas.openxmlformats.org/drawingml/2006/main" name="Kalampokis">
  <a:themeElements>
    <a:clrScheme name="Kalampokis">
      <a:dk1>
        <a:srgbClr val="26314F"/>
      </a:dk1>
      <a:lt1>
        <a:srgbClr val="FFFFFF"/>
      </a:lt1>
      <a:dk2>
        <a:srgbClr val="1B2F6B"/>
      </a:dk2>
      <a:lt2>
        <a:srgbClr val="EEF1FE"/>
      </a:lt2>
      <a:accent1>
        <a:srgbClr val="7895F9"/>
      </a:accent1>
      <a:accent2>
        <a:srgbClr val="F5821F"/>
      </a:accent2>
      <a:accent3>
        <a:srgbClr val="1B2F6B"/>
      </a:accent3>
      <a:accent4>
        <a:srgbClr val="5A6385"/>
      </a:accent4>
      <a:accent5>
        <a:srgbClr val="B9C8FC"/>
      </a:accent5>
      <a:accent6>
        <a:srgbClr val="FBC08C"/>
      </a:accent6>
      <a:hlink>
        <a:srgbClr val="1B2F6B"/>
      </a:hlink>
      <a:folHlink>
        <a:srgbClr val="5A6385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4103</Words>
  <Application>Microsoft Office PowerPoint</Application>
  <PresentationFormat>Custom</PresentationFormat>
  <Paragraphs>700</Paragraphs>
  <Slides>42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Consolas</vt:lpstr>
      <vt:lpstr>Courier New</vt:lpstr>
      <vt:lpstr>Georgia</vt:lpstr>
      <vt:lpstr>Kalampokis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Regex in Python</vt:lpstr>
      <vt:lpstr>re library in Python</vt:lpstr>
      <vt:lpstr>PowerPoint Presentation</vt:lpstr>
      <vt:lpstr>Working with text in Pandas </vt:lpstr>
      <vt:lpstr>String methods</vt:lpstr>
      <vt:lpstr>String methods</vt:lpstr>
      <vt:lpstr>String methods: findall()</vt:lpstr>
      <vt:lpstr>String methods: replace ()</vt:lpstr>
      <vt:lpstr>String methods: extract()</vt:lpstr>
      <vt:lpstr>String methods: extractall()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cp:lastModifiedBy>Microsoft account</cp:lastModifiedBy>
  <cp:revision>46</cp:revision>
  <dcterms:modified xsi:type="dcterms:W3CDTF">2026-10-09T10:11:21Z</dcterms:modified>
</cp:coreProperties>
</file>